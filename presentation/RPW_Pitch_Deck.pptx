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1" dt="2026-08-17T10:35:45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79-4B3C-BF04-B3142CF5D690}"/>
              </c:ext>
            </c:extLst>
          </c:dPt>
          <c:dPt>
            <c:idx val="1"/>
            <c:invertIfNegative val="0"/>
            <c:bubble3D val="0"/>
            <c:spPr>
              <a:solidFill>
                <a:srgbClr val="66A5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79-4B3C-BF04-B3142CF5D690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879-4B3C-BF04-B3142CF5D690}"/>
              </c:ext>
            </c:extLst>
          </c:dPt>
          <c:dPt>
            <c:idx val="3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879-4B3C-BF04-B3142CF5D690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7474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Neural Net</c:v>
                </c:pt>
                <c:pt idx="1">
                  <c:v>VGGish</c:v>
                </c:pt>
                <c:pt idx="2">
                  <c:v>CatBoost</c:v>
                </c:pt>
                <c:pt idx="3">
                  <c:v>AdaBoost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85.6</c:v>
                </c:pt>
                <c:pt idx="1">
                  <c:v>95</c:v>
                </c:pt>
                <c:pt idx="2">
                  <c:v>84.5</c:v>
                </c:pt>
                <c:pt idx="3">
                  <c:v>74.7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79-4B3C-BF04-B3142CF5D6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7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92946-0482-4B1D-A5D3-80E27EA1F87A}" type="datetimeFigureOut"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CBF71-0D5C-4845-887A-B9F17657FA8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0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 left to right: input (coconut tree + sensor) → processing pipeline (modules 1–10) → output (farmer/field operator). Emphasize that green=field, blue=signal processing, purple=AI, orange=decision/context. Point out that modules 9 &amp; 10 and the edge/agentic pieces are proposed,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scientific heart. Stress that every value is taken directly from the baseline paper: 13 MFCC + 7 spectral contrast, 1-8 kHz band-pass, FFNN 512-256-128-1. SMOTE is training-only — this is the single most important academic distinction to state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85.6% test accuracy, F1=0.72, and only 176k parameters / 29.4 ms inference. The FFNN beat XGBoost/LightGBM/CatBoost/AdaBoost with statistical significance. Note VGGish shows higher raw accuracy but is less generalizable and heavier.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here: acoustic RPW detection is already commercialized. Agrint IoTree is the flagship competitor. Our differentiators are the coconut/Indian focus, the specific MFCC+contrast+FFNN pipeline, and the proposed agentic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12161520" cy="1965960"/>
          </a:xfrm>
          <a:prstGeom prst="rect">
            <a:avLst/>
          </a:prstGeom>
          <a:solidFill>
            <a:srgbClr val="12441A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640080"/>
            <a:ext cx="1828800" cy="18288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1115568"/>
            <a:ext cx="877824" cy="87782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8869680" y="2468880"/>
            <a:ext cx="2926080" cy="1005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66A544"/>
                </a:solidFill>
                <a:latin typeface="Calibri"/>
                <a:ea typeface="Calibri"/>
                <a:cs typeface="Calibri"/>
              </a:rPr>
              <a:t>RESEARCH METHODOLOGY 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0080" y="137160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Acoustic Detection &amp; Early Warning System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40080" y="3063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FE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Red Palm Weevil Infestation in Coconut Trees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640080" y="5257800"/>
            <a:ext cx="93634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6A5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5257800"/>
            <a:ext cx="9363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777594" y="5257800"/>
            <a:ext cx="127650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6A54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777594" y="5257800"/>
            <a:ext cx="12765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55264" y="5257800"/>
            <a:ext cx="93634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6A5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55264" y="5257800"/>
            <a:ext cx="9363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92778" y="5257800"/>
            <a:ext cx="153162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6A5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92778" y="5257800"/>
            <a:ext cx="1531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5566" y="5257800"/>
            <a:ext cx="2041855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6A5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25566" y="5257800"/>
            <a:ext cx="2041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E8C4"/>
                </a:solidFill>
                <a:latin typeface="Calibri"/>
                <a:ea typeface="Calibri"/>
                <a:cs typeface="Calibri"/>
              </a:rPr>
              <a:t>Team 13  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8FBF83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hidden pest that kills before you can see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Palm Weevil </a:t>
            </a:r>
            <a:r>
              <a:rPr lang="en-US" sz="16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(Rhynchophorus ferrugineus) </a:t>
            </a:r>
            <a:r>
              <a:rPr lang="en-US" sz="16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destructive pest of coconut and palm trees worldwide.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5623560" cy="1051560"/>
          </a:xfrm>
          <a:prstGeom prst="roundRect">
            <a:avLst>
              <a:gd name="adj" fmla="val 7826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734056"/>
            <a:ext cx="603504" cy="603504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79" y="289096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6609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Larvae feed INSIDE the trunk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3017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is completely hidden from view during early stages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721608"/>
            <a:ext cx="5623560" cy="1051560"/>
          </a:xfrm>
          <a:prstGeom prst="roundRect">
            <a:avLst>
              <a:gd name="adj" fmla="val 7826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3941064"/>
            <a:ext cx="603504" cy="603504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9" y="4097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867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appear too late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463040" y="42245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Yellowing fronds and collapse show only in advanced stages — often irreversible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4928616"/>
            <a:ext cx="5623560" cy="1051560"/>
          </a:xfrm>
          <a:prstGeom prst="roundRect">
            <a:avLst>
              <a:gd name="adj" fmla="val 7826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" y="5148072"/>
            <a:ext cx="603504" cy="603504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79" y="5304983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5074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slow &amp; unreliable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463040" y="54315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Labour-intensive, error-prone, and impractical across large plantations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1600200"/>
            <a:ext cx="5303520" cy="4526280"/>
          </a:xfrm>
          <a:prstGeom prst="roundRect">
            <a:avLst>
              <a:gd name="adj" fmla="val 1818"/>
            </a:avLst>
          </a:prstGeom>
          <a:solidFill>
            <a:srgbClr val="1B5E2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Text 16"/>
          <p:cNvSpPr/>
          <p:nvPr/>
        </p:nvSpPr>
        <p:spPr>
          <a:xfrm>
            <a:off x="667512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675120" y="2286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000" dirty="0"/>
          </a:p>
        </p:txBody>
      </p:sp>
      <p:sp>
        <p:nvSpPr>
          <p:cNvPr id="23" name="Text 18"/>
          <p:cNvSpPr/>
          <p:nvPr/>
        </p:nvSpPr>
        <p:spPr>
          <a:xfrm>
            <a:off x="8595360" y="234086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crop production is affected annually by pests &amp; diseases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67512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</a:rPr>
              <a:t>26%</a:t>
            </a:r>
            <a:endParaRPr lang="en-US" sz="4000" dirty="0"/>
          </a:p>
        </p:txBody>
      </p:sp>
      <p:sp>
        <p:nvSpPr>
          <p:cNvPr id="25" name="Text 20"/>
          <p:cNvSpPr/>
          <p:nvPr/>
        </p:nvSpPr>
        <p:spPr>
          <a:xfrm>
            <a:off x="8595360" y="325526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crop yield losses due to insects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675120" y="41148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$70B+</a:t>
            </a:r>
            <a:endParaRPr lang="en-US" sz="4000" dirty="0"/>
          </a:p>
        </p:txBody>
      </p:sp>
      <p:sp>
        <p:nvSpPr>
          <p:cNvPr id="27" name="Text 22"/>
          <p:cNvSpPr/>
          <p:nvPr/>
        </p:nvSpPr>
        <p:spPr>
          <a:xfrm>
            <a:off x="8595360" y="416966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to invasive insect pests alone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675120" y="5120640"/>
            <a:ext cx="47548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675120" y="52578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Curative treatment is easy — but only if the weevil is caught early. Early detection is the entire challenge.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 to what the eye cannot see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Larvae feeding inside the trunk produce faint acoustic / vibrational signals. We capture them, clean them, and let a neural network decide.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4460" y="2514600"/>
            <a:ext cx="822960" cy="8229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30" y="27285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429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5800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/ vibration sensor captures larval feeding sound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59252" y="3246120"/>
            <a:ext cx="182880" cy="365760"/>
          </a:xfrm>
          <a:prstGeom prst="rightArrow">
            <a:avLst/>
          </a:prstGeom>
          <a:solidFill>
            <a:srgbClr val="66A544"/>
          </a:solidFill>
          <a:ln/>
        </p:spPr>
      </p:sp>
      <p:sp>
        <p:nvSpPr>
          <p:cNvPr id="11" name="Shape 8"/>
          <p:cNvSpPr/>
          <p:nvPr/>
        </p:nvSpPr>
        <p:spPr>
          <a:xfrm>
            <a:off x="3319272" y="228600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6532" y="2514600"/>
            <a:ext cx="822960" cy="82296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502" y="272857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429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547872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removal, segmentation &amp; feature extraction (MFCC + spectral contrast)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21324" y="3246120"/>
            <a:ext cx="182880" cy="365760"/>
          </a:xfrm>
          <a:prstGeom prst="rightArrow">
            <a:avLst/>
          </a:prstGeom>
          <a:solidFill>
            <a:srgbClr val="66A544"/>
          </a:solidFill>
          <a:ln/>
        </p:spPr>
      </p:sp>
      <p:sp>
        <p:nvSpPr>
          <p:cNvPr id="17" name="Shape 13"/>
          <p:cNvSpPr/>
          <p:nvPr/>
        </p:nvSpPr>
        <p:spPr>
          <a:xfrm>
            <a:off x="6181344" y="228600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18604" y="2514600"/>
            <a:ext cx="822960" cy="8229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574" y="272857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81344" y="3429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6409944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neural network outputs an infestation probability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883396" y="3246120"/>
            <a:ext cx="182880" cy="365760"/>
          </a:xfrm>
          <a:prstGeom prst="rightArrow">
            <a:avLst/>
          </a:prstGeom>
          <a:solidFill>
            <a:srgbClr val="66A544"/>
          </a:solidFill>
          <a:ln/>
        </p:spPr>
      </p:sp>
      <p:sp>
        <p:nvSpPr>
          <p:cNvPr id="23" name="Shape 18"/>
          <p:cNvSpPr/>
          <p:nvPr/>
        </p:nvSpPr>
        <p:spPr>
          <a:xfrm>
            <a:off x="9043416" y="228600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80676" y="2514600"/>
            <a:ext cx="822960" cy="82296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4646" y="2728570"/>
            <a:ext cx="395021" cy="39502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43416" y="3429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9272016" y="3840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decision triggers alert &amp; monitoring for the field operator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57200" y="493776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1B5E2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22960" y="5257800"/>
            <a:ext cx="566928" cy="566928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361" y="5405201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81328" y="5230368"/>
            <a:ext cx="1490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3017520" y="5257800"/>
            <a:ext cx="566928" cy="566928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4921" y="5405201"/>
            <a:ext cx="272125" cy="27212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75888" y="5230368"/>
            <a:ext cx="1490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5212080" y="5257800"/>
            <a:ext cx="566928" cy="566928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9481" y="5405201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870448" y="5230368"/>
            <a:ext cx="1490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&amp; Lightweight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7406640" y="5257800"/>
            <a:ext cx="566928" cy="566928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4041" y="5405201"/>
            <a:ext cx="272125" cy="272125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065008" y="5230368"/>
            <a:ext cx="1490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300" dirty="0"/>
          </a:p>
        </p:txBody>
      </p:sp>
      <p:sp>
        <p:nvSpPr>
          <p:cNvPr id="41" name="Shape 31"/>
          <p:cNvSpPr/>
          <p:nvPr/>
        </p:nvSpPr>
        <p:spPr>
          <a:xfrm>
            <a:off x="9601200" y="5257800"/>
            <a:ext cx="566928" cy="566928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8601" y="5405201"/>
            <a:ext cx="272125" cy="272125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0259568" y="5230368"/>
            <a:ext cx="1490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Pesticide Use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story: from hidden larvae to farmer alert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308" y="1417320"/>
            <a:ext cx="8764905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signal-processing &amp; classification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below is grounded in the baseline paper — exact values preserved.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6712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14884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2633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• SVD noise removal • band-pass 1–8 kHz • wavelet denoising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01084" y="2532888"/>
            <a:ext cx="182880" cy="237744"/>
          </a:xfrm>
          <a:prstGeom prst="rightArrow">
            <a:avLst/>
          </a:prstGeom>
          <a:solidFill>
            <a:srgbClr val="66A544"/>
          </a:solidFill>
          <a:ln/>
        </p:spPr>
      </p:sp>
      <p:sp>
        <p:nvSpPr>
          <p:cNvPr id="11" name="Shape 9"/>
          <p:cNvSpPr/>
          <p:nvPr/>
        </p:nvSpPr>
        <p:spPr>
          <a:xfrm>
            <a:off x="4270248" y="196596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3128" y="216712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453128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38928" y="214884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38928" y="2514600"/>
            <a:ext cx="2633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energy thresholding isolates relevant acoustic events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14132" y="2532888"/>
            <a:ext cx="182880" cy="237744"/>
          </a:xfrm>
          <a:prstGeom prst="rightArrow">
            <a:avLst/>
          </a:prstGeom>
          <a:solidFill>
            <a:srgbClr val="66A544"/>
          </a:solidFill>
          <a:ln/>
        </p:spPr>
      </p:sp>
      <p:sp>
        <p:nvSpPr>
          <p:cNvPr id="17" name="Shape 15"/>
          <p:cNvSpPr/>
          <p:nvPr/>
        </p:nvSpPr>
        <p:spPr>
          <a:xfrm>
            <a:off x="8083296" y="196596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66176" y="2167128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51976" y="214884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51976" y="2514600"/>
            <a:ext cx="2633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MFCC + 7 spectral contrast → 20-value feature vector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593592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37764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4142232"/>
            <a:ext cx="2633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ranking (training) • t-SNE visualization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01084" y="4160520"/>
            <a:ext cx="182880" cy="237744"/>
          </a:xfrm>
          <a:prstGeom prst="rightArrow">
            <a:avLst/>
          </a:prstGeom>
          <a:solidFill>
            <a:srgbClr val="66A5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270248" y="3593592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53128" y="3794760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0" name="Text 28"/>
          <p:cNvSpPr/>
          <p:nvPr/>
        </p:nvSpPr>
        <p:spPr>
          <a:xfrm>
            <a:off x="4453128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138928" y="37764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38928" y="4142232"/>
            <a:ext cx="2633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→ 256 → 128 → 1 (ReLU / Sigmoid)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14132" y="4160520"/>
            <a:ext cx="182880" cy="237744"/>
          </a:xfrm>
          <a:prstGeom prst="rightArrow">
            <a:avLst/>
          </a:prstGeom>
          <a:solidFill>
            <a:srgbClr val="66A544"/>
          </a:solidFill>
          <a:ln/>
        </p:spPr>
      </p:sp>
      <p:sp>
        <p:nvSpPr>
          <p:cNvPr id="34" name="Shape 32"/>
          <p:cNvSpPr/>
          <p:nvPr/>
        </p:nvSpPr>
        <p:spPr>
          <a:xfrm>
            <a:off x="8083296" y="3593592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66176" y="3794760"/>
            <a:ext cx="548640" cy="54864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6" name="Text 34"/>
          <p:cNvSpPr/>
          <p:nvPr/>
        </p:nvSpPr>
        <p:spPr>
          <a:xfrm>
            <a:off x="8266176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951976" y="37764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951976" y="4142232"/>
            <a:ext cx="2633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probability vs 0.5 threshold → Infested / Non-Infested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516636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1E8F6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8368" y="5321808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5464454"/>
            <a:ext cx="263347" cy="263347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417320" y="523036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Training-only step: </a:t>
            </a: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balances the infested / non-infested classes during training. It </a:t>
            </a: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in the real-time inference pipeline — a key academic distinction.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already works — and it is lightweight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276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85.6%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6276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96.1%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276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(infested)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15087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0" y="16276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29.4 ms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96112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FFNN vs. ensemble models — accuracy (%)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3520440"/>
          <a:ext cx="56692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400800" y="3108960"/>
            <a:ext cx="5303520" cy="2926080"/>
          </a:xfrm>
          <a:prstGeom prst="roundRect">
            <a:avLst>
              <a:gd name="adj" fmla="val 2813"/>
            </a:avLst>
          </a:prstGeom>
          <a:solidFill>
            <a:srgbClr val="1B5E2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7512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FFNN IS THE RIGHT CHOICE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73075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36576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F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 F1-score of all models tested — statistically significant vs. XGBoost, LightGBM, CatBoost, AdaBoost (paired t-test, p &lt; 0.05)</a:t>
            </a:r>
            <a:endParaRPr lang="en-US" sz="12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55371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86600" y="44805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F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176,129 parameters and 1.51 MB memory — real-time &amp; field-ready</a:t>
            </a:r>
            <a:endParaRPr lang="en-US" sz="12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37667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53035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F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matters most: missing an infestation (false negative) is far costlier than a false alarm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individual grower to national biosecurity — each stakeholder gains a different value from the same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65376" y="2286000"/>
            <a:ext cx="822960" cy="8229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346" y="24999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0896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 Farmers &amp; Growers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— protect their trees and income with early, actionable alerts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270248" y="205740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78424" y="2286000"/>
            <a:ext cx="822960" cy="822960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394" y="24999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310896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&amp; Estate Managers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98848" y="342900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monitoring across thousands of trees; prioritise inspection &amp; treatment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083296" y="205740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91472" y="2286000"/>
            <a:ext cx="822960" cy="82296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5442" y="249997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6176" y="310896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Depts &amp; Govt Bodies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11896" y="342900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pest surveillance, quarantine enforcement &amp; outbreak containment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457200" y="406908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865376" y="4297680"/>
            <a:ext cx="822960" cy="82296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9346" y="451165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" y="512064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Academia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85800" y="544068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dataset + model baseline for further bioacoustic AI research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270248" y="406908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678424" y="4297680"/>
            <a:ext cx="822960" cy="8229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2394" y="4511650"/>
            <a:ext cx="395021" cy="39502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53128" y="512064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&amp; Device Manufacturers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498848" y="544068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IoT hardware, sensors and dashboard commercialization partners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083296" y="406908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491472" y="4297680"/>
            <a:ext cx="822960" cy="82296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5442" y="4511650"/>
            <a:ext cx="395021" cy="39502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66176" y="512064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Agri-Extension &amp; Advisory Services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11896" y="544068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guidance to farmers; reduced, targeted pesticide recommendations</a:t>
            </a:r>
            <a:endParaRPr lang="en-US" sz="1080" dirty="0"/>
          </a:p>
        </p:txBody>
      </p:sp>
      <p:sp>
        <p:nvSpPr>
          <p:cNvPr id="36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already exists in the market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RPW detection is a real, commercialized space. Our value is in the specific pipeline and integration — not the concept.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46888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301752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3035808" y="1965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320040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6053328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0" y="1965960"/>
            <a:ext cx="256032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2" name="Text 10"/>
          <p:cNvSpPr/>
          <p:nvPr/>
        </p:nvSpPr>
        <p:spPr>
          <a:xfrm>
            <a:off x="9253728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2468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66928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Agrint IoTree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26080" y="2423160"/>
            <a:ext cx="3017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2423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sensor per tree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2423160"/>
            <a:ext cx="32004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2423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detection + false-alarm filtering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0" y="2423160"/>
            <a:ext cx="2560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53728" y="2423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• IoT + mobile app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2468880" cy="731520"/>
          </a:xfrm>
          <a:prstGeom prst="rect">
            <a:avLst/>
          </a:prstGeom>
          <a:solidFill>
            <a:srgbClr val="F3F9F0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154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AED2000 / LAAR WD-60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26080" y="3154680"/>
            <a:ext cx="3017520" cy="731520"/>
          </a:xfrm>
          <a:prstGeom prst="rect">
            <a:avLst/>
          </a:prstGeom>
          <a:solidFill>
            <a:srgbClr val="F3F9F0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5808" y="3154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acoustic probe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0" y="3154680"/>
            <a:ext cx="3200400" cy="731520"/>
          </a:xfrm>
          <a:prstGeom prst="rect">
            <a:avLst/>
          </a:prstGeom>
          <a:solidFill>
            <a:srgbClr val="F3F9F0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3154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listener (headphones)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0" y="3154680"/>
            <a:ext cx="2560320" cy="731520"/>
          </a:xfrm>
          <a:prstGeom prst="rect">
            <a:avLst/>
          </a:prstGeom>
          <a:solidFill>
            <a:srgbClr val="F3F9F0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53728" y="3154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• handheld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24688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886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 Fiber-Optic DAS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926080" y="3886200"/>
            <a:ext cx="3017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35808" y="3886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acoustic sensing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43600" y="3886200"/>
            <a:ext cx="32004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3886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~97% accuracy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44000" y="3886200"/>
            <a:ext cx="2560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53728" y="3886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→ field trials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4617720"/>
            <a:ext cx="2468880" cy="731520"/>
          </a:xfrm>
          <a:prstGeom prst="rect">
            <a:avLst/>
          </a:prstGeom>
          <a:solidFill>
            <a:srgbClr val="F1E8F6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4617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System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926080" y="4617720"/>
            <a:ext cx="3017520" cy="731520"/>
          </a:xfrm>
          <a:prstGeom prst="rect">
            <a:avLst/>
          </a:prstGeom>
          <a:solidFill>
            <a:srgbClr val="F1E8F6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35808" y="4617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spectral contrast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43600" y="4617720"/>
            <a:ext cx="3200400" cy="731520"/>
          </a:xfrm>
          <a:prstGeom prst="rect">
            <a:avLst/>
          </a:prstGeom>
          <a:solidFill>
            <a:srgbClr val="F1E8F6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4617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FFNN + agentic layer (proposed)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144000" y="4617720"/>
            <a:ext cx="2560320" cy="731520"/>
          </a:xfrm>
          <a:prstGeom prst="rect">
            <a:avLst/>
          </a:prstGeom>
          <a:solidFill>
            <a:srgbClr val="F1E8F6"/>
          </a:solidFill>
          <a:ln w="6350">
            <a:solidFill>
              <a:srgbClr val="D8E2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53728" y="4617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prototype → edge/IoT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5513832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1B5E2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58368" y="5614416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5757062"/>
            <a:ext cx="263347" cy="263347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417320" y="5550408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differentiators: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  in an Indian context • a specific MFCC + spectral-contrast + FFNN pipeline • a proposed agentic orchestration layer absent from every commercial product.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vs. what we will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470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IN LITERATURE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2432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5694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detection of RPW larvae (since 2010)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826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3227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spectral-contrast + FFNN methodology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4106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0432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feature selection &amp; SMOTE balancing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9943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70432" y="45445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baseline: 85.6% accuracy, F1 = 0.72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5780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70432" y="52029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edge deployment (stated direction)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217920" y="155448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F1E8F6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941" y="1949501"/>
            <a:ext cx="307238" cy="30723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223760" y="18470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WORK</a:t>
            </a:r>
            <a:endParaRPr lang="en-US" sz="1500" dirty="0"/>
          </a:p>
        </p:txBody>
      </p:sp>
      <p:sp>
        <p:nvSpPr>
          <p:cNvPr id="22" name="Shape 13"/>
          <p:cNvSpPr/>
          <p:nvPr/>
        </p:nvSpPr>
        <p:spPr>
          <a:xfrm>
            <a:off x="6537960" y="2633472"/>
            <a:ext cx="237744" cy="23774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3" name="Text 14"/>
          <p:cNvSpPr/>
          <p:nvPr/>
        </p:nvSpPr>
        <p:spPr>
          <a:xfrm>
            <a:off x="6931152" y="25694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&amp; evaluate the FFNN on our own field data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537960" y="3291840"/>
            <a:ext cx="237744" cy="23774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5" name="Text 16"/>
          <p:cNvSpPr/>
          <p:nvPr/>
        </p:nvSpPr>
        <p:spPr>
          <a:xfrm>
            <a:off x="6931152" y="32278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test our acoustic / vibration acquisition setup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6537960" y="3950208"/>
            <a:ext cx="237744" cy="23774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7" name="Text 18"/>
          <p:cNvSpPr/>
          <p:nvPr/>
        </p:nvSpPr>
        <p:spPr>
          <a:xfrm>
            <a:off x="6931152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 (3-class) decision with review band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537960" y="4608576"/>
            <a:ext cx="237744" cy="23774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9" name="Text 20"/>
          <p:cNvSpPr/>
          <p:nvPr/>
        </p:nvSpPr>
        <p:spPr>
          <a:xfrm>
            <a:off x="6931152" y="45445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IoT deployment + monitoring dashboard &amp; alerts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537960" y="5266944"/>
            <a:ext cx="237744" cy="23774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1" name="Text 22"/>
          <p:cNvSpPr/>
          <p:nvPr/>
        </p:nvSpPr>
        <p:spPr>
          <a:xfrm>
            <a:off x="6931152" y="52029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Environmental-context integration (humidity, temp.)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537960" y="5925312"/>
            <a:ext cx="237744" cy="23774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3" name="Text 24"/>
          <p:cNvSpPr/>
          <p:nvPr/>
        </p:nvSpPr>
        <p:spPr>
          <a:xfrm>
            <a:off x="6931152" y="58613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layer around the detector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our novelty honestly lies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acoustic RPW detection as novel — it is established. Each element is classified by maturity.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350008"/>
            <a:ext cx="603504" cy="603504"/>
          </a:xfrm>
          <a:prstGeom prst="ellipse">
            <a:avLst/>
          </a:prstGeom>
          <a:solidFill>
            <a:srgbClr val="5B6B7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79" y="2506919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detection of RPW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463040" y="2807208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5B6B70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28072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IN LITERATURE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26480" y="205740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27648" y="2350008"/>
            <a:ext cx="603504" cy="603504"/>
          </a:xfrm>
          <a:prstGeom prst="ellipse">
            <a:avLst/>
          </a:prstGeom>
          <a:solidFill>
            <a:srgbClr val="5B6B7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559" y="2506919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240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spectral-contrast + FFNN pipeline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132320" y="2807208"/>
            <a:ext cx="2929738" cy="310896"/>
          </a:xfrm>
          <a:prstGeom prst="roundRect">
            <a:avLst>
              <a:gd name="adj" fmla="val 44118"/>
            </a:avLst>
          </a:prstGeom>
          <a:solidFill>
            <a:srgbClr val="5B6B70"/>
          </a:solidFill>
          <a:ln/>
        </p:spPr>
      </p:sp>
      <p:sp>
        <p:nvSpPr>
          <p:cNvPr id="16" name="Text 12"/>
          <p:cNvSpPr/>
          <p:nvPr/>
        </p:nvSpPr>
        <p:spPr>
          <a:xfrm>
            <a:off x="7132320" y="2807208"/>
            <a:ext cx="29297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(THIS PAPER'S METHOD)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" y="342900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" y="3721608"/>
            <a:ext cx="603504" cy="603504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9" y="3878519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6118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on our own coconut field data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463040" y="4178808"/>
            <a:ext cx="2366467" cy="310896"/>
          </a:xfrm>
          <a:prstGeom prst="roundRect">
            <a:avLst>
              <a:gd name="adj" fmla="val 44118"/>
            </a:avLst>
          </a:prstGeom>
          <a:solidFill>
            <a:srgbClr val="1565C0"/>
          </a:solidFill>
          <a:ln/>
        </p:spPr>
      </p:sp>
      <p:sp>
        <p:nvSpPr>
          <p:cNvPr id="22" name="Text 17"/>
          <p:cNvSpPr/>
          <p:nvPr/>
        </p:nvSpPr>
        <p:spPr>
          <a:xfrm>
            <a:off x="1463040" y="4178808"/>
            <a:ext cx="23664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OF EXISTING WORK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126480" y="342900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27648" y="3721608"/>
            <a:ext cx="603504" cy="603504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559" y="3878519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36118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IoT deployment of this pipeline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7132320" y="4178808"/>
            <a:ext cx="2768803" cy="310896"/>
          </a:xfrm>
          <a:prstGeom prst="roundRect">
            <a:avLst>
              <a:gd name="adj" fmla="val 44118"/>
            </a:avLst>
          </a:prstGeom>
          <a:solidFill>
            <a:srgbClr val="1565C0"/>
          </a:solidFill>
          <a:ln/>
        </p:spPr>
      </p:sp>
      <p:sp>
        <p:nvSpPr>
          <p:cNvPr id="28" name="Text 22"/>
          <p:cNvSpPr/>
          <p:nvPr/>
        </p:nvSpPr>
        <p:spPr>
          <a:xfrm>
            <a:off x="7132320" y="4178808"/>
            <a:ext cx="27688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— REQUIRES VALIDATION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57200" y="480060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58368" y="5093208"/>
            <a:ext cx="603504" cy="60350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79" y="5250119"/>
            <a:ext cx="289682" cy="28968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4983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 3-class decision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1463040" y="5550408"/>
            <a:ext cx="1964131" cy="310896"/>
          </a:xfrm>
          <a:prstGeom prst="roundRect">
            <a:avLst>
              <a:gd name="adj" fmla="val 44118"/>
            </a:avLst>
          </a:prstGeom>
          <a:solidFill>
            <a:srgbClr val="6A1B9A"/>
          </a:solidFill>
          <a:ln/>
        </p:spPr>
      </p:sp>
      <p:sp>
        <p:nvSpPr>
          <p:cNvPr id="34" name="Text 27"/>
          <p:cNvSpPr/>
          <p:nvPr/>
        </p:nvSpPr>
        <p:spPr>
          <a:xfrm>
            <a:off x="1463040" y="5550408"/>
            <a:ext cx="19641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CONTRIBUTION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26480" y="480060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27648" y="5093208"/>
            <a:ext cx="603504" cy="60350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559" y="5250119"/>
            <a:ext cx="289682" cy="28968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32320" y="4983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layer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7132320" y="5550408"/>
            <a:ext cx="1964131" cy="310896"/>
          </a:xfrm>
          <a:prstGeom prst="roundRect">
            <a:avLst>
              <a:gd name="adj" fmla="val 44118"/>
            </a:avLst>
          </a:prstGeom>
          <a:solidFill>
            <a:srgbClr val="6A1B9A"/>
          </a:solidFill>
          <a:ln/>
        </p:spPr>
      </p:sp>
      <p:sp>
        <p:nvSpPr>
          <p:cNvPr id="40" name="Text 32"/>
          <p:cNvSpPr/>
          <p:nvPr/>
        </p:nvSpPr>
        <p:spPr>
          <a:xfrm>
            <a:off x="7132320" y="5550408"/>
            <a:ext cx="19641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CONTRIBUTION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monitoring &amp; decision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orchestration wrapper around the trained detector. Marked PROPOSED — not part of the baseline paper.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1E8F6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313432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" y="2503627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317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310896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incoming sensor events across the plantation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70248" y="205740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1E8F6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2313432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043" y="2503627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23317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 Agent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98848" y="310896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 captured segment is usable before analysis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83296" y="205740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1E8F6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11896" y="2313432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091" y="2503627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0576" y="23317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Agent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11896" y="310896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the trained FFNN on the prepared feature vector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406908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1E8F6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4325112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95" y="4515307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4340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85800" y="512064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threshold and interprets the probability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70248" y="406908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1E8F6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98848" y="4325112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043" y="4515307"/>
            <a:ext cx="351130" cy="35113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67528" y="434340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Agent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498848" y="512064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warnings &amp; dashboard updates when needed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83296" y="406908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1E8F6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11896" y="4325112"/>
            <a:ext cx="731520" cy="7315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2091" y="4515307"/>
            <a:ext cx="351130" cy="35113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80576" y="434340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Improvement Agent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11896" y="512064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uncertain cases for expert review &amp; retraining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→ architecture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2057400"/>
            <a:ext cx="603504" cy="603504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79" y="22143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noise (wind, rain, birds)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17320" y="240487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+ signal-quality assessment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27648" y="2057400"/>
            <a:ext cx="603504" cy="603504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559" y="221431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928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&amp; imbalanced datasets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086600" y="240487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+ SMOTE (training) + feedback loop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566160"/>
            <a:ext cx="603504" cy="60350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79" y="372307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015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monitoring in baseline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417320" y="391363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+ monitoring/alert architecture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320040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27648" y="3566160"/>
            <a:ext cx="603504" cy="603504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559" y="372307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4015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low-power deployment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86600" y="391363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FFNN + edge inference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70916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8368" y="5074920"/>
            <a:ext cx="603504" cy="603504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279" y="5231831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103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actionable output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417320" y="54223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alert layer for field operators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26480" y="470916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27648" y="5074920"/>
            <a:ext cx="603504" cy="60350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4559" y="5231831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9103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model improvement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086600" y="54223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feedback &amp; data-collection layer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566160"/>
            <a:ext cx="10332720" cy="0"/>
          </a:xfrm>
          <a:prstGeom prst="line">
            <a:avLst/>
          </a:prstGeom>
          <a:noFill/>
          <a:ln w="31750">
            <a:solidFill>
              <a:srgbClr val="66A5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3273552"/>
            <a:ext cx="585216" cy="585216"/>
          </a:xfrm>
          <a:prstGeom prst="ellipse">
            <a:avLst/>
          </a:prstGeom>
          <a:solidFill>
            <a:srgbClr val="2E7D3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3273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928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Sensing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258568"/>
            <a:ext cx="17556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sensor option, capture field samples, verify signal quality, build raw audio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3017520"/>
            <a:ext cx="0" cy="256032"/>
          </a:xfrm>
          <a:prstGeom prst="line">
            <a:avLst/>
          </a:prstGeom>
          <a:noFill/>
          <a:ln w="19050">
            <a:solidFill>
              <a:srgbClr val="2E7D3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063240" y="3273552"/>
            <a:ext cx="585216" cy="585216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273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852928" y="4114800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62656" y="422452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&amp;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80944" y="4590288"/>
            <a:ext cx="17556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normalization, filtering, wavelet denoising, RMS segmentation, MFCC + spectral contrast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55848" y="3566160"/>
            <a:ext cx="0" cy="256032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276088" y="3273552"/>
            <a:ext cx="585216" cy="585216"/>
          </a:xfrm>
          <a:prstGeom prst="ellipse">
            <a:avLst/>
          </a:prstGeom>
          <a:solidFill>
            <a:srgbClr val="6A1B9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3273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65776" y="1783080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75504" y="18928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93792" y="2258568"/>
            <a:ext cx="17556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baseline FFNN, train, tune, evaluate against ensembles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68696" y="3017520"/>
            <a:ext cx="0" cy="256032"/>
          </a:xfrm>
          <a:prstGeom prst="line">
            <a:avLst/>
          </a:prstGeom>
          <a:noFill/>
          <a:ln w="19050">
            <a:solidFill>
              <a:srgbClr val="6A1B9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488936" y="3273552"/>
            <a:ext cx="585216" cy="585216"/>
          </a:xfrm>
          <a:prstGeom prst="ellipse">
            <a:avLst/>
          </a:prstGeom>
          <a:solidFill>
            <a:srgbClr val="0069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8936" y="3273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278624" y="4114800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88352" y="422452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4590288"/>
            <a:ext cx="17556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edge hardware; prototype lightweight on-device inference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81544" y="3566160"/>
            <a:ext cx="0" cy="256032"/>
          </a:xfrm>
          <a:prstGeom prst="line">
            <a:avLst/>
          </a:prstGeom>
          <a:noFill/>
          <a:ln w="19050">
            <a:solidFill>
              <a:srgbClr val="00695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701784" y="3273552"/>
            <a:ext cx="585216" cy="585216"/>
          </a:xfrm>
          <a:prstGeom prst="ellipse">
            <a:avLst/>
          </a:prstGeom>
          <a:solidFill>
            <a:srgbClr val="E651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3273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491472" y="1783080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01200" y="18928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Agents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19488" y="2258568"/>
            <a:ext cx="17556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dashboard/alert prototype; implement agentic orchestration (proposed)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994392" y="3017520"/>
            <a:ext cx="0" cy="256032"/>
          </a:xfrm>
          <a:prstGeom prst="line">
            <a:avLst/>
          </a:prstGeom>
          <a:noFill/>
          <a:ln w="19050">
            <a:solidFill>
              <a:srgbClr val="E6510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expected outcomes — not yet experimentally proven by our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65376" y="2286000"/>
            <a:ext cx="822960" cy="8229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346" y="24999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0896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infestation before irreversible trunk damage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0248" y="205740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78424" y="2286000"/>
            <a:ext cx="822960" cy="822960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394" y="24999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310896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98848" y="342900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tree integrity — no drilling or cutting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83296" y="205740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91472" y="228600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5442" y="249997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6176" y="310896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Yield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11896" y="342900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Healthier trees → more coconuts, less loss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06908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865376" y="4297680"/>
            <a:ext cx="822960" cy="82296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9346" y="451165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" y="512064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Pesticide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85800" y="544068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data-driven application only where needed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70248" y="406908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678424" y="4297680"/>
            <a:ext cx="822960" cy="82296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2394" y="4511650"/>
            <a:ext cx="395021" cy="39502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53128" y="512064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Vigilance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498848" y="544068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across whole plantations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83296" y="406908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F3F9F0"/>
          </a:solidFill>
          <a:ln/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491472" y="4297680"/>
            <a:ext cx="822960" cy="8229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5442" y="4511650"/>
            <a:ext cx="395021" cy="39502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66176" y="512064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11896" y="5440680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support expert action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C80383EC-B8C2-E272-B7CB-7EBA7E3BE780}"/>
              </a:ext>
            </a:extLst>
          </p:cNvPr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6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EC46CB-35A5-4C67-0798-E1D981F8794A}"/>
              </a:ext>
            </a:extLst>
          </p:cNvPr>
          <p:cNvSpPr/>
          <p:nvPr/>
        </p:nvSpPr>
        <p:spPr>
          <a:xfrm>
            <a:off x="640080" y="16916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Coconut tree → hidden larval activity → acoustic signal → sensor → AI → decision → farmer alert.</a:t>
            </a:r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D7B171E-80C4-E268-EBD3-D76A530CD94F}"/>
              </a:ext>
            </a:extLst>
          </p:cNvPr>
          <p:cNvSpPr/>
          <p:nvPr/>
        </p:nvSpPr>
        <p:spPr>
          <a:xfrm>
            <a:off x="640080" y="34290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i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technically-grounded, reproducible acoustic-FFNN core, extended into an integrated edge / IoT / agentic early-warning system for coconut plantations.</a:t>
            </a:r>
            <a:endParaRPr lang="en-US" sz="17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0D23036-52C9-25CF-99D6-3E7F186A5F7D}"/>
              </a:ext>
            </a:extLst>
          </p:cNvPr>
          <p:cNvSpPr/>
          <p:nvPr/>
        </p:nvSpPr>
        <p:spPr>
          <a:xfrm>
            <a:off x="640080" y="470916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2441A"/>
          </a:solidFill>
          <a:ln/>
        </p:spPr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53E997A-8A6E-FB18-163B-50122B644333}"/>
              </a:ext>
            </a:extLst>
          </p:cNvPr>
          <p:cNvSpPr/>
          <p:nvPr/>
        </p:nvSpPr>
        <p:spPr>
          <a:xfrm>
            <a:off x="868680" y="4892040"/>
            <a:ext cx="548640" cy="548640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F380BC19-DC31-C649-D180-78238DE61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5034686"/>
            <a:ext cx="263347" cy="263347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D1AAA8D-0627-A7EF-0920-5BA15C7266C3}"/>
              </a:ext>
            </a:extLst>
          </p:cNvPr>
          <p:cNvSpPr/>
          <p:nvPr/>
        </p:nvSpPr>
        <p:spPr>
          <a:xfrm>
            <a:off x="1554480" y="4709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Scientifically grounded</a:t>
            </a:r>
            <a:endParaRPr lang="en-US" sz="145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0072E520-537C-B251-6F2B-CD65B4D52902}"/>
              </a:ext>
            </a:extLst>
          </p:cNvPr>
          <p:cNvSpPr/>
          <p:nvPr/>
        </p:nvSpPr>
        <p:spPr>
          <a:xfrm>
            <a:off x="4389120" y="470916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2441A"/>
          </a:solidFill>
          <a:ln/>
        </p:spPr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64ABEC43-86EF-5002-4F8D-C9ECFD5D84FA}"/>
              </a:ext>
            </a:extLst>
          </p:cNvPr>
          <p:cNvSpPr/>
          <p:nvPr/>
        </p:nvSpPr>
        <p:spPr>
          <a:xfrm>
            <a:off x="4617720" y="4892040"/>
            <a:ext cx="548640" cy="548640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F58F977-990A-D243-0DDB-A73EF9C64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366" y="5034686"/>
            <a:ext cx="263347" cy="263347"/>
          </a:xfrm>
          <a:prstGeom prst="rect">
            <a:avLst/>
          </a:prstGeom>
        </p:spPr>
      </p:pic>
      <p:sp>
        <p:nvSpPr>
          <p:cNvPr id="23" name="Text 10">
            <a:extLst>
              <a:ext uri="{FF2B5EF4-FFF2-40B4-BE49-F238E27FC236}">
                <a16:creationId xmlns:a16="http://schemas.microsoft.com/office/drawing/2014/main" id="{38407D90-5924-0ED2-EBDA-4725FA93A436}"/>
              </a:ext>
            </a:extLst>
          </p:cNvPr>
          <p:cNvSpPr/>
          <p:nvPr/>
        </p:nvSpPr>
        <p:spPr>
          <a:xfrm>
            <a:off x="5303520" y="4709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integration</a:t>
            </a:r>
            <a:endParaRPr lang="en-US" sz="14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8AFBE248-7953-C7B4-910A-E92F4468ECFF}"/>
              </a:ext>
            </a:extLst>
          </p:cNvPr>
          <p:cNvSpPr/>
          <p:nvPr/>
        </p:nvSpPr>
        <p:spPr>
          <a:xfrm>
            <a:off x="8138160" y="470916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2441A"/>
          </a:solidFill>
          <a:ln/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69C32FBD-91C0-4FC2-E77C-65A6FAAA62DE}"/>
              </a:ext>
            </a:extLst>
          </p:cNvPr>
          <p:cNvSpPr/>
          <p:nvPr/>
        </p:nvSpPr>
        <p:spPr>
          <a:xfrm>
            <a:off x="8366760" y="4892040"/>
            <a:ext cx="548640" cy="548640"/>
          </a:xfrm>
          <a:prstGeom prst="ellipse">
            <a:avLst/>
          </a:prstGeom>
          <a:solidFill>
            <a:srgbClr val="66A544"/>
          </a:solidFill>
          <a:ln/>
        </p:spPr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61F1301B-E28F-DDC1-39C7-F22357DC0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06" y="5034686"/>
            <a:ext cx="263347" cy="263347"/>
          </a:xfrm>
          <a:prstGeom prst="rect">
            <a:avLst/>
          </a:prstGeom>
        </p:spPr>
      </p:pic>
      <p:sp>
        <p:nvSpPr>
          <p:cNvPr id="31" name="Text 13">
            <a:extLst>
              <a:ext uri="{FF2B5EF4-FFF2-40B4-BE49-F238E27FC236}">
                <a16:creationId xmlns:a16="http://schemas.microsoft.com/office/drawing/2014/main" id="{7DC56F0B-695A-62F2-879B-470B980E127B}"/>
              </a:ext>
            </a:extLst>
          </p:cNvPr>
          <p:cNvSpPr/>
          <p:nvPr/>
        </p:nvSpPr>
        <p:spPr>
          <a:xfrm>
            <a:off x="9052560" y="4709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Field-ready &amp; scalable</a:t>
            </a:r>
            <a:endParaRPr lang="en-US" sz="14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89875A18-8D03-1B86-9673-AFFE327D03DF}"/>
              </a:ext>
            </a:extLst>
          </p:cNvPr>
          <p:cNvSpPr/>
          <p:nvPr/>
        </p:nvSpPr>
        <p:spPr>
          <a:xfrm>
            <a:off x="64008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F9A825"/>
                </a:solidFill>
                <a:latin typeface="Cambria"/>
                <a:ea typeface="Cambria"/>
                <a:cs typeface="Cambria" pitchFamily="34" charset="-120"/>
              </a:rPr>
              <a:t>Thank you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1002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1513</Words>
  <Application>Microsoft Office PowerPoint</Application>
  <PresentationFormat>Widescreen</PresentationFormat>
  <Paragraphs>249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Abinaya Senthil</cp:lastModifiedBy>
  <cp:revision>26</cp:revision>
  <dcterms:created xsi:type="dcterms:W3CDTF">2026-08-17T10:28:06Z</dcterms:created>
  <dcterms:modified xsi:type="dcterms:W3CDTF">2026-08-20T05:36:01Z</dcterms:modified>
</cp:coreProperties>
</file>