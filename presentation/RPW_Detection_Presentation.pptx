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0562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7863840" y="-2194560"/>
            <a:ext cx="6858000" cy="6858000"/>
          </a:xfrm>
          <a:prstGeom prst="ellipse">
            <a:avLst/>
          </a:prstGeom>
          <a:solidFill>
            <a:srgbClr val="1F4D36"/>
          </a:solidFill>
          <a:ln/>
        </p:spPr>
      </p:sp>
      <p:sp>
        <p:nvSpPr>
          <p:cNvPr id="3" name="Shape 1"/>
          <p:cNvSpPr/>
          <p:nvPr/>
        </p:nvSpPr>
        <p:spPr>
          <a:xfrm>
            <a:off x="-2011680" y="4206240"/>
            <a:ext cx="4754880" cy="4754880"/>
          </a:xfrm>
          <a:prstGeom prst="ellipse">
            <a:avLst/>
          </a:prstGeom>
          <a:solidFill>
            <a:srgbClr val="6E8F52"/>
          </a:solidFill>
          <a:ln/>
        </p:spPr>
      </p:sp>
      <p:sp>
        <p:nvSpPr>
          <p:cNvPr id="4" name="Shape 2"/>
          <p:cNvSpPr/>
          <p:nvPr/>
        </p:nvSpPr>
        <p:spPr>
          <a:xfrm>
            <a:off x="937260" y="754380"/>
            <a:ext cx="960120" cy="960120"/>
          </a:xfrm>
          <a:prstGeom prst="ellipse">
            <a:avLst/>
          </a:prstGeom>
          <a:solidFill>
            <a:srgbClr val="C1440E"/>
          </a:solidFill>
          <a:ln/>
        </p:spPr>
      </p:sp>
      <p:pic>
        <p:nvPicPr>
          <p:cNvPr id="5" name="Image 0" descr="icons/bug_white.png"/>
          <p:cNvPicPr>
            <a:picLocks noChangeAspect="1"/>
          </p:cNvPicPr>
          <p:nvPr/>
        </p:nvPicPr>
        <p:blipFill>
          <a:blip r:embed="rId3"/>
          <a:stretch>
            <a:fillRect/>
          </a:stretch>
        </p:blipFill>
        <p:spPr>
          <a:xfrm>
            <a:off x="1167689" y="984809"/>
            <a:ext cx="499262" cy="499262"/>
          </a:xfrm>
          <a:prstGeom prst="rect">
            <a:avLst/>
          </a:prstGeom>
        </p:spPr>
      </p:pic>
      <p:sp>
        <p:nvSpPr>
          <p:cNvPr id="6" name="Text 3"/>
          <p:cNvSpPr/>
          <p:nvPr/>
        </p:nvSpPr>
        <p:spPr>
          <a:xfrm>
            <a:off x="731520" y="1828800"/>
            <a:ext cx="9144000" cy="365760"/>
          </a:xfrm>
          <a:prstGeom prst="rect">
            <a:avLst/>
          </a:prstGeom>
          <a:noFill/>
          <a:ln/>
        </p:spPr>
        <p:txBody>
          <a:bodyPr wrap="square" rtlCol="0" anchor="ctr"/>
          <a:lstStyle/>
          <a:p>
            <a:pPr marL="0" indent="0">
              <a:buNone/>
            </a:pPr>
            <a:r>
              <a:rPr lang="en-US" sz="1300" b="1" kern="0" spc="200" dirty="0">
                <a:solidFill>
                  <a:srgbClr val="9FD6A8"/>
                </a:solidFill>
                <a:latin typeface="Calibri" pitchFamily="34" charset="0"/>
                <a:ea typeface="Calibri" pitchFamily="34" charset="-122"/>
                <a:cs typeface="Calibri" pitchFamily="34" charset="-120"/>
              </a:rPr>
              <a:t>MTECH RESEARCH PRESENTATION</a:t>
            </a:r>
            <a:endParaRPr lang="en-US" sz="1300" dirty="0"/>
          </a:p>
        </p:txBody>
      </p:sp>
      <p:sp>
        <p:nvSpPr>
          <p:cNvPr id="7" name="Text 4"/>
          <p:cNvSpPr/>
          <p:nvPr/>
        </p:nvSpPr>
        <p:spPr>
          <a:xfrm>
            <a:off x="731520" y="2240280"/>
            <a:ext cx="10698480" cy="1874520"/>
          </a:xfrm>
          <a:prstGeom prst="rect">
            <a:avLst/>
          </a:prstGeom>
          <a:noFill/>
          <a:ln/>
        </p:spPr>
        <p:txBody>
          <a:bodyPr wrap="square"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AI-Enabled Framework for Detection of Red Palm Weevil Infestation in Coconut Trees</a:t>
            </a:r>
            <a:endParaRPr lang="en-US" sz="3800" dirty="0"/>
          </a:p>
        </p:txBody>
      </p:sp>
      <p:sp>
        <p:nvSpPr>
          <p:cNvPr id="8" name="Text 5"/>
          <p:cNvSpPr/>
          <p:nvPr/>
        </p:nvSpPr>
        <p:spPr>
          <a:xfrm>
            <a:off x="731520" y="3977640"/>
            <a:ext cx="9875520" cy="685800"/>
          </a:xfrm>
          <a:prstGeom prst="rect">
            <a:avLst/>
          </a:prstGeom>
          <a:noFill/>
          <a:ln/>
        </p:spPr>
        <p:txBody>
          <a:bodyPr wrap="square" rtlCol="0" anchor="ctr"/>
          <a:lstStyle/>
          <a:p>
            <a:pPr marL="0" indent="0" algn="l">
              <a:buNone/>
            </a:pPr>
            <a:r>
              <a:rPr lang="en-US" sz="1400" i="1" dirty="0">
                <a:solidFill>
                  <a:srgbClr val="D9E4D3"/>
                </a:solidFill>
                <a:latin typeface="Calibri" pitchFamily="34" charset="0"/>
                <a:ea typeface="Calibri" pitchFamily="34" charset="-122"/>
                <a:cs typeface="Calibri" pitchFamily="34" charset="-120"/>
              </a:rPr>
              <a:t>A literature-grounded study of the problem context, public datasets, detection algorithms, and a proposed bimodal audio-visual AI framework for early RPW detection.</a:t>
            </a:r>
            <a:endParaRPr lang="en-US" sz="1400" dirty="0"/>
          </a:p>
        </p:txBody>
      </p:sp>
      <p:sp>
        <p:nvSpPr>
          <p:cNvPr id="9" name="Shape 6"/>
          <p:cNvSpPr/>
          <p:nvPr/>
        </p:nvSpPr>
        <p:spPr>
          <a:xfrm>
            <a:off x="731520" y="5074920"/>
            <a:ext cx="3246120" cy="1234440"/>
          </a:xfrm>
          <a:prstGeom prst="roundRect">
            <a:avLst>
              <a:gd name="adj" fmla="val 6667"/>
            </a:avLst>
          </a:prstGeom>
          <a:solidFill>
            <a:srgbClr val="1F4D36"/>
          </a:solidFill>
          <a:ln w="12700">
            <a:solidFill>
              <a:srgbClr val="3C6B4E"/>
            </a:solidFill>
            <a:prstDash val="solid"/>
          </a:ln>
        </p:spPr>
      </p:sp>
      <p:sp>
        <p:nvSpPr>
          <p:cNvPr id="12" name="Text 8"/>
          <p:cNvSpPr/>
          <p:nvPr/>
        </p:nvSpPr>
        <p:spPr>
          <a:xfrm>
            <a:off x="1874520" y="5230368"/>
            <a:ext cx="1965960" cy="365760"/>
          </a:xfrm>
          <a:prstGeom prst="rect">
            <a:avLst/>
          </a:prstGeom>
          <a:noFill/>
          <a:ln/>
        </p:spPr>
        <p:txBody>
          <a:bodyPr wrap="square"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Vikram</a:t>
            </a:r>
            <a:endParaRPr lang="en-US" sz="1600" dirty="0"/>
          </a:p>
        </p:txBody>
      </p:sp>
      <p:sp>
        <p:nvSpPr>
          <p:cNvPr id="13" name="Text 9"/>
          <p:cNvSpPr/>
          <p:nvPr/>
        </p:nvSpPr>
        <p:spPr>
          <a:xfrm>
            <a:off x="1874520" y="5596128"/>
            <a:ext cx="1965960" cy="320040"/>
          </a:xfrm>
          <a:prstGeom prst="rect">
            <a:avLst/>
          </a:prstGeom>
          <a:noFill/>
          <a:ln/>
        </p:spPr>
        <p:txBody>
          <a:bodyPr wrap="square" rtlCol="0" anchor="ctr"/>
          <a:lstStyle/>
          <a:p>
            <a:pPr marL="0" indent="0" algn="l">
              <a:buNone/>
            </a:pPr>
            <a:r>
              <a:rPr lang="en-US" sz="1150" dirty="0">
                <a:solidFill>
                  <a:srgbClr val="C9D6BE"/>
                </a:solidFill>
                <a:latin typeface="Calibri" pitchFamily="34" charset="0"/>
                <a:ea typeface="Calibri" pitchFamily="34" charset="-122"/>
                <a:cs typeface="Calibri" pitchFamily="34" charset="-120"/>
              </a:rPr>
              <a:t>CB.SC.P2CSE26031</a:t>
            </a:r>
            <a:endParaRPr lang="en-US" sz="1150" dirty="0"/>
          </a:p>
        </p:txBody>
      </p:sp>
      <p:sp>
        <p:nvSpPr>
          <p:cNvPr id="14" name="Shape 10"/>
          <p:cNvSpPr/>
          <p:nvPr/>
        </p:nvSpPr>
        <p:spPr>
          <a:xfrm>
            <a:off x="4297680" y="5074920"/>
            <a:ext cx="3246120" cy="1234440"/>
          </a:xfrm>
          <a:prstGeom prst="roundRect">
            <a:avLst>
              <a:gd name="adj" fmla="val 6667"/>
            </a:avLst>
          </a:prstGeom>
          <a:solidFill>
            <a:srgbClr val="1F4D36"/>
          </a:solidFill>
          <a:ln w="12700">
            <a:solidFill>
              <a:srgbClr val="3C6B4E"/>
            </a:solidFill>
            <a:prstDash val="solid"/>
          </a:ln>
        </p:spPr>
      </p:sp>
      <p:sp>
        <p:nvSpPr>
          <p:cNvPr id="17" name="Text 12"/>
          <p:cNvSpPr/>
          <p:nvPr/>
        </p:nvSpPr>
        <p:spPr>
          <a:xfrm>
            <a:off x="5440680" y="5230368"/>
            <a:ext cx="1965960" cy="365760"/>
          </a:xfrm>
          <a:prstGeom prst="rect">
            <a:avLst/>
          </a:prstGeom>
          <a:noFill/>
          <a:ln/>
        </p:spPr>
        <p:txBody>
          <a:bodyPr wrap="square"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Akshath</a:t>
            </a:r>
            <a:endParaRPr lang="en-US" sz="1600" dirty="0"/>
          </a:p>
        </p:txBody>
      </p:sp>
      <p:sp>
        <p:nvSpPr>
          <p:cNvPr id="18" name="Text 13"/>
          <p:cNvSpPr/>
          <p:nvPr/>
        </p:nvSpPr>
        <p:spPr>
          <a:xfrm>
            <a:off x="5440680" y="5596128"/>
            <a:ext cx="1965960" cy="320040"/>
          </a:xfrm>
          <a:prstGeom prst="rect">
            <a:avLst/>
          </a:prstGeom>
          <a:noFill/>
          <a:ln/>
        </p:spPr>
        <p:txBody>
          <a:bodyPr wrap="square" rtlCol="0" anchor="ctr"/>
          <a:lstStyle/>
          <a:p>
            <a:pPr marL="0" indent="0" algn="l">
              <a:buNone/>
            </a:pPr>
            <a:r>
              <a:rPr lang="en-US" sz="1150" dirty="0">
                <a:solidFill>
                  <a:srgbClr val="C9D6BE"/>
                </a:solidFill>
                <a:latin typeface="Calibri" pitchFamily="34" charset="0"/>
                <a:ea typeface="Calibri" pitchFamily="34" charset="-122"/>
                <a:cs typeface="Calibri" pitchFamily="34" charset="-120"/>
              </a:rPr>
              <a:t>CB.SC.P2AIE26004</a:t>
            </a:r>
            <a:endParaRPr lang="en-US" sz="1150" dirty="0"/>
          </a:p>
        </p:txBody>
      </p:sp>
      <p:sp>
        <p:nvSpPr>
          <p:cNvPr id="19" name="Shape 14"/>
          <p:cNvSpPr/>
          <p:nvPr/>
        </p:nvSpPr>
        <p:spPr>
          <a:xfrm>
            <a:off x="7863840" y="5074920"/>
            <a:ext cx="3246120" cy="1234440"/>
          </a:xfrm>
          <a:prstGeom prst="roundRect">
            <a:avLst>
              <a:gd name="adj" fmla="val 6667"/>
            </a:avLst>
          </a:prstGeom>
          <a:solidFill>
            <a:srgbClr val="1F4D36"/>
          </a:solidFill>
          <a:ln w="12700">
            <a:solidFill>
              <a:srgbClr val="3C6B4E"/>
            </a:solidFill>
            <a:prstDash val="solid"/>
          </a:ln>
        </p:spPr>
      </p:sp>
      <p:sp>
        <p:nvSpPr>
          <p:cNvPr id="22" name="Text 16"/>
          <p:cNvSpPr/>
          <p:nvPr/>
        </p:nvSpPr>
        <p:spPr>
          <a:xfrm>
            <a:off x="9006840" y="5230368"/>
            <a:ext cx="1965960" cy="365760"/>
          </a:xfrm>
          <a:prstGeom prst="rect">
            <a:avLst/>
          </a:prstGeom>
          <a:noFill/>
          <a:ln/>
        </p:spPr>
        <p:txBody>
          <a:bodyPr wrap="square"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Abinaya</a:t>
            </a:r>
            <a:endParaRPr lang="en-US" sz="1600" dirty="0"/>
          </a:p>
        </p:txBody>
      </p:sp>
      <p:sp>
        <p:nvSpPr>
          <p:cNvPr id="23" name="Text 17"/>
          <p:cNvSpPr/>
          <p:nvPr/>
        </p:nvSpPr>
        <p:spPr>
          <a:xfrm>
            <a:off x="9006840" y="5596128"/>
            <a:ext cx="1965960" cy="320040"/>
          </a:xfrm>
          <a:prstGeom prst="rect">
            <a:avLst/>
          </a:prstGeom>
          <a:noFill/>
          <a:ln/>
        </p:spPr>
        <p:txBody>
          <a:bodyPr wrap="square" rtlCol="0" anchor="ctr"/>
          <a:lstStyle/>
          <a:p>
            <a:pPr marL="0" indent="0" algn="l">
              <a:buNone/>
            </a:pPr>
            <a:r>
              <a:rPr lang="en-US" sz="1150" dirty="0">
                <a:solidFill>
                  <a:srgbClr val="C9D6BE"/>
                </a:solidFill>
                <a:latin typeface="Calibri" pitchFamily="34" charset="0"/>
                <a:ea typeface="Calibri" pitchFamily="34" charset="-122"/>
                <a:cs typeface="Calibri" pitchFamily="34" charset="-120"/>
              </a:rPr>
              <a:t>CB.SC.P2AIE26002</a:t>
            </a:r>
            <a:endParaRPr lang="en-US" sz="1150" dirty="0"/>
          </a:p>
        </p:txBody>
      </p:sp>
      <p:sp>
        <p:nvSpPr>
          <p:cNvPr id="24" name="Text 18"/>
          <p:cNvSpPr/>
          <p:nvPr/>
        </p:nvSpPr>
        <p:spPr>
          <a:xfrm>
            <a:off x="731520" y="6473952"/>
            <a:ext cx="10698480" cy="274320"/>
          </a:xfrm>
          <a:prstGeom prst="rect">
            <a:avLst/>
          </a:prstGeom>
          <a:noFill/>
          <a:ln/>
        </p:spPr>
        <p:txBody>
          <a:bodyPr wrap="square" rtlCol="0" anchor="ctr"/>
          <a:lstStyle/>
          <a:p>
            <a:pPr marL="0" indent="0" algn="l">
              <a:buNone/>
            </a:pPr>
            <a:r>
              <a:rPr lang="en-US" sz="1050" dirty="0">
                <a:solidFill>
                  <a:srgbClr val="8FA98C"/>
                </a:solidFill>
                <a:latin typeface="Calibri" pitchFamily="34" charset="0"/>
                <a:ea typeface="Calibri" pitchFamily="34" charset="-122"/>
                <a:cs typeface="Calibri" pitchFamily="34" charset="-120"/>
              </a:rPr>
              <a:t>Department of Computer Science and Engineering  |  Amrita Vishwa Vidyapeetham, Coimbatore</a:t>
            </a:r>
            <a:endParaRPr lang="en-US" sz="1050" dirty="0"/>
          </a:p>
        </p:txBody>
      </p:sp>
      <p:sp>
        <p:nvSpPr>
          <p:cNvPr id="25" name="Text 19"/>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26" name="Text 20"/>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640080" y="777240"/>
            <a:ext cx="7315200" cy="640080"/>
          </a:xfrm>
          <a:prstGeom prst="rect">
            <a:avLst/>
          </a:prstGeom>
          <a:noFill/>
          <a:ln/>
        </p:spPr>
        <p:txBody>
          <a:bodyPr wrap="square" rtlCol="0" anchor="ctr"/>
          <a:lstStyle/>
          <a:p>
            <a:pPr marL="0" indent="0">
              <a:buNone/>
            </a:pPr>
            <a:r>
              <a:rPr lang="en-US" sz="3200" b="1" dirty="0">
                <a:solidFill>
                  <a:srgbClr val="1F4D36"/>
                </a:solidFill>
                <a:latin typeface="Cambria" pitchFamily="34" charset="0"/>
                <a:ea typeface="Cambria" pitchFamily="34" charset="-122"/>
                <a:cs typeface="Cambria" pitchFamily="34" charset="-120"/>
              </a:rPr>
              <a:t>Agenda</a:t>
            </a:r>
            <a:endParaRPr lang="en-US" sz="3200" dirty="0"/>
          </a:p>
        </p:txBody>
      </p:sp>
      <p:sp>
        <p:nvSpPr>
          <p:cNvPr id="4" name="Shape 2"/>
          <p:cNvSpPr/>
          <p:nvPr/>
        </p:nvSpPr>
        <p:spPr>
          <a:xfrm>
            <a:off x="768096" y="1709928"/>
            <a:ext cx="566928" cy="566928"/>
          </a:xfrm>
          <a:prstGeom prst="ellipse">
            <a:avLst/>
          </a:prstGeom>
          <a:solidFill>
            <a:srgbClr val="1F4D36"/>
          </a:solidFill>
          <a:ln/>
        </p:spPr>
      </p:sp>
      <p:pic>
        <p:nvPicPr>
          <p:cNvPr id="5" name="Image 0" descr="icons/bullseye_white.png"/>
          <p:cNvPicPr>
            <a:picLocks noChangeAspect="1"/>
          </p:cNvPicPr>
          <p:nvPr/>
        </p:nvPicPr>
        <p:blipFill>
          <a:blip r:embed="rId3"/>
          <a:stretch>
            <a:fillRect/>
          </a:stretch>
        </p:blipFill>
        <p:spPr>
          <a:xfrm>
            <a:off x="904159" y="1845991"/>
            <a:ext cx="294803" cy="294803"/>
          </a:xfrm>
          <a:prstGeom prst="rect">
            <a:avLst/>
          </a:prstGeom>
        </p:spPr>
      </p:pic>
      <p:sp>
        <p:nvSpPr>
          <p:cNvPr id="6" name="Text 3"/>
          <p:cNvSpPr/>
          <p:nvPr/>
        </p:nvSpPr>
        <p:spPr>
          <a:xfrm>
            <a:off x="1417320" y="1691640"/>
            <a:ext cx="822960" cy="603504"/>
          </a:xfrm>
          <a:prstGeom prst="rect">
            <a:avLst/>
          </a:prstGeom>
          <a:noFill/>
          <a:ln/>
        </p:spPr>
        <p:txBody>
          <a:bodyPr wrap="square" rtlCol="0" anchor="ctr"/>
          <a:lstStyle/>
          <a:p>
            <a:pPr marL="0" indent="0" algn="l">
              <a:buNone/>
            </a:pPr>
            <a:r>
              <a:rPr lang="en-US" sz="2000" b="1" dirty="0">
                <a:solidFill>
                  <a:srgbClr val="CBD6C3"/>
                </a:solidFill>
                <a:latin typeface="Cambria" pitchFamily="34" charset="0"/>
                <a:ea typeface="Cambria" pitchFamily="34" charset="-122"/>
                <a:cs typeface="Cambria" pitchFamily="34" charset="-120"/>
              </a:rPr>
              <a:t>01</a:t>
            </a:r>
            <a:endParaRPr lang="en-US" sz="2000" dirty="0"/>
          </a:p>
        </p:txBody>
      </p:sp>
      <p:sp>
        <p:nvSpPr>
          <p:cNvPr id="7" name="Text 4"/>
          <p:cNvSpPr/>
          <p:nvPr/>
        </p:nvSpPr>
        <p:spPr>
          <a:xfrm>
            <a:off x="2148840" y="1691640"/>
            <a:ext cx="6766560" cy="347472"/>
          </a:xfrm>
          <a:prstGeom prst="rect">
            <a:avLst/>
          </a:prstGeom>
          <a:noFill/>
          <a:ln/>
        </p:spPr>
        <p:txBody>
          <a:bodyPr wrap="square" rtlCol="0" anchor="ctr"/>
          <a:lstStyle/>
          <a:p>
            <a:pPr marL="0" indent="0">
              <a:buNone/>
            </a:pPr>
            <a:r>
              <a:rPr lang="en-US" sz="1500" b="1" dirty="0">
                <a:solidFill>
                  <a:srgbClr val="20261F"/>
                </a:solidFill>
                <a:latin typeface="Calibri" pitchFamily="34" charset="0"/>
                <a:ea typeface="Calibri" pitchFamily="34" charset="-122"/>
                <a:cs typeface="Calibri" pitchFamily="34" charset="-120"/>
              </a:rPr>
              <a:t>Introduction, Motivation &amp; Problem Statement</a:t>
            </a:r>
            <a:endParaRPr lang="en-US" sz="1500" dirty="0"/>
          </a:p>
        </p:txBody>
      </p:sp>
      <p:sp>
        <p:nvSpPr>
          <p:cNvPr id="9" name="Shape 6"/>
          <p:cNvSpPr/>
          <p:nvPr/>
        </p:nvSpPr>
        <p:spPr>
          <a:xfrm>
            <a:off x="768096" y="2505456"/>
            <a:ext cx="566928" cy="566928"/>
          </a:xfrm>
          <a:prstGeom prst="ellipse">
            <a:avLst/>
          </a:prstGeom>
          <a:solidFill>
            <a:srgbClr val="6E8F52"/>
          </a:solidFill>
          <a:ln/>
        </p:spPr>
      </p:sp>
      <p:pic>
        <p:nvPicPr>
          <p:cNvPr id="10" name="Image 1" descr="icons/book_white.png"/>
          <p:cNvPicPr>
            <a:picLocks noChangeAspect="1"/>
          </p:cNvPicPr>
          <p:nvPr/>
        </p:nvPicPr>
        <p:blipFill>
          <a:blip r:embed="rId4"/>
          <a:stretch>
            <a:fillRect/>
          </a:stretch>
        </p:blipFill>
        <p:spPr>
          <a:xfrm>
            <a:off x="904159" y="2641519"/>
            <a:ext cx="294803" cy="294803"/>
          </a:xfrm>
          <a:prstGeom prst="rect">
            <a:avLst/>
          </a:prstGeom>
        </p:spPr>
      </p:pic>
      <p:sp>
        <p:nvSpPr>
          <p:cNvPr id="11" name="Text 7"/>
          <p:cNvSpPr/>
          <p:nvPr/>
        </p:nvSpPr>
        <p:spPr>
          <a:xfrm>
            <a:off x="1417320" y="2487168"/>
            <a:ext cx="822960" cy="603504"/>
          </a:xfrm>
          <a:prstGeom prst="rect">
            <a:avLst/>
          </a:prstGeom>
          <a:noFill/>
          <a:ln/>
        </p:spPr>
        <p:txBody>
          <a:bodyPr wrap="square" rtlCol="0" anchor="ctr"/>
          <a:lstStyle/>
          <a:p>
            <a:pPr marL="0" indent="0" algn="l">
              <a:buNone/>
            </a:pPr>
            <a:r>
              <a:rPr lang="en-US" sz="2000" b="1" dirty="0">
                <a:solidFill>
                  <a:srgbClr val="CBD6C3"/>
                </a:solidFill>
                <a:latin typeface="Cambria" pitchFamily="34" charset="0"/>
                <a:ea typeface="Cambria" pitchFamily="34" charset="-122"/>
                <a:cs typeface="Cambria" pitchFamily="34" charset="-120"/>
              </a:rPr>
              <a:t>02</a:t>
            </a:r>
            <a:endParaRPr lang="en-US" sz="2000" dirty="0"/>
          </a:p>
        </p:txBody>
      </p:sp>
      <p:sp>
        <p:nvSpPr>
          <p:cNvPr id="12" name="Text 8"/>
          <p:cNvSpPr/>
          <p:nvPr/>
        </p:nvSpPr>
        <p:spPr>
          <a:xfrm>
            <a:off x="2148840" y="2487168"/>
            <a:ext cx="6766560" cy="347472"/>
          </a:xfrm>
          <a:prstGeom prst="rect">
            <a:avLst/>
          </a:prstGeom>
          <a:noFill/>
          <a:ln/>
        </p:spPr>
        <p:txBody>
          <a:bodyPr wrap="square" rtlCol="0" anchor="ctr"/>
          <a:lstStyle/>
          <a:p>
            <a:pPr marL="0" indent="0">
              <a:buNone/>
            </a:pPr>
            <a:r>
              <a:rPr lang="en-US" sz="1500" b="1" dirty="0">
                <a:solidFill>
                  <a:srgbClr val="20261F"/>
                </a:solidFill>
                <a:latin typeface="Calibri" pitchFamily="34" charset="0"/>
                <a:ea typeface="Calibri" pitchFamily="34" charset="-122"/>
                <a:cs typeface="Calibri" pitchFamily="34" charset="-120"/>
              </a:rPr>
              <a:t>Literature Review </a:t>
            </a:r>
            <a:endParaRPr lang="en-US" sz="1500" dirty="0"/>
          </a:p>
        </p:txBody>
      </p:sp>
      <p:sp>
        <p:nvSpPr>
          <p:cNvPr id="14" name="Shape 10"/>
          <p:cNvSpPr/>
          <p:nvPr/>
        </p:nvSpPr>
        <p:spPr>
          <a:xfrm>
            <a:off x="768096" y="3300984"/>
            <a:ext cx="566928" cy="566928"/>
          </a:xfrm>
          <a:prstGeom prst="ellipse">
            <a:avLst/>
          </a:prstGeom>
          <a:solidFill>
            <a:srgbClr val="1F4D36"/>
          </a:solidFill>
          <a:ln/>
        </p:spPr>
      </p:sp>
      <p:pic>
        <p:nvPicPr>
          <p:cNvPr id="15" name="Image 2" descr="icons/brain_white.png"/>
          <p:cNvPicPr>
            <a:picLocks noChangeAspect="1"/>
          </p:cNvPicPr>
          <p:nvPr/>
        </p:nvPicPr>
        <p:blipFill>
          <a:blip r:embed="rId5"/>
          <a:stretch>
            <a:fillRect/>
          </a:stretch>
        </p:blipFill>
        <p:spPr>
          <a:xfrm>
            <a:off x="904159" y="3437047"/>
            <a:ext cx="294803" cy="294803"/>
          </a:xfrm>
          <a:prstGeom prst="rect">
            <a:avLst/>
          </a:prstGeom>
        </p:spPr>
      </p:pic>
      <p:sp>
        <p:nvSpPr>
          <p:cNvPr id="16" name="Text 11"/>
          <p:cNvSpPr/>
          <p:nvPr/>
        </p:nvSpPr>
        <p:spPr>
          <a:xfrm>
            <a:off x="1417320" y="3282696"/>
            <a:ext cx="822960" cy="603504"/>
          </a:xfrm>
          <a:prstGeom prst="rect">
            <a:avLst/>
          </a:prstGeom>
          <a:noFill/>
          <a:ln/>
        </p:spPr>
        <p:txBody>
          <a:bodyPr wrap="square" rtlCol="0" anchor="ctr"/>
          <a:lstStyle/>
          <a:p>
            <a:pPr marL="0" indent="0" algn="l">
              <a:buNone/>
            </a:pPr>
            <a:r>
              <a:rPr lang="en-US" sz="2000" b="1" dirty="0">
                <a:solidFill>
                  <a:srgbClr val="CBD6C3"/>
                </a:solidFill>
                <a:latin typeface="Cambria" pitchFamily="34" charset="0"/>
                <a:ea typeface="Cambria" pitchFamily="34" charset="-122"/>
                <a:cs typeface="Cambria" pitchFamily="34" charset="-120"/>
              </a:rPr>
              <a:t>03</a:t>
            </a:r>
            <a:endParaRPr lang="en-US" sz="2000" dirty="0"/>
          </a:p>
        </p:txBody>
      </p:sp>
      <p:sp>
        <p:nvSpPr>
          <p:cNvPr id="17" name="Text 12"/>
          <p:cNvSpPr/>
          <p:nvPr/>
        </p:nvSpPr>
        <p:spPr>
          <a:xfrm>
            <a:off x="2148840" y="3282696"/>
            <a:ext cx="6766560" cy="347472"/>
          </a:xfrm>
          <a:prstGeom prst="rect">
            <a:avLst/>
          </a:prstGeom>
          <a:noFill/>
          <a:ln/>
        </p:spPr>
        <p:txBody>
          <a:bodyPr wrap="square" rtlCol="0" anchor="ctr"/>
          <a:lstStyle/>
          <a:p>
            <a:pPr marL="0" indent="0">
              <a:buNone/>
            </a:pPr>
            <a:r>
              <a:rPr lang="en-US" sz="1500" b="1" dirty="0">
                <a:solidFill>
                  <a:srgbClr val="20261F"/>
                </a:solidFill>
                <a:latin typeface="Calibri" pitchFamily="34" charset="0"/>
                <a:ea typeface="Calibri" pitchFamily="34" charset="-122"/>
                <a:cs typeface="Calibri" pitchFamily="34" charset="-120"/>
              </a:rPr>
              <a:t>Algorithm Chosen</a:t>
            </a:r>
            <a:endParaRPr lang="en-US" sz="1500" dirty="0"/>
          </a:p>
        </p:txBody>
      </p:sp>
      <p:sp>
        <p:nvSpPr>
          <p:cNvPr id="19" name="Shape 14"/>
          <p:cNvSpPr/>
          <p:nvPr/>
        </p:nvSpPr>
        <p:spPr>
          <a:xfrm>
            <a:off x="768096" y="4096512"/>
            <a:ext cx="566928" cy="566928"/>
          </a:xfrm>
          <a:prstGeom prst="ellipse">
            <a:avLst/>
          </a:prstGeom>
          <a:solidFill>
            <a:srgbClr val="6E8F52"/>
          </a:solidFill>
          <a:ln/>
        </p:spPr>
      </p:sp>
      <p:pic>
        <p:nvPicPr>
          <p:cNvPr id="20" name="Image 3" descr="icons/database_white.png"/>
          <p:cNvPicPr>
            <a:picLocks noChangeAspect="1"/>
          </p:cNvPicPr>
          <p:nvPr/>
        </p:nvPicPr>
        <p:blipFill>
          <a:blip r:embed="rId6"/>
          <a:stretch>
            <a:fillRect/>
          </a:stretch>
        </p:blipFill>
        <p:spPr>
          <a:xfrm>
            <a:off x="904159" y="4232575"/>
            <a:ext cx="294803" cy="294803"/>
          </a:xfrm>
          <a:prstGeom prst="rect">
            <a:avLst/>
          </a:prstGeom>
        </p:spPr>
      </p:pic>
      <p:sp>
        <p:nvSpPr>
          <p:cNvPr id="21" name="Text 15"/>
          <p:cNvSpPr/>
          <p:nvPr/>
        </p:nvSpPr>
        <p:spPr>
          <a:xfrm>
            <a:off x="1417320" y="4078224"/>
            <a:ext cx="822960" cy="603504"/>
          </a:xfrm>
          <a:prstGeom prst="rect">
            <a:avLst/>
          </a:prstGeom>
          <a:noFill/>
          <a:ln/>
        </p:spPr>
        <p:txBody>
          <a:bodyPr wrap="square" rtlCol="0" anchor="ctr"/>
          <a:lstStyle/>
          <a:p>
            <a:pPr marL="0" indent="0" algn="l">
              <a:buNone/>
            </a:pPr>
            <a:r>
              <a:rPr lang="en-US" sz="2000" b="1" dirty="0">
                <a:solidFill>
                  <a:srgbClr val="CBD6C3"/>
                </a:solidFill>
                <a:latin typeface="Cambria" pitchFamily="34" charset="0"/>
                <a:ea typeface="Cambria" pitchFamily="34" charset="-122"/>
                <a:cs typeface="Cambria" pitchFamily="34" charset="-120"/>
              </a:rPr>
              <a:t>04</a:t>
            </a:r>
            <a:endParaRPr lang="en-US" sz="2000" dirty="0"/>
          </a:p>
        </p:txBody>
      </p:sp>
      <p:sp>
        <p:nvSpPr>
          <p:cNvPr id="22" name="Text 16"/>
          <p:cNvSpPr/>
          <p:nvPr/>
        </p:nvSpPr>
        <p:spPr>
          <a:xfrm>
            <a:off x="2148840" y="4078224"/>
            <a:ext cx="6766560" cy="347472"/>
          </a:xfrm>
          <a:prstGeom prst="rect">
            <a:avLst/>
          </a:prstGeom>
          <a:noFill/>
          <a:ln/>
        </p:spPr>
        <p:txBody>
          <a:bodyPr wrap="square" rtlCol="0" anchor="ctr"/>
          <a:lstStyle/>
          <a:p>
            <a:pPr marL="0" indent="0">
              <a:buNone/>
            </a:pPr>
            <a:r>
              <a:rPr lang="en-US" sz="1500" b="1" dirty="0">
                <a:solidFill>
                  <a:srgbClr val="20261F"/>
                </a:solidFill>
                <a:latin typeface="Calibri" pitchFamily="34" charset="0"/>
                <a:ea typeface="Calibri" pitchFamily="34" charset="-122"/>
                <a:cs typeface="Calibri" pitchFamily="34" charset="-120"/>
              </a:rPr>
              <a:t>Dataset Understanding</a:t>
            </a:r>
            <a:endParaRPr lang="en-US" sz="1500" dirty="0"/>
          </a:p>
        </p:txBody>
      </p:sp>
      <p:sp>
        <p:nvSpPr>
          <p:cNvPr id="24" name="Shape 18"/>
          <p:cNvSpPr/>
          <p:nvPr/>
        </p:nvSpPr>
        <p:spPr>
          <a:xfrm>
            <a:off x="768096" y="4892040"/>
            <a:ext cx="566928" cy="566928"/>
          </a:xfrm>
          <a:prstGeom prst="ellipse">
            <a:avLst/>
          </a:prstGeom>
          <a:solidFill>
            <a:srgbClr val="1F4D36"/>
          </a:solidFill>
          <a:ln/>
        </p:spPr>
      </p:sp>
      <p:pic>
        <p:nvPicPr>
          <p:cNvPr id="25" name="Image 4" descr="icons/chart_white.png"/>
          <p:cNvPicPr>
            <a:picLocks noChangeAspect="1"/>
          </p:cNvPicPr>
          <p:nvPr/>
        </p:nvPicPr>
        <p:blipFill>
          <a:blip r:embed="rId7"/>
          <a:stretch>
            <a:fillRect/>
          </a:stretch>
        </p:blipFill>
        <p:spPr>
          <a:xfrm>
            <a:off x="904159" y="5028103"/>
            <a:ext cx="294803" cy="294803"/>
          </a:xfrm>
          <a:prstGeom prst="rect">
            <a:avLst/>
          </a:prstGeom>
        </p:spPr>
      </p:pic>
      <p:sp>
        <p:nvSpPr>
          <p:cNvPr id="26" name="Text 19"/>
          <p:cNvSpPr/>
          <p:nvPr/>
        </p:nvSpPr>
        <p:spPr>
          <a:xfrm>
            <a:off x="1417320" y="4873752"/>
            <a:ext cx="822960" cy="603504"/>
          </a:xfrm>
          <a:prstGeom prst="rect">
            <a:avLst/>
          </a:prstGeom>
          <a:noFill/>
          <a:ln/>
        </p:spPr>
        <p:txBody>
          <a:bodyPr wrap="square" rtlCol="0" anchor="ctr"/>
          <a:lstStyle/>
          <a:p>
            <a:pPr marL="0" indent="0" algn="l">
              <a:buNone/>
            </a:pPr>
            <a:r>
              <a:rPr lang="en-US" sz="2000" b="1" dirty="0">
                <a:solidFill>
                  <a:srgbClr val="CBD6C3"/>
                </a:solidFill>
                <a:latin typeface="Cambria" pitchFamily="34" charset="0"/>
                <a:ea typeface="Cambria" pitchFamily="34" charset="-122"/>
                <a:cs typeface="Cambria" pitchFamily="34" charset="-120"/>
              </a:rPr>
              <a:t>05</a:t>
            </a:r>
            <a:endParaRPr lang="en-US" sz="2000" dirty="0"/>
          </a:p>
        </p:txBody>
      </p:sp>
      <p:sp>
        <p:nvSpPr>
          <p:cNvPr id="27" name="Text 20"/>
          <p:cNvSpPr/>
          <p:nvPr/>
        </p:nvSpPr>
        <p:spPr>
          <a:xfrm>
            <a:off x="2148840" y="4873752"/>
            <a:ext cx="6766560" cy="347472"/>
          </a:xfrm>
          <a:prstGeom prst="rect">
            <a:avLst/>
          </a:prstGeom>
          <a:noFill/>
          <a:ln/>
        </p:spPr>
        <p:txBody>
          <a:bodyPr wrap="square" rtlCol="0" anchor="ctr"/>
          <a:lstStyle/>
          <a:p>
            <a:pPr marL="0" indent="0">
              <a:buNone/>
            </a:pPr>
            <a:r>
              <a:rPr lang="en-US" sz="1500" b="1" dirty="0">
                <a:solidFill>
                  <a:srgbClr val="20261F"/>
                </a:solidFill>
                <a:latin typeface="Calibri" pitchFamily="34" charset="0"/>
                <a:ea typeface="Calibri" pitchFamily="34" charset="-122"/>
                <a:cs typeface="Calibri" pitchFamily="34" charset="-120"/>
              </a:rPr>
              <a:t>Experiments &amp; Performance Metrics</a:t>
            </a:r>
            <a:endParaRPr lang="en-US" sz="1500" dirty="0"/>
          </a:p>
        </p:txBody>
      </p:sp>
      <p:sp>
        <p:nvSpPr>
          <p:cNvPr id="29" name="Shape 22"/>
          <p:cNvSpPr/>
          <p:nvPr/>
        </p:nvSpPr>
        <p:spPr>
          <a:xfrm>
            <a:off x="768096" y="5687568"/>
            <a:ext cx="566928" cy="566928"/>
          </a:xfrm>
          <a:prstGeom prst="ellipse">
            <a:avLst/>
          </a:prstGeom>
          <a:solidFill>
            <a:srgbClr val="6E8F52"/>
          </a:solidFill>
          <a:ln/>
        </p:spPr>
      </p:sp>
      <p:pic>
        <p:nvPicPr>
          <p:cNvPr id="30" name="Image 5" descr="icons/leaf_white.png"/>
          <p:cNvPicPr>
            <a:picLocks noChangeAspect="1"/>
          </p:cNvPicPr>
          <p:nvPr/>
        </p:nvPicPr>
        <p:blipFill>
          <a:blip r:embed="rId8"/>
          <a:stretch>
            <a:fillRect/>
          </a:stretch>
        </p:blipFill>
        <p:spPr>
          <a:xfrm>
            <a:off x="904159" y="5823631"/>
            <a:ext cx="294803" cy="294803"/>
          </a:xfrm>
          <a:prstGeom prst="rect">
            <a:avLst/>
          </a:prstGeom>
        </p:spPr>
      </p:pic>
      <p:sp>
        <p:nvSpPr>
          <p:cNvPr id="31" name="Text 23"/>
          <p:cNvSpPr/>
          <p:nvPr/>
        </p:nvSpPr>
        <p:spPr>
          <a:xfrm>
            <a:off x="1417320" y="5669280"/>
            <a:ext cx="822960" cy="603504"/>
          </a:xfrm>
          <a:prstGeom prst="rect">
            <a:avLst/>
          </a:prstGeom>
          <a:noFill/>
          <a:ln/>
        </p:spPr>
        <p:txBody>
          <a:bodyPr wrap="square" rtlCol="0" anchor="ctr"/>
          <a:lstStyle/>
          <a:p>
            <a:pPr marL="0" indent="0" algn="l">
              <a:buNone/>
            </a:pPr>
            <a:r>
              <a:rPr lang="en-US" sz="2000" b="1" dirty="0">
                <a:solidFill>
                  <a:srgbClr val="CBD6C3"/>
                </a:solidFill>
                <a:latin typeface="Cambria" pitchFamily="34" charset="0"/>
                <a:ea typeface="Cambria" pitchFamily="34" charset="-122"/>
                <a:cs typeface="Cambria" pitchFamily="34" charset="-120"/>
              </a:rPr>
              <a:t>06</a:t>
            </a:r>
            <a:endParaRPr lang="en-US" sz="2000" dirty="0"/>
          </a:p>
        </p:txBody>
      </p:sp>
      <p:sp>
        <p:nvSpPr>
          <p:cNvPr id="32" name="Text 24"/>
          <p:cNvSpPr/>
          <p:nvPr/>
        </p:nvSpPr>
        <p:spPr>
          <a:xfrm>
            <a:off x="2148840" y="5669280"/>
            <a:ext cx="6766560" cy="347472"/>
          </a:xfrm>
          <a:prstGeom prst="rect">
            <a:avLst/>
          </a:prstGeom>
          <a:noFill/>
          <a:ln/>
        </p:spPr>
        <p:txBody>
          <a:bodyPr wrap="square" rtlCol="0" anchor="ctr"/>
          <a:lstStyle/>
          <a:p>
            <a:pPr marL="0" indent="0">
              <a:buNone/>
            </a:pPr>
            <a:r>
              <a:rPr lang="en-US" sz="1500" b="1" dirty="0">
                <a:solidFill>
                  <a:srgbClr val="20261F"/>
                </a:solidFill>
                <a:latin typeface="Calibri" pitchFamily="34" charset="0"/>
                <a:ea typeface="Calibri" pitchFamily="34" charset="-122"/>
                <a:cs typeface="Calibri" pitchFamily="34" charset="-120"/>
              </a:rPr>
              <a:t>SDG Justification</a:t>
            </a:r>
            <a:endParaRPr lang="en-US" sz="1500" dirty="0"/>
          </a:p>
        </p:txBody>
      </p:sp>
      <p:sp>
        <p:nvSpPr>
          <p:cNvPr id="35" name="Text 27"/>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640080" y="731520"/>
            <a:ext cx="10515600" cy="594360"/>
          </a:xfrm>
          <a:prstGeom prst="rect">
            <a:avLst/>
          </a:prstGeom>
          <a:noFill/>
          <a:ln/>
        </p:spPr>
        <p:txBody>
          <a:bodyPr wrap="square" rtlCol="0" anchor="ctr"/>
          <a:lstStyle/>
          <a:p>
            <a:pPr marL="0" indent="0">
              <a:buNone/>
            </a:pPr>
            <a:r>
              <a:rPr lang="en-US" sz="2800" b="1" dirty="0">
                <a:solidFill>
                  <a:srgbClr val="1F4D36"/>
                </a:solidFill>
                <a:latin typeface="Cambria" pitchFamily="34" charset="0"/>
                <a:ea typeface="Cambria" pitchFamily="34" charset="-122"/>
                <a:cs typeface="Cambria" pitchFamily="34" charset="-120"/>
              </a:rPr>
              <a:t>Why Red Palm Weevil Detection Matters</a:t>
            </a:r>
            <a:endParaRPr lang="en-US" sz="2800" dirty="0"/>
          </a:p>
        </p:txBody>
      </p:sp>
      <p:sp>
        <p:nvSpPr>
          <p:cNvPr id="4" name="Shape 2"/>
          <p:cNvSpPr/>
          <p:nvPr/>
        </p:nvSpPr>
        <p:spPr>
          <a:xfrm>
            <a:off x="640080" y="1508760"/>
            <a:ext cx="6446520" cy="4892040"/>
          </a:xfrm>
          <a:prstGeom prst="roundRect">
            <a:avLst>
              <a:gd name="adj" fmla="val 1495"/>
            </a:avLst>
          </a:prstGeom>
          <a:solidFill>
            <a:srgbClr val="F3F1E7"/>
          </a:solidFill>
          <a:ln/>
        </p:spPr>
      </p:sp>
      <p:sp>
        <p:nvSpPr>
          <p:cNvPr id="5" name="Shape 3"/>
          <p:cNvSpPr/>
          <p:nvPr/>
        </p:nvSpPr>
        <p:spPr>
          <a:xfrm>
            <a:off x="914400" y="1847088"/>
            <a:ext cx="100584" cy="100584"/>
          </a:xfrm>
          <a:prstGeom prst="ellipse">
            <a:avLst/>
          </a:prstGeom>
          <a:solidFill>
            <a:srgbClr val="C1440E"/>
          </a:solidFill>
          <a:ln/>
        </p:spPr>
      </p:sp>
      <p:sp>
        <p:nvSpPr>
          <p:cNvPr id="6" name="Text 4"/>
          <p:cNvSpPr/>
          <p:nvPr/>
        </p:nvSpPr>
        <p:spPr>
          <a:xfrm>
            <a:off x="1143000" y="1691640"/>
            <a:ext cx="5669280" cy="777240"/>
          </a:xfrm>
          <a:prstGeom prst="rect">
            <a:avLst/>
          </a:prstGeom>
          <a:noFill/>
          <a:ln/>
        </p:spPr>
        <p:txBody>
          <a:bodyPr wrap="square" rtlCol="0" anchor="t"/>
          <a:lstStyle/>
          <a:p>
            <a:pPr marL="0" indent="0">
              <a:lnSpc>
                <a:spcPct val="108000"/>
              </a:lnSpc>
              <a:buNone/>
            </a:pPr>
            <a:r>
              <a:rPr lang="en-US" sz="1300" dirty="0">
                <a:solidFill>
                  <a:srgbClr val="20261F"/>
                </a:solidFill>
                <a:latin typeface="Calibri" pitchFamily="34" charset="0"/>
                <a:ea typeface="Calibri" pitchFamily="34" charset="-122"/>
                <a:cs typeface="Calibri" pitchFamily="34" charset="-120"/>
              </a:rPr>
              <a:t>Coconut cultivation supports millions of livelihoods across South &amp; Southeast Asia, the Middle East, and parts of Africa.</a:t>
            </a:r>
            <a:endParaRPr lang="en-US" sz="1300" dirty="0"/>
          </a:p>
        </p:txBody>
      </p:sp>
      <p:sp>
        <p:nvSpPr>
          <p:cNvPr id="7" name="Shape 5"/>
          <p:cNvSpPr/>
          <p:nvPr/>
        </p:nvSpPr>
        <p:spPr>
          <a:xfrm>
            <a:off x="914400" y="2743200"/>
            <a:ext cx="100584" cy="100584"/>
          </a:xfrm>
          <a:prstGeom prst="ellipse">
            <a:avLst/>
          </a:prstGeom>
          <a:solidFill>
            <a:srgbClr val="C1440E"/>
          </a:solidFill>
          <a:ln/>
        </p:spPr>
      </p:sp>
      <p:sp>
        <p:nvSpPr>
          <p:cNvPr id="8" name="Text 6"/>
          <p:cNvSpPr/>
          <p:nvPr/>
        </p:nvSpPr>
        <p:spPr>
          <a:xfrm>
            <a:off x="1143000" y="2587752"/>
            <a:ext cx="5669280" cy="777240"/>
          </a:xfrm>
          <a:prstGeom prst="rect">
            <a:avLst/>
          </a:prstGeom>
          <a:noFill/>
          <a:ln/>
        </p:spPr>
        <p:txBody>
          <a:bodyPr wrap="square" rtlCol="0" anchor="t"/>
          <a:lstStyle/>
          <a:p>
            <a:pPr marL="0" indent="0">
              <a:lnSpc>
                <a:spcPct val="108000"/>
              </a:lnSpc>
              <a:buNone/>
            </a:pPr>
            <a:r>
              <a:rPr lang="en-US" sz="1300" dirty="0">
                <a:solidFill>
                  <a:srgbClr val="20261F"/>
                </a:solidFill>
                <a:latin typeface="Calibri" pitchFamily="34" charset="0"/>
                <a:ea typeface="Calibri" pitchFamily="34" charset="-122"/>
                <a:cs typeface="Calibri" pitchFamily="34" charset="-120"/>
              </a:rPr>
              <a:t>Red Palm Weevil (Rhynchophorus ferrugineus) is the most economically damaging pest of these plantations.</a:t>
            </a:r>
            <a:endParaRPr lang="en-US" sz="1300" dirty="0"/>
          </a:p>
        </p:txBody>
      </p:sp>
      <p:sp>
        <p:nvSpPr>
          <p:cNvPr id="9" name="Shape 7"/>
          <p:cNvSpPr/>
          <p:nvPr/>
        </p:nvSpPr>
        <p:spPr>
          <a:xfrm>
            <a:off x="914400" y="3639312"/>
            <a:ext cx="100584" cy="100584"/>
          </a:xfrm>
          <a:prstGeom prst="ellipse">
            <a:avLst/>
          </a:prstGeom>
          <a:solidFill>
            <a:srgbClr val="C1440E"/>
          </a:solidFill>
          <a:ln/>
        </p:spPr>
      </p:sp>
      <p:sp>
        <p:nvSpPr>
          <p:cNvPr id="10" name="Text 8"/>
          <p:cNvSpPr/>
          <p:nvPr/>
        </p:nvSpPr>
        <p:spPr>
          <a:xfrm>
            <a:off x="1143000" y="3483864"/>
            <a:ext cx="5669280" cy="777240"/>
          </a:xfrm>
          <a:prstGeom prst="rect">
            <a:avLst/>
          </a:prstGeom>
          <a:noFill/>
          <a:ln/>
        </p:spPr>
        <p:txBody>
          <a:bodyPr wrap="square" rtlCol="0" anchor="t"/>
          <a:lstStyle/>
          <a:p>
            <a:pPr marL="0" indent="0">
              <a:lnSpc>
                <a:spcPct val="108000"/>
              </a:lnSpc>
              <a:buNone/>
            </a:pPr>
            <a:r>
              <a:rPr lang="en-US" sz="1300" dirty="0">
                <a:solidFill>
                  <a:srgbClr val="20261F"/>
                </a:solidFill>
                <a:latin typeface="Calibri" pitchFamily="34" charset="0"/>
                <a:ea typeface="Calibri" pitchFamily="34" charset="-122"/>
                <a:cs typeface="Calibri" pitchFamily="34" charset="-120"/>
              </a:rPr>
              <a:t>Larvae feed concealed inside the trunk for weeks before any external symptom — boreholes, frass, or frond wilting — appears.</a:t>
            </a:r>
            <a:endParaRPr lang="en-US" sz="1300" dirty="0"/>
          </a:p>
        </p:txBody>
      </p:sp>
      <p:sp>
        <p:nvSpPr>
          <p:cNvPr id="11" name="Shape 9"/>
          <p:cNvSpPr/>
          <p:nvPr/>
        </p:nvSpPr>
        <p:spPr>
          <a:xfrm>
            <a:off x="914400" y="4535424"/>
            <a:ext cx="100584" cy="100584"/>
          </a:xfrm>
          <a:prstGeom prst="ellipse">
            <a:avLst/>
          </a:prstGeom>
          <a:solidFill>
            <a:srgbClr val="C1440E"/>
          </a:solidFill>
          <a:ln/>
        </p:spPr>
      </p:sp>
      <p:sp>
        <p:nvSpPr>
          <p:cNvPr id="12" name="Text 10"/>
          <p:cNvSpPr/>
          <p:nvPr/>
        </p:nvSpPr>
        <p:spPr>
          <a:xfrm>
            <a:off x="1143000" y="4379976"/>
            <a:ext cx="5669280" cy="777240"/>
          </a:xfrm>
          <a:prstGeom prst="rect">
            <a:avLst/>
          </a:prstGeom>
          <a:noFill/>
          <a:ln/>
        </p:spPr>
        <p:txBody>
          <a:bodyPr wrap="square" rtlCol="0" anchor="t"/>
          <a:lstStyle/>
          <a:p>
            <a:pPr marL="0" indent="0">
              <a:lnSpc>
                <a:spcPct val="108000"/>
              </a:lnSpc>
              <a:buNone/>
            </a:pPr>
            <a:r>
              <a:rPr lang="en-US" sz="1300" dirty="0">
                <a:solidFill>
                  <a:srgbClr val="20261F"/>
                </a:solidFill>
                <a:latin typeface="Calibri" pitchFamily="34" charset="0"/>
                <a:ea typeface="Calibri" pitchFamily="34" charset="-122"/>
                <a:cs typeface="Calibri" pitchFamily="34" charset="-120"/>
              </a:rPr>
              <a:t>By the time damage is visible, it is usually already irreversible.</a:t>
            </a:r>
            <a:endParaRPr lang="en-US" sz="1300" dirty="0"/>
          </a:p>
        </p:txBody>
      </p:sp>
      <p:sp>
        <p:nvSpPr>
          <p:cNvPr id="13" name="Shape 11"/>
          <p:cNvSpPr/>
          <p:nvPr/>
        </p:nvSpPr>
        <p:spPr>
          <a:xfrm>
            <a:off x="914400" y="5431536"/>
            <a:ext cx="100584" cy="100584"/>
          </a:xfrm>
          <a:prstGeom prst="ellipse">
            <a:avLst/>
          </a:prstGeom>
          <a:solidFill>
            <a:srgbClr val="C1440E"/>
          </a:solidFill>
          <a:ln/>
        </p:spPr>
      </p:sp>
      <p:sp>
        <p:nvSpPr>
          <p:cNvPr id="14" name="Text 12"/>
          <p:cNvSpPr/>
          <p:nvPr/>
        </p:nvSpPr>
        <p:spPr>
          <a:xfrm>
            <a:off x="1143000" y="5276088"/>
            <a:ext cx="5669280" cy="777240"/>
          </a:xfrm>
          <a:prstGeom prst="rect">
            <a:avLst/>
          </a:prstGeom>
          <a:noFill/>
          <a:ln/>
        </p:spPr>
        <p:txBody>
          <a:bodyPr wrap="square" rtlCol="0" anchor="t"/>
          <a:lstStyle/>
          <a:p>
            <a:pPr marL="0" indent="0">
              <a:lnSpc>
                <a:spcPct val="108000"/>
              </a:lnSpc>
              <a:buNone/>
            </a:pPr>
            <a:r>
              <a:rPr lang="en-US" sz="1300" dirty="0">
                <a:solidFill>
                  <a:srgbClr val="20261F"/>
                </a:solidFill>
                <a:latin typeface="Calibri" pitchFamily="34" charset="0"/>
                <a:ea typeface="Calibri" pitchFamily="34" charset="-122"/>
                <a:cs typeface="Calibri" pitchFamily="34" charset="-120"/>
              </a:rPr>
              <a:t>Traditional detection (manual inspection + pheromone trapping) is labour-intensive, does not scale, and misses the early stage when treatment is most effective.</a:t>
            </a:r>
            <a:endParaRPr lang="en-US" sz="1300" dirty="0"/>
          </a:p>
        </p:txBody>
      </p:sp>
      <p:sp>
        <p:nvSpPr>
          <p:cNvPr id="15" name="Shape 13"/>
          <p:cNvSpPr/>
          <p:nvPr/>
        </p:nvSpPr>
        <p:spPr>
          <a:xfrm>
            <a:off x="7315200" y="1508760"/>
            <a:ext cx="4251960" cy="2286000"/>
          </a:xfrm>
          <a:prstGeom prst="roundRect">
            <a:avLst>
              <a:gd name="adj" fmla="val 3200"/>
            </a:avLst>
          </a:prstGeom>
          <a:solidFill>
            <a:srgbClr val="1F4D36"/>
          </a:solidFill>
          <a:ln/>
        </p:spPr>
      </p:sp>
      <p:sp>
        <p:nvSpPr>
          <p:cNvPr id="16" name="Shape 14"/>
          <p:cNvSpPr/>
          <p:nvPr/>
        </p:nvSpPr>
        <p:spPr>
          <a:xfrm>
            <a:off x="7635240" y="1737360"/>
            <a:ext cx="640080" cy="640080"/>
          </a:xfrm>
          <a:prstGeom prst="ellipse">
            <a:avLst/>
          </a:prstGeom>
          <a:solidFill>
            <a:srgbClr val="C1440E"/>
          </a:solidFill>
          <a:ln/>
        </p:spPr>
      </p:sp>
      <p:pic>
        <p:nvPicPr>
          <p:cNvPr id="17" name="Image 0" descr="icons/bullseye_white.png"/>
          <p:cNvPicPr>
            <a:picLocks noChangeAspect="1"/>
          </p:cNvPicPr>
          <p:nvPr/>
        </p:nvPicPr>
        <p:blipFill>
          <a:blip r:embed="rId3"/>
          <a:stretch>
            <a:fillRect/>
          </a:stretch>
        </p:blipFill>
        <p:spPr>
          <a:xfrm>
            <a:off x="7788859" y="1890979"/>
            <a:ext cx="332842" cy="332842"/>
          </a:xfrm>
          <a:prstGeom prst="rect">
            <a:avLst/>
          </a:prstGeom>
        </p:spPr>
      </p:pic>
      <p:sp>
        <p:nvSpPr>
          <p:cNvPr id="18" name="Text 15"/>
          <p:cNvSpPr/>
          <p:nvPr/>
        </p:nvSpPr>
        <p:spPr>
          <a:xfrm>
            <a:off x="8412480" y="1783080"/>
            <a:ext cx="301752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Motivation</a:t>
            </a:r>
            <a:endParaRPr lang="en-US" sz="1600" dirty="0"/>
          </a:p>
        </p:txBody>
      </p:sp>
      <p:sp>
        <p:nvSpPr>
          <p:cNvPr id="19" name="Text 16"/>
          <p:cNvSpPr/>
          <p:nvPr/>
        </p:nvSpPr>
        <p:spPr>
          <a:xfrm>
            <a:off x="7589520" y="2423160"/>
            <a:ext cx="3703320" cy="1280160"/>
          </a:xfrm>
          <a:prstGeom prst="rect">
            <a:avLst/>
          </a:prstGeom>
          <a:noFill/>
          <a:ln/>
        </p:spPr>
        <p:txBody>
          <a:bodyPr wrap="square" rtlCol="0" anchor="ctr"/>
          <a:lstStyle/>
          <a:p>
            <a:pPr marL="0" indent="0">
              <a:lnSpc>
                <a:spcPct val="115000"/>
              </a:lnSpc>
              <a:buNone/>
            </a:pPr>
            <a:r>
              <a:rPr lang="en-US" sz="1200" dirty="0">
                <a:solidFill>
                  <a:srgbClr val="E4EBE0"/>
                </a:solidFill>
                <a:latin typeface="Calibri" pitchFamily="34" charset="0"/>
                <a:ea typeface="Calibri" pitchFamily="34" charset="-122"/>
                <a:cs typeface="Calibri" pitchFamily="34" charset="-120"/>
              </a:rPr>
              <a:t>Growing research applies AI, sensing hardware, and automated audio/image analysis to catch RPW infestation early, non-invasively, at scale, before internal damage becomes irreversible.</a:t>
            </a:r>
            <a:endParaRPr lang="en-US" sz="1200" dirty="0"/>
          </a:p>
        </p:txBody>
      </p:sp>
      <p:sp>
        <p:nvSpPr>
          <p:cNvPr id="20" name="Shape 17"/>
          <p:cNvSpPr/>
          <p:nvPr/>
        </p:nvSpPr>
        <p:spPr>
          <a:xfrm>
            <a:off x="7315200" y="3977640"/>
            <a:ext cx="4251960" cy="2423160"/>
          </a:xfrm>
          <a:prstGeom prst="roundRect">
            <a:avLst>
              <a:gd name="adj" fmla="val 3019"/>
            </a:avLst>
          </a:prstGeom>
          <a:solidFill>
            <a:srgbClr val="EDF1E7"/>
          </a:solidFill>
          <a:ln w="12700">
            <a:solidFill>
              <a:srgbClr val="D6E0CE"/>
            </a:solidFill>
            <a:prstDash val="solid"/>
          </a:ln>
        </p:spPr>
      </p:sp>
      <p:sp>
        <p:nvSpPr>
          <p:cNvPr id="21" name="Shape 18"/>
          <p:cNvSpPr/>
          <p:nvPr/>
        </p:nvSpPr>
        <p:spPr>
          <a:xfrm>
            <a:off x="7635240" y="4206240"/>
            <a:ext cx="640080" cy="640080"/>
          </a:xfrm>
          <a:prstGeom prst="ellipse">
            <a:avLst/>
          </a:prstGeom>
          <a:solidFill>
            <a:srgbClr val="C1440E"/>
          </a:solidFill>
          <a:ln/>
        </p:spPr>
      </p:sp>
      <p:pic>
        <p:nvPicPr>
          <p:cNvPr id="22" name="Image 1" descr="icons/bug_white.png"/>
          <p:cNvPicPr>
            <a:picLocks noChangeAspect="1"/>
          </p:cNvPicPr>
          <p:nvPr/>
        </p:nvPicPr>
        <p:blipFill>
          <a:blip r:embed="rId4"/>
          <a:stretch>
            <a:fillRect/>
          </a:stretch>
        </p:blipFill>
        <p:spPr>
          <a:xfrm>
            <a:off x="7788859" y="4359859"/>
            <a:ext cx="332842" cy="332842"/>
          </a:xfrm>
          <a:prstGeom prst="rect">
            <a:avLst/>
          </a:prstGeom>
        </p:spPr>
      </p:pic>
      <p:sp>
        <p:nvSpPr>
          <p:cNvPr id="23" name="Text 19"/>
          <p:cNvSpPr/>
          <p:nvPr/>
        </p:nvSpPr>
        <p:spPr>
          <a:xfrm>
            <a:off x="8412480" y="4251960"/>
            <a:ext cx="3017520" cy="365760"/>
          </a:xfrm>
          <a:prstGeom prst="rect">
            <a:avLst/>
          </a:prstGeom>
          <a:noFill/>
          <a:ln/>
        </p:spPr>
        <p:txBody>
          <a:bodyPr wrap="square" rtlCol="0" anchor="ctr"/>
          <a:lstStyle/>
          <a:p>
            <a:pPr marL="0" indent="0">
              <a:buNone/>
            </a:pPr>
            <a:r>
              <a:rPr lang="en-US" sz="1600" b="1" dirty="0">
                <a:solidFill>
                  <a:srgbClr val="1F4D36"/>
                </a:solidFill>
                <a:latin typeface="Cambria" pitchFamily="34" charset="0"/>
                <a:ea typeface="Cambria" pitchFamily="34" charset="-122"/>
                <a:cs typeface="Cambria" pitchFamily="34" charset="-120"/>
              </a:rPr>
              <a:t>The Core Challenge</a:t>
            </a:r>
            <a:endParaRPr lang="en-US" sz="1600" dirty="0"/>
          </a:p>
        </p:txBody>
      </p:sp>
      <p:sp>
        <p:nvSpPr>
          <p:cNvPr id="24" name="Text 20"/>
          <p:cNvSpPr/>
          <p:nvPr/>
        </p:nvSpPr>
        <p:spPr>
          <a:xfrm>
            <a:off x="7589520" y="4892040"/>
            <a:ext cx="3703320" cy="1417320"/>
          </a:xfrm>
          <a:prstGeom prst="rect">
            <a:avLst/>
          </a:prstGeom>
          <a:noFill/>
          <a:ln/>
        </p:spPr>
        <p:txBody>
          <a:bodyPr wrap="square" rtlCol="0" anchor="ctr"/>
          <a:lstStyle/>
          <a:p>
            <a:pPr marL="0" indent="0">
              <a:lnSpc>
                <a:spcPct val="115000"/>
              </a:lnSpc>
              <a:buNone/>
            </a:pPr>
            <a:r>
              <a:rPr lang="en-US" sz="1200" dirty="0">
                <a:solidFill>
                  <a:srgbClr val="20261F"/>
                </a:solidFill>
                <a:latin typeface="Calibri" pitchFamily="34" charset="0"/>
                <a:ea typeface="Calibri" pitchFamily="34" charset="-122"/>
                <a:cs typeface="Calibri" pitchFamily="34" charset="-120"/>
              </a:rPr>
              <a:t>RPW is a concealed, endophytic feeder adult females oviposit in soft tissue, and hatched larvae tunnel inside the trunk, causing progressive structural weakening invisible from outside.</a:t>
            </a:r>
            <a:endParaRPr lang="en-US" sz="1200" dirty="0"/>
          </a:p>
        </p:txBody>
      </p:sp>
      <p:sp>
        <p:nvSpPr>
          <p:cNvPr id="25" name="Text 21"/>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26" name="Text 22"/>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F4D36"/>
          </a:solidFill>
          <a:ln/>
        </p:spPr>
      </p:sp>
      <p:sp>
        <p:nvSpPr>
          <p:cNvPr id="3" name="Text 1"/>
          <p:cNvSpPr/>
          <p:nvPr/>
        </p:nvSpPr>
        <p:spPr>
          <a:xfrm>
            <a:off x="822960" y="640080"/>
            <a:ext cx="7315200" cy="320040"/>
          </a:xfrm>
          <a:prstGeom prst="rect">
            <a:avLst/>
          </a:prstGeom>
          <a:noFill/>
          <a:ln/>
        </p:spPr>
        <p:txBody>
          <a:bodyPr wrap="square" rtlCol="0" anchor="ctr"/>
          <a:lstStyle/>
          <a:p>
            <a:pPr marL="0" indent="0" algn="l">
              <a:buNone/>
            </a:pPr>
            <a:r>
              <a:rPr lang="en-US" sz="1200" b="1" kern="0" spc="200" dirty="0">
                <a:solidFill>
                  <a:srgbClr val="9FD6A8"/>
                </a:solidFill>
                <a:latin typeface="Calibri" pitchFamily="34" charset="0"/>
                <a:ea typeface="Calibri" pitchFamily="34" charset="-122"/>
                <a:cs typeface="Calibri" pitchFamily="34" charset="-120"/>
              </a:rPr>
              <a:t>THE PROBLEM</a:t>
            </a:r>
            <a:endParaRPr lang="en-US" sz="1200" dirty="0"/>
          </a:p>
        </p:txBody>
      </p:sp>
      <p:sp>
        <p:nvSpPr>
          <p:cNvPr id="4" name="Text 2"/>
          <p:cNvSpPr/>
          <p:nvPr/>
        </p:nvSpPr>
        <p:spPr>
          <a:xfrm>
            <a:off x="822960" y="960120"/>
            <a:ext cx="91440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5" name="Shape 3"/>
          <p:cNvSpPr/>
          <p:nvPr/>
        </p:nvSpPr>
        <p:spPr>
          <a:xfrm>
            <a:off x="822960" y="1783080"/>
            <a:ext cx="10515600" cy="1691640"/>
          </a:xfrm>
          <a:prstGeom prst="roundRect">
            <a:avLst>
              <a:gd name="adj" fmla="val 5405"/>
            </a:avLst>
          </a:prstGeom>
          <a:solidFill>
            <a:srgbClr val="1F4D36"/>
          </a:solidFill>
          <a:ln w="25400">
            <a:solidFill>
              <a:srgbClr val="C1440E"/>
            </a:solidFill>
            <a:prstDash val="solid"/>
          </a:ln>
        </p:spPr>
      </p:sp>
      <p:sp>
        <p:nvSpPr>
          <p:cNvPr id="6" name="Text 4"/>
          <p:cNvSpPr/>
          <p:nvPr/>
        </p:nvSpPr>
        <p:spPr>
          <a:xfrm>
            <a:off x="1188720" y="1920240"/>
            <a:ext cx="9784080" cy="1417320"/>
          </a:xfrm>
          <a:prstGeom prst="rect">
            <a:avLst/>
          </a:prstGeom>
          <a:noFill/>
          <a:ln/>
        </p:spPr>
        <p:txBody>
          <a:bodyPr wrap="square" rtlCol="0" anchor="ctr"/>
          <a:lstStyle/>
          <a:p>
            <a:pPr marL="0" indent="0" algn="l">
              <a:lnSpc>
                <a:spcPct val="120000"/>
              </a:lnSpc>
              <a:buNone/>
            </a:pPr>
            <a:r>
              <a:rPr lang="en-US" sz="1700" i="1" dirty="0">
                <a:solidFill>
                  <a:srgbClr val="FFFFFF"/>
                </a:solidFill>
                <a:latin typeface="Cambria" pitchFamily="34" charset="0"/>
                <a:ea typeface="Cambria" pitchFamily="34" charset="-122"/>
                <a:cs typeface="Cambria" pitchFamily="34" charset="-120"/>
              </a:rPr>
              <a:t>“To identify Red Palm Weevil (RPW) infestation and assess its severity under real-world field conditions using Artificial Intelligence detecting infestation at an early stage and supporting timely, informed pest-management decisions.”</a:t>
            </a:r>
            <a:endParaRPr lang="en-US" sz="1700" dirty="0"/>
          </a:p>
        </p:txBody>
      </p:sp>
      <p:sp>
        <p:nvSpPr>
          <p:cNvPr id="7" name="Shape 5"/>
          <p:cNvSpPr/>
          <p:nvPr/>
        </p:nvSpPr>
        <p:spPr>
          <a:xfrm>
            <a:off x="822960" y="3794760"/>
            <a:ext cx="2487168" cy="2331720"/>
          </a:xfrm>
          <a:prstGeom prst="roundRect">
            <a:avLst>
              <a:gd name="adj" fmla="val 3137"/>
            </a:avLst>
          </a:prstGeom>
          <a:solidFill>
            <a:srgbClr val="17372A"/>
          </a:solidFill>
          <a:ln w="12700">
            <a:solidFill>
              <a:srgbClr val="2E5A42"/>
            </a:solidFill>
            <a:prstDash val="solid"/>
          </a:ln>
        </p:spPr>
      </p:sp>
      <p:sp>
        <p:nvSpPr>
          <p:cNvPr id="8" name="Shape 6"/>
          <p:cNvSpPr/>
          <p:nvPr/>
        </p:nvSpPr>
        <p:spPr>
          <a:xfrm>
            <a:off x="1737360" y="4032504"/>
            <a:ext cx="658368" cy="658368"/>
          </a:xfrm>
          <a:prstGeom prst="ellipse">
            <a:avLst/>
          </a:prstGeom>
          <a:solidFill>
            <a:srgbClr val="C1440E"/>
          </a:solidFill>
          <a:ln/>
        </p:spPr>
      </p:sp>
      <p:pic>
        <p:nvPicPr>
          <p:cNvPr id="9" name="Image 0" descr="icons/map_white.png"/>
          <p:cNvPicPr>
            <a:picLocks noChangeAspect="1"/>
          </p:cNvPicPr>
          <p:nvPr/>
        </p:nvPicPr>
        <p:blipFill>
          <a:blip r:embed="rId3"/>
          <a:stretch>
            <a:fillRect/>
          </a:stretch>
        </p:blipFill>
        <p:spPr>
          <a:xfrm>
            <a:off x="1895368" y="4190512"/>
            <a:ext cx="342351" cy="342351"/>
          </a:xfrm>
          <a:prstGeom prst="rect">
            <a:avLst/>
          </a:prstGeom>
        </p:spPr>
      </p:pic>
      <p:sp>
        <p:nvSpPr>
          <p:cNvPr id="10" name="Text 7"/>
          <p:cNvSpPr/>
          <p:nvPr/>
        </p:nvSpPr>
        <p:spPr>
          <a:xfrm>
            <a:off x="960120" y="4846320"/>
            <a:ext cx="2212848" cy="64008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Real-world field conditions</a:t>
            </a:r>
            <a:endParaRPr lang="en-US" sz="1300" dirty="0"/>
          </a:p>
        </p:txBody>
      </p:sp>
      <p:sp>
        <p:nvSpPr>
          <p:cNvPr id="11" name="Text 8"/>
          <p:cNvSpPr/>
          <p:nvPr/>
        </p:nvSpPr>
        <p:spPr>
          <a:xfrm>
            <a:off x="960120" y="5440680"/>
            <a:ext cx="2212848" cy="594360"/>
          </a:xfrm>
          <a:prstGeom prst="rect">
            <a:avLst/>
          </a:prstGeom>
          <a:noFill/>
          <a:ln/>
        </p:spPr>
        <p:txBody>
          <a:bodyPr wrap="square" rtlCol="0" anchor="t"/>
          <a:lstStyle/>
          <a:p>
            <a:pPr marL="0" indent="0" algn="ctr">
              <a:buNone/>
            </a:pPr>
            <a:r>
              <a:rPr lang="en-US" sz="1050" dirty="0">
                <a:solidFill>
                  <a:srgbClr val="C9D6BE"/>
                </a:solidFill>
                <a:latin typeface="Calibri" pitchFamily="34" charset="0"/>
                <a:ea typeface="Calibri" pitchFamily="34" charset="-122"/>
                <a:cs typeface="Calibri" pitchFamily="34" charset="-120"/>
              </a:rPr>
              <a:t>Not just controlled lab settings</a:t>
            </a:r>
            <a:endParaRPr lang="en-US" sz="1050" dirty="0"/>
          </a:p>
        </p:txBody>
      </p:sp>
      <p:sp>
        <p:nvSpPr>
          <p:cNvPr id="12" name="Shape 9"/>
          <p:cNvSpPr/>
          <p:nvPr/>
        </p:nvSpPr>
        <p:spPr>
          <a:xfrm>
            <a:off x="3438144" y="3794760"/>
            <a:ext cx="2487168" cy="2331720"/>
          </a:xfrm>
          <a:prstGeom prst="roundRect">
            <a:avLst>
              <a:gd name="adj" fmla="val 3137"/>
            </a:avLst>
          </a:prstGeom>
          <a:solidFill>
            <a:srgbClr val="17372A"/>
          </a:solidFill>
          <a:ln w="12700">
            <a:solidFill>
              <a:srgbClr val="2E5A42"/>
            </a:solidFill>
            <a:prstDash val="solid"/>
          </a:ln>
        </p:spPr>
      </p:sp>
      <p:sp>
        <p:nvSpPr>
          <p:cNvPr id="13" name="Shape 10"/>
          <p:cNvSpPr/>
          <p:nvPr/>
        </p:nvSpPr>
        <p:spPr>
          <a:xfrm>
            <a:off x="4352544" y="4032504"/>
            <a:ext cx="658368" cy="658368"/>
          </a:xfrm>
          <a:prstGeom prst="ellipse">
            <a:avLst/>
          </a:prstGeom>
          <a:solidFill>
            <a:srgbClr val="C1440E"/>
          </a:solidFill>
          <a:ln/>
        </p:spPr>
      </p:sp>
      <p:pic>
        <p:nvPicPr>
          <p:cNvPr id="14" name="Image 1" descr="icons/bullseye_white.png"/>
          <p:cNvPicPr>
            <a:picLocks noChangeAspect="1"/>
          </p:cNvPicPr>
          <p:nvPr/>
        </p:nvPicPr>
        <p:blipFill>
          <a:blip r:embed="rId4"/>
          <a:stretch>
            <a:fillRect/>
          </a:stretch>
        </p:blipFill>
        <p:spPr>
          <a:xfrm>
            <a:off x="4510552" y="4190512"/>
            <a:ext cx="342351" cy="342351"/>
          </a:xfrm>
          <a:prstGeom prst="rect">
            <a:avLst/>
          </a:prstGeom>
        </p:spPr>
      </p:pic>
      <p:sp>
        <p:nvSpPr>
          <p:cNvPr id="15" name="Text 11"/>
          <p:cNvSpPr/>
          <p:nvPr/>
        </p:nvSpPr>
        <p:spPr>
          <a:xfrm>
            <a:off x="3575304" y="4846320"/>
            <a:ext cx="2212848" cy="64008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Early-stage detection</a:t>
            </a:r>
            <a:endParaRPr lang="en-US" sz="1300" dirty="0"/>
          </a:p>
        </p:txBody>
      </p:sp>
      <p:sp>
        <p:nvSpPr>
          <p:cNvPr id="16" name="Text 12"/>
          <p:cNvSpPr/>
          <p:nvPr/>
        </p:nvSpPr>
        <p:spPr>
          <a:xfrm>
            <a:off x="3575304" y="5440680"/>
            <a:ext cx="2212848" cy="594360"/>
          </a:xfrm>
          <a:prstGeom prst="rect">
            <a:avLst/>
          </a:prstGeom>
          <a:noFill/>
          <a:ln/>
        </p:spPr>
        <p:txBody>
          <a:bodyPr wrap="square" rtlCol="0" anchor="t"/>
          <a:lstStyle/>
          <a:p>
            <a:pPr marL="0" indent="0" algn="ctr">
              <a:buNone/>
            </a:pPr>
            <a:r>
              <a:rPr lang="en-US" sz="1050" dirty="0">
                <a:solidFill>
                  <a:srgbClr val="C9D6BE"/>
                </a:solidFill>
                <a:latin typeface="Calibri" pitchFamily="34" charset="0"/>
                <a:ea typeface="Calibri" pitchFamily="34" charset="-122"/>
                <a:cs typeface="Calibri" pitchFamily="34" charset="-120"/>
              </a:rPr>
              <a:t>Before internal damage becomes irreversible</a:t>
            </a:r>
            <a:endParaRPr lang="en-US" sz="1050" dirty="0"/>
          </a:p>
        </p:txBody>
      </p:sp>
      <p:sp>
        <p:nvSpPr>
          <p:cNvPr id="17" name="Shape 13"/>
          <p:cNvSpPr/>
          <p:nvPr/>
        </p:nvSpPr>
        <p:spPr>
          <a:xfrm>
            <a:off x="6053328" y="3794760"/>
            <a:ext cx="2487168" cy="2331720"/>
          </a:xfrm>
          <a:prstGeom prst="roundRect">
            <a:avLst>
              <a:gd name="adj" fmla="val 3137"/>
            </a:avLst>
          </a:prstGeom>
          <a:solidFill>
            <a:srgbClr val="17372A"/>
          </a:solidFill>
          <a:ln w="12700">
            <a:solidFill>
              <a:srgbClr val="2E5A42"/>
            </a:solidFill>
            <a:prstDash val="solid"/>
          </a:ln>
        </p:spPr>
      </p:sp>
      <p:sp>
        <p:nvSpPr>
          <p:cNvPr id="18" name="Shape 14"/>
          <p:cNvSpPr/>
          <p:nvPr/>
        </p:nvSpPr>
        <p:spPr>
          <a:xfrm>
            <a:off x="6967728" y="4032504"/>
            <a:ext cx="658368" cy="658368"/>
          </a:xfrm>
          <a:prstGeom prst="ellipse">
            <a:avLst/>
          </a:prstGeom>
          <a:solidFill>
            <a:srgbClr val="C1440E"/>
          </a:solidFill>
          <a:ln/>
        </p:spPr>
      </p:sp>
      <p:pic>
        <p:nvPicPr>
          <p:cNvPr id="19" name="Image 2" descr="icons/chart_white.png"/>
          <p:cNvPicPr>
            <a:picLocks noChangeAspect="1"/>
          </p:cNvPicPr>
          <p:nvPr/>
        </p:nvPicPr>
        <p:blipFill>
          <a:blip r:embed="rId5"/>
          <a:stretch>
            <a:fillRect/>
          </a:stretch>
        </p:blipFill>
        <p:spPr>
          <a:xfrm>
            <a:off x="7125736" y="4190512"/>
            <a:ext cx="342351" cy="342351"/>
          </a:xfrm>
          <a:prstGeom prst="rect">
            <a:avLst/>
          </a:prstGeom>
        </p:spPr>
      </p:pic>
      <p:sp>
        <p:nvSpPr>
          <p:cNvPr id="20" name="Text 15"/>
          <p:cNvSpPr/>
          <p:nvPr/>
        </p:nvSpPr>
        <p:spPr>
          <a:xfrm>
            <a:off x="6190488" y="4846320"/>
            <a:ext cx="2212848" cy="64008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Severity assessment</a:t>
            </a:r>
            <a:endParaRPr lang="en-US" sz="1300" dirty="0"/>
          </a:p>
        </p:txBody>
      </p:sp>
      <p:sp>
        <p:nvSpPr>
          <p:cNvPr id="21" name="Text 16"/>
          <p:cNvSpPr/>
          <p:nvPr/>
        </p:nvSpPr>
        <p:spPr>
          <a:xfrm>
            <a:off x="6190488" y="5440680"/>
            <a:ext cx="2212848" cy="594360"/>
          </a:xfrm>
          <a:prstGeom prst="rect">
            <a:avLst/>
          </a:prstGeom>
          <a:noFill/>
          <a:ln/>
        </p:spPr>
        <p:txBody>
          <a:bodyPr wrap="square" rtlCol="0" anchor="t"/>
          <a:lstStyle/>
          <a:p>
            <a:pPr marL="0" indent="0" algn="ctr">
              <a:buNone/>
            </a:pPr>
            <a:r>
              <a:rPr lang="en-US" sz="1050" dirty="0">
                <a:solidFill>
                  <a:srgbClr val="C9D6BE"/>
                </a:solidFill>
                <a:latin typeface="Calibri" pitchFamily="34" charset="0"/>
                <a:ea typeface="Calibri" pitchFamily="34" charset="-122"/>
                <a:cs typeface="Calibri" pitchFamily="34" charset="-120"/>
              </a:rPr>
              <a:t>Not just presence/absence</a:t>
            </a:r>
            <a:endParaRPr lang="en-US" sz="1050" dirty="0"/>
          </a:p>
        </p:txBody>
      </p:sp>
      <p:sp>
        <p:nvSpPr>
          <p:cNvPr id="22" name="Shape 17"/>
          <p:cNvSpPr/>
          <p:nvPr/>
        </p:nvSpPr>
        <p:spPr>
          <a:xfrm>
            <a:off x="8668512" y="3794760"/>
            <a:ext cx="2487168" cy="2331720"/>
          </a:xfrm>
          <a:prstGeom prst="roundRect">
            <a:avLst>
              <a:gd name="adj" fmla="val 3137"/>
            </a:avLst>
          </a:prstGeom>
          <a:solidFill>
            <a:srgbClr val="17372A"/>
          </a:solidFill>
          <a:ln w="12700">
            <a:solidFill>
              <a:srgbClr val="2E5A42"/>
            </a:solidFill>
            <a:prstDash val="solid"/>
          </a:ln>
        </p:spPr>
      </p:sp>
      <p:sp>
        <p:nvSpPr>
          <p:cNvPr id="23" name="Shape 18"/>
          <p:cNvSpPr/>
          <p:nvPr/>
        </p:nvSpPr>
        <p:spPr>
          <a:xfrm>
            <a:off x="9582912" y="4032504"/>
            <a:ext cx="658368" cy="658368"/>
          </a:xfrm>
          <a:prstGeom prst="ellipse">
            <a:avLst/>
          </a:prstGeom>
          <a:solidFill>
            <a:srgbClr val="C1440E"/>
          </a:solidFill>
          <a:ln/>
        </p:spPr>
      </p:sp>
      <p:pic>
        <p:nvPicPr>
          <p:cNvPr id="24" name="Image 3" descr="icons/bell_white.png"/>
          <p:cNvPicPr>
            <a:picLocks noChangeAspect="1"/>
          </p:cNvPicPr>
          <p:nvPr/>
        </p:nvPicPr>
        <p:blipFill>
          <a:blip r:embed="rId6"/>
          <a:stretch>
            <a:fillRect/>
          </a:stretch>
        </p:blipFill>
        <p:spPr>
          <a:xfrm>
            <a:off x="9740920" y="4190512"/>
            <a:ext cx="342351" cy="342351"/>
          </a:xfrm>
          <a:prstGeom prst="rect">
            <a:avLst/>
          </a:prstGeom>
        </p:spPr>
      </p:pic>
      <p:sp>
        <p:nvSpPr>
          <p:cNvPr id="25" name="Text 19"/>
          <p:cNvSpPr/>
          <p:nvPr/>
        </p:nvSpPr>
        <p:spPr>
          <a:xfrm>
            <a:off x="8805672" y="4846320"/>
            <a:ext cx="2212848" cy="64008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Actionable decisions</a:t>
            </a:r>
            <a:endParaRPr lang="en-US" sz="1300" dirty="0"/>
          </a:p>
        </p:txBody>
      </p:sp>
      <p:sp>
        <p:nvSpPr>
          <p:cNvPr id="26" name="Text 20"/>
          <p:cNvSpPr/>
          <p:nvPr/>
        </p:nvSpPr>
        <p:spPr>
          <a:xfrm>
            <a:off x="8805672" y="5440680"/>
            <a:ext cx="2212848" cy="594360"/>
          </a:xfrm>
          <a:prstGeom prst="rect">
            <a:avLst/>
          </a:prstGeom>
          <a:noFill/>
          <a:ln/>
        </p:spPr>
        <p:txBody>
          <a:bodyPr wrap="square" rtlCol="0" anchor="t"/>
          <a:lstStyle/>
          <a:p>
            <a:pPr marL="0" indent="0" algn="ctr">
              <a:buNone/>
            </a:pPr>
            <a:r>
              <a:rPr lang="en-US" sz="1050" dirty="0">
                <a:solidFill>
                  <a:srgbClr val="C9D6BE"/>
                </a:solidFill>
                <a:latin typeface="Calibri" pitchFamily="34" charset="0"/>
                <a:ea typeface="Calibri" pitchFamily="34" charset="-122"/>
                <a:cs typeface="Calibri" pitchFamily="34" charset="-120"/>
              </a:rPr>
              <a:t>Timely alerts farmers can act on</a:t>
            </a:r>
            <a:endParaRPr lang="en-US" sz="1050" dirty="0"/>
          </a:p>
        </p:txBody>
      </p:sp>
      <p:sp>
        <p:nvSpPr>
          <p:cNvPr id="27" name="Text 21"/>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28" name="Text 22"/>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LITERATURE REVIEW</a:t>
            </a:r>
            <a:endParaRPr lang="en-US" sz="1200" dirty="0"/>
          </a:p>
        </p:txBody>
      </p:sp>
      <p:sp>
        <p:nvSpPr>
          <p:cNvPr id="5" name="Shape 3"/>
          <p:cNvSpPr/>
          <p:nvPr/>
        </p:nvSpPr>
        <p:spPr>
          <a:xfrm>
            <a:off x="640080" y="1417320"/>
            <a:ext cx="3502152" cy="4480560"/>
          </a:xfrm>
          <a:prstGeom prst="roundRect">
            <a:avLst>
              <a:gd name="adj" fmla="val 2350"/>
            </a:avLst>
          </a:prstGeom>
          <a:solidFill>
            <a:srgbClr val="F7F8F4"/>
          </a:solidFill>
          <a:ln w="12700">
            <a:solidFill>
              <a:srgbClr val="E1E6DA"/>
            </a:solidFill>
            <a:prstDash val="solid"/>
          </a:ln>
        </p:spPr>
      </p:sp>
      <p:sp>
        <p:nvSpPr>
          <p:cNvPr id="6" name="Shape 4"/>
          <p:cNvSpPr/>
          <p:nvPr/>
        </p:nvSpPr>
        <p:spPr>
          <a:xfrm>
            <a:off x="640080" y="1417320"/>
            <a:ext cx="3502152" cy="109728"/>
          </a:xfrm>
          <a:prstGeom prst="roundRect">
            <a:avLst/>
          </a:prstGeom>
          <a:solidFill>
            <a:srgbClr val="1F4D36"/>
          </a:solidFill>
          <a:ln/>
        </p:spPr>
      </p:sp>
      <p:sp>
        <p:nvSpPr>
          <p:cNvPr id="9" name="Text 6"/>
          <p:cNvSpPr/>
          <p:nvPr/>
        </p:nvSpPr>
        <p:spPr>
          <a:xfrm>
            <a:off x="777240" y="2908725"/>
            <a:ext cx="3227832" cy="320040"/>
          </a:xfrm>
          <a:prstGeom prst="rect">
            <a:avLst/>
          </a:prstGeom>
          <a:noFill/>
          <a:ln/>
        </p:spPr>
        <p:txBody>
          <a:bodyPr wrap="square" rtlCol="0" anchor="ctr"/>
          <a:lstStyle/>
          <a:p>
            <a:pPr marL="0" indent="0" algn="ctr">
              <a:buNone/>
            </a:pPr>
            <a:r>
              <a:rPr lang="en-US" sz="1600" b="1" dirty="0">
                <a:solidFill>
                  <a:srgbClr val="20261F"/>
                </a:solidFill>
                <a:latin typeface="Cambria" pitchFamily="34" charset="0"/>
                <a:ea typeface="Cambria" pitchFamily="34" charset="-122"/>
                <a:cs typeface="Cambria" pitchFamily="34" charset="-120"/>
              </a:rPr>
              <a:t>Vikram</a:t>
            </a:r>
            <a:endParaRPr lang="en-US" sz="1600" dirty="0"/>
          </a:p>
        </p:txBody>
      </p:sp>
      <p:sp>
        <p:nvSpPr>
          <p:cNvPr id="10" name="Text 7"/>
          <p:cNvSpPr/>
          <p:nvPr/>
        </p:nvSpPr>
        <p:spPr>
          <a:xfrm>
            <a:off x="777240" y="3219621"/>
            <a:ext cx="3227832" cy="274320"/>
          </a:xfrm>
          <a:prstGeom prst="rect">
            <a:avLst/>
          </a:prstGeom>
          <a:noFill/>
          <a:ln/>
        </p:spPr>
        <p:txBody>
          <a:bodyPr wrap="square" rtlCol="0" anchor="ctr"/>
          <a:lstStyle/>
          <a:p>
            <a:pPr marL="0" indent="0" algn="ctr">
              <a:buNone/>
            </a:pPr>
            <a:r>
              <a:rPr lang="en-US" sz="1000" dirty="0">
                <a:solidFill>
                  <a:srgbClr val="5B6B5B"/>
                </a:solidFill>
                <a:latin typeface="Calibri" pitchFamily="34" charset="0"/>
                <a:ea typeface="Calibri" pitchFamily="34" charset="-122"/>
                <a:cs typeface="Calibri" pitchFamily="34" charset="-120"/>
              </a:rPr>
              <a:t>CB.SC.P2CSE26031</a:t>
            </a:r>
            <a:endParaRPr lang="en-US" sz="1000" dirty="0"/>
          </a:p>
        </p:txBody>
      </p:sp>
      <p:sp>
        <p:nvSpPr>
          <p:cNvPr id="11" name="Text 8"/>
          <p:cNvSpPr/>
          <p:nvPr/>
        </p:nvSpPr>
        <p:spPr>
          <a:xfrm>
            <a:off x="822960" y="3567093"/>
            <a:ext cx="3136392" cy="548640"/>
          </a:xfrm>
          <a:prstGeom prst="rect">
            <a:avLst/>
          </a:prstGeom>
          <a:noFill/>
          <a:ln/>
        </p:spPr>
        <p:txBody>
          <a:bodyPr wrap="square" rtlCol="0" anchor="t"/>
          <a:lstStyle/>
          <a:p>
            <a:pPr marL="0" indent="0" algn="ctr">
              <a:buNone/>
            </a:pPr>
            <a:r>
              <a:rPr lang="en-US" sz="1150" b="1" dirty="0">
                <a:solidFill>
                  <a:srgbClr val="1F4D36"/>
                </a:solidFill>
                <a:latin typeface="Calibri" pitchFamily="34" charset="0"/>
                <a:ea typeface="Calibri" pitchFamily="34" charset="-122"/>
                <a:cs typeface="Calibri" pitchFamily="34" charset="-120"/>
              </a:rPr>
              <a:t>Problem Statement &amp; AI-Driven Applications</a:t>
            </a:r>
            <a:endParaRPr lang="en-US" sz="1150" dirty="0"/>
          </a:p>
        </p:txBody>
      </p:sp>
      <p:sp>
        <p:nvSpPr>
          <p:cNvPr id="12" name="Text 9"/>
          <p:cNvSpPr/>
          <p:nvPr/>
        </p:nvSpPr>
        <p:spPr>
          <a:xfrm>
            <a:off x="960120" y="38679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Soroker et al., 2010</a:t>
            </a:r>
            <a:endParaRPr lang="en-US" sz="1050" dirty="0"/>
          </a:p>
        </p:txBody>
      </p:sp>
      <p:sp>
        <p:nvSpPr>
          <p:cNvPr id="13" name="Text 10"/>
          <p:cNvSpPr/>
          <p:nvPr/>
        </p:nvSpPr>
        <p:spPr>
          <a:xfrm>
            <a:off x="960120" y="42108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Faleiro et al., 2012</a:t>
            </a:r>
            <a:endParaRPr lang="en-US" sz="1050" dirty="0"/>
          </a:p>
        </p:txBody>
      </p:sp>
      <p:sp>
        <p:nvSpPr>
          <p:cNvPr id="14" name="Text 11"/>
          <p:cNvSpPr/>
          <p:nvPr/>
        </p:nvSpPr>
        <p:spPr>
          <a:xfrm>
            <a:off x="960120" y="45537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Martin, Saranya &amp; Chowdary, 2026</a:t>
            </a:r>
            <a:endParaRPr lang="en-US" sz="1050" dirty="0"/>
          </a:p>
        </p:txBody>
      </p:sp>
      <p:sp>
        <p:nvSpPr>
          <p:cNvPr id="15" name="Text 12"/>
          <p:cNvSpPr/>
          <p:nvPr/>
        </p:nvSpPr>
        <p:spPr>
          <a:xfrm>
            <a:off x="960120" y="48966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Alsanea et al., 2022</a:t>
            </a:r>
            <a:endParaRPr lang="en-US" sz="1050" dirty="0"/>
          </a:p>
        </p:txBody>
      </p:sp>
      <p:sp>
        <p:nvSpPr>
          <p:cNvPr id="16" name="Text 13"/>
          <p:cNvSpPr/>
          <p:nvPr/>
        </p:nvSpPr>
        <p:spPr>
          <a:xfrm>
            <a:off x="960120" y="52395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Kagan et al., 2021</a:t>
            </a:r>
            <a:endParaRPr lang="en-US" sz="1050" dirty="0"/>
          </a:p>
        </p:txBody>
      </p:sp>
      <p:sp>
        <p:nvSpPr>
          <p:cNvPr id="17" name="Shape 14"/>
          <p:cNvSpPr/>
          <p:nvPr/>
        </p:nvSpPr>
        <p:spPr>
          <a:xfrm>
            <a:off x="4325112" y="1417320"/>
            <a:ext cx="3502152" cy="4480560"/>
          </a:xfrm>
          <a:prstGeom prst="roundRect">
            <a:avLst>
              <a:gd name="adj" fmla="val 2350"/>
            </a:avLst>
          </a:prstGeom>
          <a:solidFill>
            <a:srgbClr val="F7F8F4"/>
          </a:solidFill>
          <a:ln w="12700">
            <a:solidFill>
              <a:srgbClr val="E1E6DA"/>
            </a:solidFill>
            <a:prstDash val="solid"/>
          </a:ln>
        </p:spPr>
      </p:sp>
      <p:sp>
        <p:nvSpPr>
          <p:cNvPr id="18" name="Shape 15"/>
          <p:cNvSpPr/>
          <p:nvPr/>
        </p:nvSpPr>
        <p:spPr>
          <a:xfrm>
            <a:off x="4325112" y="1417320"/>
            <a:ext cx="3502152" cy="109728"/>
          </a:xfrm>
          <a:prstGeom prst="roundRect">
            <a:avLst/>
          </a:prstGeom>
          <a:solidFill>
            <a:srgbClr val="6E8F52"/>
          </a:solidFill>
          <a:ln/>
        </p:spPr>
      </p:sp>
      <p:sp>
        <p:nvSpPr>
          <p:cNvPr id="21" name="Text 17"/>
          <p:cNvSpPr/>
          <p:nvPr/>
        </p:nvSpPr>
        <p:spPr>
          <a:xfrm>
            <a:off x="4462272" y="2908725"/>
            <a:ext cx="3227832" cy="320040"/>
          </a:xfrm>
          <a:prstGeom prst="rect">
            <a:avLst/>
          </a:prstGeom>
          <a:noFill/>
          <a:ln/>
        </p:spPr>
        <p:txBody>
          <a:bodyPr wrap="square" rtlCol="0" anchor="ctr"/>
          <a:lstStyle/>
          <a:p>
            <a:pPr marL="0" indent="0" algn="ctr">
              <a:buNone/>
            </a:pPr>
            <a:r>
              <a:rPr lang="en-US" sz="1600" b="1" dirty="0">
                <a:solidFill>
                  <a:srgbClr val="20261F"/>
                </a:solidFill>
                <a:latin typeface="Cambria" pitchFamily="34" charset="0"/>
                <a:ea typeface="Cambria" pitchFamily="34" charset="-122"/>
                <a:cs typeface="Cambria" pitchFamily="34" charset="-120"/>
              </a:rPr>
              <a:t>Akshath</a:t>
            </a:r>
            <a:endParaRPr lang="en-US" sz="1600" dirty="0"/>
          </a:p>
        </p:txBody>
      </p:sp>
      <p:sp>
        <p:nvSpPr>
          <p:cNvPr id="22" name="Text 18"/>
          <p:cNvSpPr/>
          <p:nvPr/>
        </p:nvSpPr>
        <p:spPr>
          <a:xfrm>
            <a:off x="4462272" y="3219621"/>
            <a:ext cx="3227832" cy="274320"/>
          </a:xfrm>
          <a:prstGeom prst="rect">
            <a:avLst/>
          </a:prstGeom>
          <a:noFill/>
          <a:ln/>
        </p:spPr>
        <p:txBody>
          <a:bodyPr wrap="square" rtlCol="0" anchor="ctr"/>
          <a:lstStyle/>
          <a:p>
            <a:pPr marL="0" indent="0" algn="ctr">
              <a:buNone/>
            </a:pPr>
            <a:r>
              <a:rPr lang="en-US" sz="1000" dirty="0">
                <a:solidFill>
                  <a:srgbClr val="5B6B5B"/>
                </a:solidFill>
                <a:latin typeface="Calibri" pitchFamily="34" charset="0"/>
                <a:ea typeface="Calibri" pitchFamily="34" charset="-122"/>
                <a:cs typeface="Calibri" pitchFamily="34" charset="-120"/>
              </a:rPr>
              <a:t>CB.SC.P2AIE26004</a:t>
            </a:r>
            <a:endParaRPr lang="en-US" sz="1000" dirty="0"/>
          </a:p>
        </p:txBody>
      </p:sp>
      <p:sp>
        <p:nvSpPr>
          <p:cNvPr id="23" name="Text 19"/>
          <p:cNvSpPr/>
          <p:nvPr/>
        </p:nvSpPr>
        <p:spPr>
          <a:xfrm>
            <a:off x="4507992" y="3567093"/>
            <a:ext cx="3136392" cy="548640"/>
          </a:xfrm>
          <a:prstGeom prst="rect">
            <a:avLst/>
          </a:prstGeom>
          <a:noFill/>
          <a:ln/>
        </p:spPr>
        <p:txBody>
          <a:bodyPr wrap="square" rtlCol="0" anchor="t"/>
          <a:lstStyle/>
          <a:p>
            <a:pPr marL="0" indent="0" algn="ctr">
              <a:buNone/>
            </a:pPr>
            <a:r>
              <a:rPr lang="en-US" sz="1150" b="1" dirty="0">
                <a:solidFill>
                  <a:srgbClr val="6E8F52"/>
                </a:solidFill>
                <a:latin typeface="Calibri" pitchFamily="34" charset="0"/>
                <a:ea typeface="Calibri" pitchFamily="34" charset="-122"/>
                <a:cs typeface="Calibri" pitchFamily="34" charset="-120"/>
              </a:rPr>
              <a:t>Datasets for RPW &amp; Coconut Pest Detection</a:t>
            </a:r>
            <a:endParaRPr lang="en-US" sz="1150" dirty="0"/>
          </a:p>
        </p:txBody>
      </p:sp>
      <p:sp>
        <p:nvSpPr>
          <p:cNvPr id="24" name="Text 20"/>
          <p:cNvSpPr/>
          <p:nvPr/>
        </p:nvSpPr>
        <p:spPr>
          <a:xfrm>
            <a:off x="4645152" y="38679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Kurdi et al., 2021</a:t>
            </a:r>
            <a:endParaRPr lang="en-US" sz="1050" dirty="0"/>
          </a:p>
        </p:txBody>
      </p:sp>
      <p:sp>
        <p:nvSpPr>
          <p:cNvPr id="25" name="Text 21"/>
          <p:cNvSpPr/>
          <p:nvPr/>
        </p:nvSpPr>
        <p:spPr>
          <a:xfrm>
            <a:off x="4645152" y="42108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Boulila et al., 2023</a:t>
            </a:r>
            <a:endParaRPr lang="en-US" sz="1050" dirty="0"/>
          </a:p>
        </p:txBody>
      </p:sp>
      <p:sp>
        <p:nvSpPr>
          <p:cNvPr id="26" name="Text 22"/>
          <p:cNvSpPr/>
          <p:nvPr/>
        </p:nvSpPr>
        <p:spPr>
          <a:xfrm>
            <a:off x="4645152" y="45537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Rigakis et al., 2021</a:t>
            </a:r>
            <a:endParaRPr lang="en-US" sz="1050" dirty="0"/>
          </a:p>
        </p:txBody>
      </p:sp>
      <p:sp>
        <p:nvSpPr>
          <p:cNvPr id="27" name="Text 23"/>
          <p:cNvSpPr/>
          <p:nvPr/>
        </p:nvSpPr>
        <p:spPr>
          <a:xfrm>
            <a:off x="4645152" y="48966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Wu et al., 2023</a:t>
            </a:r>
            <a:endParaRPr lang="en-US" sz="1050" dirty="0"/>
          </a:p>
        </p:txBody>
      </p:sp>
      <p:sp>
        <p:nvSpPr>
          <p:cNvPr id="28" name="Text 24"/>
          <p:cNvSpPr/>
          <p:nvPr/>
        </p:nvSpPr>
        <p:spPr>
          <a:xfrm>
            <a:off x="4645152" y="52395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Nadeem et al., 2025</a:t>
            </a:r>
            <a:endParaRPr lang="en-US" sz="1050" dirty="0"/>
          </a:p>
        </p:txBody>
      </p:sp>
      <p:sp>
        <p:nvSpPr>
          <p:cNvPr id="29" name="Shape 25"/>
          <p:cNvSpPr/>
          <p:nvPr/>
        </p:nvSpPr>
        <p:spPr>
          <a:xfrm>
            <a:off x="8010144" y="1417320"/>
            <a:ext cx="3502152" cy="4480560"/>
          </a:xfrm>
          <a:prstGeom prst="roundRect">
            <a:avLst>
              <a:gd name="adj" fmla="val 2350"/>
            </a:avLst>
          </a:prstGeom>
          <a:solidFill>
            <a:srgbClr val="F7F8F4"/>
          </a:solidFill>
          <a:ln w="12700">
            <a:solidFill>
              <a:srgbClr val="E1E6DA"/>
            </a:solidFill>
            <a:prstDash val="solid"/>
          </a:ln>
        </p:spPr>
      </p:sp>
      <p:sp>
        <p:nvSpPr>
          <p:cNvPr id="30" name="Shape 26"/>
          <p:cNvSpPr/>
          <p:nvPr/>
        </p:nvSpPr>
        <p:spPr>
          <a:xfrm>
            <a:off x="8010144" y="1417320"/>
            <a:ext cx="3502152" cy="109728"/>
          </a:xfrm>
          <a:prstGeom prst="roundRect">
            <a:avLst/>
          </a:prstGeom>
          <a:solidFill>
            <a:srgbClr val="C1440E"/>
          </a:solidFill>
          <a:ln/>
        </p:spPr>
      </p:sp>
      <p:sp>
        <p:nvSpPr>
          <p:cNvPr id="33" name="Text 28"/>
          <p:cNvSpPr/>
          <p:nvPr/>
        </p:nvSpPr>
        <p:spPr>
          <a:xfrm>
            <a:off x="8147304" y="2908725"/>
            <a:ext cx="3227832" cy="320040"/>
          </a:xfrm>
          <a:prstGeom prst="rect">
            <a:avLst/>
          </a:prstGeom>
          <a:noFill/>
          <a:ln/>
        </p:spPr>
        <p:txBody>
          <a:bodyPr wrap="square" rtlCol="0" anchor="ctr"/>
          <a:lstStyle/>
          <a:p>
            <a:pPr marL="0" indent="0" algn="ctr">
              <a:buNone/>
            </a:pPr>
            <a:r>
              <a:rPr lang="en-US" sz="1600" b="1" dirty="0">
                <a:solidFill>
                  <a:srgbClr val="20261F"/>
                </a:solidFill>
                <a:latin typeface="Cambria" pitchFamily="34" charset="0"/>
                <a:ea typeface="Cambria" pitchFamily="34" charset="-122"/>
                <a:cs typeface="Cambria" pitchFamily="34" charset="-120"/>
              </a:rPr>
              <a:t>Abinaya</a:t>
            </a:r>
            <a:endParaRPr lang="en-US" sz="1600" dirty="0"/>
          </a:p>
        </p:txBody>
      </p:sp>
      <p:sp>
        <p:nvSpPr>
          <p:cNvPr id="34" name="Text 29"/>
          <p:cNvSpPr/>
          <p:nvPr/>
        </p:nvSpPr>
        <p:spPr>
          <a:xfrm>
            <a:off x="8147304" y="3219621"/>
            <a:ext cx="3227832" cy="274320"/>
          </a:xfrm>
          <a:prstGeom prst="rect">
            <a:avLst/>
          </a:prstGeom>
          <a:noFill/>
          <a:ln/>
        </p:spPr>
        <p:txBody>
          <a:bodyPr wrap="square" rtlCol="0" anchor="ctr"/>
          <a:lstStyle/>
          <a:p>
            <a:pPr marL="0" indent="0" algn="ctr">
              <a:buNone/>
            </a:pPr>
            <a:r>
              <a:rPr lang="en-US" sz="1000" dirty="0">
                <a:solidFill>
                  <a:srgbClr val="5B6B5B"/>
                </a:solidFill>
                <a:latin typeface="Calibri" pitchFamily="34" charset="0"/>
                <a:ea typeface="Calibri" pitchFamily="34" charset="-122"/>
                <a:cs typeface="Calibri" pitchFamily="34" charset="-120"/>
              </a:rPr>
              <a:t>CB.SC.P2AIE26002</a:t>
            </a:r>
            <a:endParaRPr lang="en-US" sz="1000" dirty="0"/>
          </a:p>
        </p:txBody>
      </p:sp>
      <p:sp>
        <p:nvSpPr>
          <p:cNvPr id="35" name="Text 30"/>
          <p:cNvSpPr/>
          <p:nvPr/>
        </p:nvSpPr>
        <p:spPr>
          <a:xfrm>
            <a:off x="8193024" y="3567093"/>
            <a:ext cx="3136392" cy="548640"/>
          </a:xfrm>
          <a:prstGeom prst="rect">
            <a:avLst/>
          </a:prstGeom>
          <a:noFill/>
          <a:ln/>
        </p:spPr>
        <p:txBody>
          <a:bodyPr wrap="square" rtlCol="0" anchor="t"/>
          <a:lstStyle/>
          <a:p>
            <a:pPr marL="0" indent="0" algn="ctr">
              <a:buNone/>
            </a:pPr>
            <a:r>
              <a:rPr lang="en-US" sz="1150" b="1" dirty="0">
                <a:solidFill>
                  <a:srgbClr val="C1440E"/>
                </a:solidFill>
                <a:latin typeface="Calibri" pitchFamily="34" charset="0"/>
                <a:ea typeface="Calibri" pitchFamily="34" charset="-122"/>
                <a:cs typeface="Calibri" pitchFamily="34" charset="-120"/>
              </a:rPr>
              <a:t>Algorithms &amp; Models for Pest Detection</a:t>
            </a:r>
            <a:endParaRPr lang="en-US" sz="1150" dirty="0"/>
          </a:p>
        </p:txBody>
      </p:sp>
      <p:sp>
        <p:nvSpPr>
          <p:cNvPr id="36" name="Text 31"/>
          <p:cNvSpPr/>
          <p:nvPr/>
        </p:nvSpPr>
        <p:spPr>
          <a:xfrm>
            <a:off x="8330184" y="38679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Deng et al., 2025</a:t>
            </a:r>
            <a:endParaRPr lang="en-US" sz="1050" dirty="0"/>
          </a:p>
        </p:txBody>
      </p:sp>
      <p:sp>
        <p:nvSpPr>
          <p:cNvPr id="37" name="Text 32"/>
          <p:cNvSpPr/>
          <p:nvPr/>
        </p:nvSpPr>
        <p:spPr>
          <a:xfrm>
            <a:off x="8330184" y="42108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Yang et al., 2023</a:t>
            </a:r>
            <a:endParaRPr lang="en-US" sz="1050" dirty="0"/>
          </a:p>
        </p:txBody>
      </p:sp>
      <p:sp>
        <p:nvSpPr>
          <p:cNvPr id="38" name="Text 33"/>
          <p:cNvSpPr/>
          <p:nvPr/>
        </p:nvSpPr>
        <p:spPr>
          <a:xfrm>
            <a:off x="8330184" y="45537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Siron Anita Susan T et al., 2026 (RED-BIYO)</a:t>
            </a:r>
            <a:endParaRPr lang="en-US" sz="1050" dirty="0"/>
          </a:p>
        </p:txBody>
      </p:sp>
      <p:sp>
        <p:nvSpPr>
          <p:cNvPr id="39" name="Text 34"/>
          <p:cNvSpPr/>
          <p:nvPr/>
        </p:nvSpPr>
        <p:spPr>
          <a:xfrm>
            <a:off x="8330184" y="48966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Kamalesh Kanna et al., 2024</a:t>
            </a:r>
            <a:endParaRPr lang="en-US" sz="1050" dirty="0"/>
          </a:p>
        </p:txBody>
      </p:sp>
      <p:sp>
        <p:nvSpPr>
          <p:cNvPr id="40" name="Text 35"/>
          <p:cNvSpPr/>
          <p:nvPr/>
        </p:nvSpPr>
        <p:spPr>
          <a:xfrm>
            <a:off x="8330184" y="5239512"/>
            <a:ext cx="2953512" cy="320040"/>
          </a:xfrm>
          <a:prstGeom prst="rect">
            <a:avLst/>
          </a:prstGeom>
          <a:noFill/>
          <a:ln/>
        </p:spPr>
        <p:txBody>
          <a:bodyPr wrap="square" rtlCol="0" anchor="ctr"/>
          <a:lstStyle/>
          <a:p>
            <a:pPr marL="0" indent="0" algn="l">
              <a:buNone/>
            </a:pPr>
            <a:r>
              <a:rPr lang="en-US" sz="1050" dirty="0">
                <a:solidFill>
                  <a:srgbClr val="20261F"/>
                </a:solidFill>
                <a:latin typeface="Calibri" pitchFamily="34" charset="0"/>
                <a:ea typeface="Calibri" pitchFamily="34" charset="-122"/>
                <a:cs typeface="Calibri" pitchFamily="34" charset="-120"/>
              </a:rPr>
              <a:t>•  Wang et al., 2021</a:t>
            </a:r>
            <a:endParaRPr lang="en-US" sz="1050" dirty="0"/>
          </a:p>
        </p:txBody>
      </p:sp>
      <p:sp>
        <p:nvSpPr>
          <p:cNvPr id="41" name="Text 36"/>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42" name="Text 37"/>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8351215" y="-1828800"/>
            <a:ext cx="5943600" cy="5943600"/>
          </a:xfrm>
          <a:prstGeom prst="ellipse">
            <a:avLst/>
          </a:prstGeom>
          <a:solidFill>
            <a:srgbClr val="1F4D36"/>
          </a:solidFill>
          <a:ln/>
        </p:spPr>
      </p:sp>
      <p:sp>
        <p:nvSpPr>
          <p:cNvPr id="3" name="Shape 1"/>
          <p:cNvSpPr/>
          <p:nvPr/>
        </p:nvSpPr>
        <p:spPr>
          <a:xfrm>
            <a:off x="9814255" y="3931920"/>
            <a:ext cx="3657600" cy="3657600"/>
          </a:xfrm>
          <a:prstGeom prst="ellipse">
            <a:avLst/>
          </a:prstGeom>
          <a:solidFill>
            <a:srgbClr val="6E8F52"/>
          </a:solidFill>
          <a:ln/>
        </p:spPr>
      </p:sp>
      <p:sp>
        <p:nvSpPr>
          <p:cNvPr id="4" name="Shape 2"/>
          <p:cNvSpPr/>
          <p:nvPr/>
        </p:nvSpPr>
        <p:spPr>
          <a:xfrm>
            <a:off x="868680" y="2286000"/>
            <a:ext cx="1371600" cy="1371600"/>
          </a:xfrm>
          <a:prstGeom prst="ellipse">
            <a:avLst/>
          </a:prstGeom>
          <a:solidFill>
            <a:srgbClr val="C1440E"/>
          </a:solidFill>
          <a:ln/>
        </p:spPr>
      </p:sp>
      <p:pic>
        <p:nvPicPr>
          <p:cNvPr id="5" name="Image 0" descr="icons/bullseye_white.png"/>
          <p:cNvPicPr>
            <a:picLocks noChangeAspect="1"/>
          </p:cNvPicPr>
          <p:nvPr/>
        </p:nvPicPr>
        <p:blipFill>
          <a:blip r:embed="rId3"/>
          <a:stretch>
            <a:fillRect/>
          </a:stretch>
        </p:blipFill>
        <p:spPr>
          <a:xfrm>
            <a:off x="1197864" y="2615184"/>
            <a:ext cx="713232" cy="713232"/>
          </a:xfrm>
          <a:prstGeom prst="rect">
            <a:avLst/>
          </a:prstGeom>
        </p:spPr>
      </p:pic>
      <p:sp>
        <p:nvSpPr>
          <p:cNvPr id="6" name="Text 3"/>
          <p:cNvSpPr/>
          <p:nvPr/>
        </p:nvSpPr>
        <p:spPr>
          <a:xfrm>
            <a:off x="3383280" y="2331720"/>
            <a:ext cx="7315200" cy="320040"/>
          </a:xfrm>
          <a:prstGeom prst="rect">
            <a:avLst/>
          </a:prstGeom>
          <a:noFill/>
          <a:ln/>
        </p:spPr>
        <p:txBody>
          <a:bodyPr wrap="square" rtlCol="0" anchor="ctr"/>
          <a:lstStyle/>
          <a:p>
            <a:pPr marL="0" indent="0" algn="l">
              <a:buNone/>
            </a:pPr>
            <a:r>
              <a:rPr lang="en-US" sz="1200" b="1" kern="0" spc="200" dirty="0">
                <a:solidFill>
                  <a:srgbClr val="C9D6BE"/>
                </a:solidFill>
                <a:latin typeface="Calibri" pitchFamily="34" charset="0"/>
                <a:ea typeface="Calibri" pitchFamily="34" charset="-122"/>
                <a:cs typeface="Calibri" pitchFamily="34" charset="-120"/>
              </a:rPr>
              <a:t>LITERATURE REVIEW · PART 1 OF 3</a:t>
            </a:r>
            <a:endParaRPr lang="en-US" sz="1200" dirty="0"/>
          </a:p>
        </p:txBody>
      </p:sp>
      <p:sp>
        <p:nvSpPr>
          <p:cNvPr id="7" name="Text 4"/>
          <p:cNvSpPr/>
          <p:nvPr/>
        </p:nvSpPr>
        <p:spPr>
          <a:xfrm>
            <a:off x="3383280" y="2697480"/>
            <a:ext cx="7863840" cy="1463040"/>
          </a:xfrm>
          <a:prstGeom prst="rect">
            <a:avLst/>
          </a:prstGeom>
          <a:noFill/>
          <a:ln/>
        </p:spPr>
        <p:txBody>
          <a:bodyPr wrap="square" rtlCol="0" anchor="t"/>
          <a:lstStyle/>
          <a:p>
            <a:pPr marL="0" indent="0" algn="l">
              <a:buNone/>
            </a:pPr>
            <a:r>
              <a:rPr lang="en-US" sz="3400" b="1" dirty="0">
                <a:solidFill>
                  <a:srgbClr val="FFFFFF"/>
                </a:solidFill>
                <a:latin typeface="Cambria" pitchFamily="34" charset="0"/>
                <a:ea typeface="Cambria" pitchFamily="34" charset="-122"/>
                <a:cs typeface="Cambria" pitchFamily="34" charset="-120"/>
              </a:rPr>
              <a:t>Problem Statement &amp; AI-Driven Applications</a:t>
            </a:r>
            <a:endParaRPr lang="en-US" sz="3400" dirty="0"/>
          </a:p>
        </p:txBody>
      </p:sp>
      <p:sp>
        <p:nvSpPr>
          <p:cNvPr id="8" name="Text 5"/>
          <p:cNvSpPr/>
          <p:nvPr/>
        </p:nvSpPr>
        <p:spPr>
          <a:xfrm>
            <a:off x="3383280" y="4069080"/>
            <a:ext cx="7863840" cy="457200"/>
          </a:xfrm>
          <a:prstGeom prst="rect">
            <a:avLst/>
          </a:prstGeom>
          <a:noFill/>
          <a:ln/>
        </p:spPr>
        <p:txBody>
          <a:bodyPr wrap="square" rtlCol="0" anchor="ctr"/>
          <a:lstStyle/>
          <a:p>
            <a:pPr marL="0" indent="0" algn="l">
              <a:buNone/>
            </a:pPr>
            <a:r>
              <a:rPr lang="en-US" sz="1600" dirty="0">
                <a:solidFill>
                  <a:srgbClr val="C9D6BE"/>
                </a:solidFill>
                <a:latin typeface="Calibri" pitchFamily="34" charset="0"/>
                <a:ea typeface="Calibri" pitchFamily="34" charset="-122"/>
                <a:cs typeface="Calibri" pitchFamily="34" charset="-120"/>
              </a:rPr>
              <a:t>Presented by  </a:t>
            </a:r>
            <a:r>
              <a:rPr lang="en-US" sz="1600" b="1" dirty="0">
                <a:solidFill>
                  <a:srgbClr val="FFFFFF"/>
                </a:solidFill>
                <a:latin typeface="Calibri" pitchFamily="34" charset="0"/>
                <a:ea typeface="Calibri" pitchFamily="34" charset="-122"/>
                <a:cs typeface="Calibri" pitchFamily="34" charset="-120"/>
              </a:rPr>
              <a:t>Vikram</a:t>
            </a:r>
            <a:r>
              <a:rPr lang="en-US" sz="1600" dirty="0">
                <a:solidFill>
                  <a:srgbClr val="C9D6BE"/>
                </a:solidFill>
                <a:latin typeface="Calibri" pitchFamily="34" charset="0"/>
                <a:ea typeface="Calibri" pitchFamily="34" charset="-122"/>
                <a:cs typeface="Calibri" pitchFamily="34" charset="-120"/>
              </a:rPr>
              <a:t>   |   CB.SC.P2CSE26031</a:t>
            </a:r>
            <a:endParaRPr lang="en-US" sz="1600" dirty="0"/>
          </a:p>
        </p:txBody>
      </p:sp>
      <p:sp>
        <p:nvSpPr>
          <p:cNvPr id="9" name="Text 6"/>
          <p:cNvSpPr/>
          <p:nvPr/>
        </p:nvSpPr>
        <p:spPr>
          <a:xfrm>
            <a:off x="3383280" y="4526280"/>
            <a:ext cx="7863840" cy="365760"/>
          </a:xfrm>
          <a:prstGeom prst="rect">
            <a:avLst/>
          </a:prstGeom>
          <a:noFill/>
          <a:ln/>
        </p:spPr>
        <p:txBody>
          <a:bodyPr wrap="square" rtlCol="0" anchor="ctr"/>
          <a:lstStyle/>
          <a:p>
            <a:pPr marL="0" indent="0">
              <a:buNone/>
            </a:pPr>
            <a:r>
              <a:rPr lang="en-US" sz="1200" i="1" dirty="0">
                <a:solidFill>
                  <a:srgbClr val="9FD6A8"/>
                </a:solidFill>
                <a:latin typeface="Calibri" pitchFamily="34" charset="0"/>
                <a:ea typeface="Calibri" pitchFamily="34" charset="-122"/>
                <a:cs typeface="Calibri" pitchFamily="34" charset="-120"/>
              </a:rPr>
              <a:t>5 papers · overview, relevance &amp; research gap for each</a:t>
            </a:r>
            <a:endParaRPr lang="en-US" sz="1200" dirty="0"/>
          </a:p>
        </p:txBody>
      </p:sp>
      <p:sp>
        <p:nvSpPr>
          <p:cNvPr id="10" name="Text 7"/>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11" name="Text 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PROBLEM STATEMENT &amp; AI — VIKRAM</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Foundational Acoustic Detection</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Soroker, Nakache, Hetzroni, Anshelevich &amp; Ish-Shalom, 2010 · Crop Protection</a:t>
            </a:r>
            <a:endParaRPr lang="en-US" sz="930" dirty="0"/>
          </a:p>
        </p:txBody>
      </p:sp>
      <p:sp>
        <p:nvSpPr>
          <p:cNvPr id="5" name="Shape 3"/>
          <p:cNvSpPr/>
          <p:nvPr/>
        </p:nvSpPr>
        <p:spPr>
          <a:xfrm>
            <a:off x="640080" y="1517904"/>
            <a:ext cx="5362956" cy="3803904"/>
          </a:xfrm>
          <a:prstGeom prst="roundRect">
            <a:avLst>
              <a:gd name="adj" fmla="val 1683"/>
            </a:avLst>
          </a:prstGeom>
          <a:solidFill>
            <a:srgbClr val="FAFBF8"/>
          </a:solidFill>
          <a:ln w="12700">
            <a:solidFill>
              <a:srgbClr val="E1E6DA"/>
            </a:solidFill>
            <a:prstDash val="solid"/>
          </a:ln>
        </p:spPr>
      </p:sp>
      <p:sp>
        <p:nvSpPr>
          <p:cNvPr id="6" name="Shape 4"/>
          <p:cNvSpPr/>
          <p:nvPr/>
        </p:nvSpPr>
        <p:spPr>
          <a:xfrm>
            <a:off x="768096" y="1591056"/>
            <a:ext cx="512064" cy="512064"/>
          </a:xfrm>
          <a:prstGeom prst="ellipse">
            <a:avLst/>
          </a:prstGeom>
          <a:solidFill>
            <a:srgbClr val="1F4D36"/>
          </a:solidFill>
          <a:ln/>
        </p:spPr>
      </p:sp>
      <p:pic>
        <p:nvPicPr>
          <p:cNvPr id="7" name="Image 0" descr="icons/network_white.png"/>
          <p:cNvPicPr>
            <a:picLocks noChangeAspect="1"/>
          </p:cNvPicPr>
          <p:nvPr/>
        </p:nvPicPr>
        <p:blipFill>
          <a:blip r:embed="rId3"/>
          <a:stretch>
            <a:fillRect/>
          </a:stretch>
        </p:blipFill>
        <p:spPr>
          <a:xfrm>
            <a:off x="890991" y="1713951"/>
            <a:ext cx="266273" cy="266273"/>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300" b="1" dirty="0">
                <a:solidFill>
                  <a:srgbClr val="1F4D36"/>
                </a:solidFill>
                <a:latin typeface="Cambria" pitchFamily="34" charset="0"/>
                <a:ea typeface="Cambria" pitchFamily="34" charset="-122"/>
                <a:cs typeface="Cambria" pitchFamily="34" charset="-120"/>
              </a:rPr>
              <a:t>Methodology</a:t>
            </a:r>
            <a:endParaRPr lang="en-US" sz="1300" dirty="0"/>
          </a:p>
        </p:txBody>
      </p:sp>
      <p:sp>
        <p:nvSpPr>
          <p:cNvPr id="9" name="Text 6"/>
          <p:cNvSpPr/>
          <p:nvPr/>
        </p:nvSpPr>
        <p:spPr>
          <a:xfrm>
            <a:off x="841248" y="2139696"/>
            <a:ext cx="4960620" cy="3054096"/>
          </a:xfrm>
          <a:prstGeom prst="rect">
            <a:avLst/>
          </a:prstGeom>
          <a:noFill/>
          <a:ln/>
        </p:spPr>
        <p:txBody>
          <a:bodyPr wrap="square" rtlCol="0" anchor="ctr"/>
          <a:lstStyle/>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Acoustic sensors were embedded directly in the palm trunk to non-invasively capture the feeding sounds produced by RPW larvae.</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One of the first studies to establish that larval chewing and movement inside the trunk produces a distinctive, detectable acoustic signature.</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Demonstrated that this signature can be picked up before any borehole, frass, or frond wilting becomes visible from outside the tree.</a:t>
            </a:r>
            <a:endParaRPr lang="en-US" sz="1030" dirty="0"/>
          </a:p>
        </p:txBody>
      </p:sp>
      <p:sp>
        <p:nvSpPr>
          <p:cNvPr id="10" name="Shape 7"/>
          <p:cNvSpPr/>
          <p:nvPr/>
        </p:nvSpPr>
        <p:spPr>
          <a:xfrm>
            <a:off x="6185916" y="1517904"/>
            <a:ext cx="5362956" cy="3803904"/>
          </a:xfrm>
          <a:prstGeom prst="roundRect">
            <a:avLst>
              <a:gd name="adj" fmla="val 1683"/>
            </a:avLst>
          </a:prstGeom>
          <a:solidFill>
            <a:srgbClr val="FAFBF8"/>
          </a:solidFill>
          <a:ln w="12700">
            <a:solidFill>
              <a:srgbClr val="E1E6DA"/>
            </a:solidFill>
            <a:prstDash val="solid"/>
          </a:ln>
        </p:spPr>
      </p:sp>
      <p:sp>
        <p:nvSpPr>
          <p:cNvPr id="11" name="Shape 8"/>
          <p:cNvSpPr/>
          <p:nvPr/>
        </p:nvSpPr>
        <p:spPr>
          <a:xfrm>
            <a:off x="6313932" y="1591056"/>
            <a:ext cx="512064" cy="512064"/>
          </a:xfrm>
          <a:prstGeom prst="ellipse">
            <a:avLst/>
          </a:prstGeom>
          <a:solidFill>
            <a:srgbClr val="1F4D36"/>
          </a:solidFill>
          <a:ln/>
        </p:spPr>
      </p:sp>
      <p:pic>
        <p:nvPicPr>
          <p:cNvPr id="12" name="Image 1" descr="icons/bullseye_white.png"/>
          <p:cNvPicPr>
            <a:picLocks noChangeAspect="1"/>
          </p:cNvPicPr>
          <p:nvPr/>
        </p:nvPicPr>
        <p:blipFill>
          <a:blip r:embed="rId4"/>
          <a:stretch>
            <a:fillRect/>
          </a:stretch>
        </p:blipFill>
        <p:spPr>
          <a:xfrm>
            <a:off x="6436827" y="1713951"/>
            <a:ext cx="266273" cy="266273"/>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300" b="1" dirty="0">
                <a:solidFill>
                  <a:srgbClr val="1F4D36"/>
                </a:solidFill>
                <a:latin typeface="Cambria" pitchFamily="34" charset="0"/>
                <a:ea typeface="Cambria" pitchFamily="34" charset="-122"/>
                <a:cs typeface="Cambria" pitchFamily="34" charset="-120"/>
              </a:rPr>
              <a:t>Findings (Qualitative)</a:t>
            </a:r>
            <a:endParaRPr lang="en-US" sz="1300" dirty="0"/>
          </a:p>
        </p:txBody>
      </p:sp>
      <p:sp>
        <p:nvSpPr>
          <p:cNvPr id="14" name="Text 10"/>
          <p:cNvSpPr/>
          <p:nvPr/>
        </p:nvSpPr>
        <p:spPr>
          <a:xfrm>
            <a:off x="6387084" y="2139696"/>
            <a:ext cx="4960620" cy="3054096"/>
          </a:xfrm>
          <a:prstGeom prst="rect">
            <a:avLst/>
          </a:prstGeom>
          <a:noFill/>
          <a:ln/>
        </p:spPr>
        <p:txBody>
          <a:bodyPr wrap="square" rtlCol="0" anchor="ctr"/>
          <a:lstStyle/>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Established the basic scientific feasibility of sound-based RPW detection — no quantitative accuracy is reported, as this was a foundational proof-of-concept study.</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Motivated the broader shift in RPW-detection research away from purely visual, symptom-based inspection toward sensor-based, non-destructive monitoring.</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Remains the foundational reference that every later acoustic-sensing paper in this survey builds on.</a:t>
            </a:r>
            <a:endParaRPr lang="en-US" sz="1030" dirty="0"/>
          </a:p>
        </p:txBody>
      </p:sp>
      <p:sp>
        <p:nvSpPr>
          <p:cNvPr id="15" name="Shape 11"/>
          <p:cNvSpPr/>
          <p:nvPr/>
        </p:nvSpPr>
        <p:spPr>
          <a:xfrm>
            <a:off x="640080" y="5449824"/>
            <a:ext cx="5362956" cy="914400"/>
          </a:xfrm>
          <a:prstGeom prst="roundRect">
            <a:avLst>
              <a:gd name="adj" fmla="val 7000"/>
            </a:avLst>
          </a:prstGeom>
          <a:solidFill>
            <a:srgbClr val="1F4D36"/>
          </a:solidFill>
          <a:ln/>
        </p:spPr>
      </p:sp>
      <p:sp>
        <p:nvSpPr>
          <p:cNvPr id="16" name="Shape 12"/>
          <p:cNvSpPr/>
          <p:nvPr/>
        </p:nvSpPr>
        <p:spPr>
          <a:xfrm>
            <a:off x="786384" y="5541264"/>
            <a:ext cx="402336" cy="402336"/>
          </a:xfrm>
          <a:prstGeom prst="ellipse">
            <a:avLst/>
          </a:prstGeom>
          <a:solidFill>
            <a:srgbClr val="C1440E"/>
          </a:solidFill>
          <a:ln/>
        </p:spPr>
      </p:sp>
      <p:pic>
        <p:nvPicPr>
          <p:cNvPr id="17" name="Image 2"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18" name="Text 13"/>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19" name="Text 14"/>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paper establishes the core scientific premise behind the audio branch of the proposed bimodal system — that larval feeding sounds are a genuine, detectable signal well before symptoms appear externally.</a:t>
            </a:r>
            <a:endParaRPr lang="en-US" sz="840" dirty="0"/>
          </a:p>
        </p:txBody>
      </p:sp>
      <p:sp>
        <p:nvSpPr>
          <p:cNvPr id="20" name="Shape 15"/>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1" name="Shape 16"/>
          <p:cNvSpPr/>
          <p:nvPr/>
        </p:nvSpPr>
        <p:spPr>
          <a:xfrm>
            <a:off x="6332220" y="5541264"/>
            <a:ext cx="402336" cy="402336"/>
          </a:xfrm>
          <a:prstGeom prst="ellipse">
            <a:avLst/>
          </a:prstGeom>
          <a:solidFill>
            <a:srgbClr val="C1440E"/>
          </a:solidFill>
          <a:ln/>
        </p:spPr>
      </p:sp>
      <p:pic>
        <p:nvPicPr>
          <p:cNvPr id="22" name="Image 3" descr="icons/bug_white.png"/>
          <p:cNvPicPr>
            <a:picLocks noChangeAspect="1"/>
          </p:cNvPicPr>
          <p:nvPr/>
        </p:nvPicPr>
        <p:blipFill>
          <a:blip r:embed="rId5"/>
          <a:stretch>
            <a:fillRect/>
          </a:stretch>
        </p:blipFill>
        <p:spPr>
          <a:xfrm>
            <a:off x="6428781" y="5637825"/>
            <a:ext cx="209215" cy="209215"/>
          </a:xfrm>
          <a:prstGeom prst="rect">
            <a:avLst/>
          </a:prstGeom>
        </p:spPr>
      </p:pic>
      <p:sp>
        <p:nvSpPr>
          <p:cNvPr id="23" name="Text 17"/>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4" name="Text 18"/>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study validated detection only under controlled, lab-scale conditions and used no image data at all — it says nothing about distinguishing larval sounds from real field noise, a gap the next paper (Faleiro et al.) directly addresses.</a:t>
            </a:r>
            <a:endParaRPr lang="en-US" sz="840" dirty="0"/>
          </a:p>
        </p:txBody>
      </p:sp>
      <p:sp>
        <p:nvSpPr>
          <p:cNvPr id="25" name="Text 19"/>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26" name="Text 20"/>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PROBLEM STATEMENT &amp; AI — VIKRAM</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Field Validation of Acoustic Detection</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Faleiro, Kumar &amp; Ramesh, 2012 · Journal of Insect Science</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1F4D36"/>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Extended Soroker et al.'s laboratory-based acoustic sensing approach by testing detection performance under real plantation conditions.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Sensors were placed on live palms in the field rather than in a controlled lab setting.</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1F4D36"/>
          </a:solidFill>
          <a:ln/>
        </p:spPr>
      </p:sp>
      <p:pic>
        <p:nvPicPr>
          <p:cNvPr id="12" name="Image 1" descr="icons/chart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Field trial evaluated whether larval chewing sounds could still be reliably picked out amid genuine environmental noise — wind, nearby machinery, other insect activity, general plantation ambience.</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No formal accuracy benchmark is reported; assessment was based on discrimination of larval sound from background noise in situ.</a:t>
            </a:r>
            <a:endParaRPr lang="en-US" sz="900" dirty="0"/>
          </a:p>
        </p:txBody>
      </p:sp>
      <p:sp>
        <p:nvSpPr>
          <p:cNvPr id="15" name="Shape 11"/>
          <p:cNvSpPr/>
          <p:nvPr/>
        </p:nvSpPr>
        <p:spPr>
          <a:xfrm>
            <a:off x="640080" y="3474720"/>
            <a:ext cx="10908792"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1F4D36"/>
          </a:solidFill>
          <a:ln/>
        </p:spPr>
      </p:sp>
      <p:pic>
        <p:nvPicPr>
          <p:cNvPr id="17" name="Image 2" descr="icons/bullseye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10049256"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Findings (Qualitative)</a:t>
            </a:r>
            <a:endParaRPr lang="en-US" sz="1200" dirty="0"/>
          </a:p>
        </p:txBody>
      </p:sp>
      <p:sp>
        <p:nvSpPr>
          <p:cNvPr id="19" name="Text 14"/>
          <p:cNvSpPr/>
          <p:nvPr/>
        </p:nvSpPr>
        <p:spPr>
          <a:xfrm>
            <a:off x="841248" y="4096512"/>
            <a:ext cx="10506456"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Larval chewing sounds remained reliably distinguishable from background noise — no quantitative accuracy figure was reported.</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Confirmed the practical, non-destructive field viability of acoustic sensing, an important step beyond Soroker et al.'s lab-only proof-of-concept.</a:t>
            </a:r>
            <a:endParaRPr lang="en-US" sz="900" dirty="0"/>
          </a:p>
        </p:txBody>
      </p:sp>
      <p:sp>
        <p:nvSpPr>
          <p:cNvPr id="20" name="Shape 15"/>
          <p:cNvSpPr/>
          <p:nvPr/>
        </p:nvSpPr>
        <p:spPr>
          <a:xfrm>
            <a:off x="640080" y="5449824"/>
            <a:ext cx="5362956" cy="914400"/>
          </a:xfrm>
          <a:prstGeom prst="roundRect">
            <a:avLst>
              <a:gd name="adj" fmla="val 7000"/>
            </a:avLst>
          </a:prstGeom>
          <a:solidFill>
            <a:srgbClr val="1F4D36"/>
          </a:solidFill>
          <a:ln/>
        </p:spPr>
      </p:sp>
      <p:sp>
        <p:nvSpPr>
          <p:cNvPr id="21" name="Shape 16"/>
          <p:cNvSpPr/>
          <p:nvPr/>
        </p:nvSpPr>
        <p:spPr>
          <a:xfrm>
            <a:off x="786384" y="5541264"/>
            <a:ext cx="402336" cy="402336"/>
          </a:xfrm>
          <a:prstGeom prst="ellipse">
            <a:avLst/>
          </a:prstGeom>
          <a:solidFill>
            <a:srgbClr val="C1440E"/>
          </a:solidFill>
          <a:ln/>
        </p:spPr>
      </p:sp>
      <p:pic>
        <p:nvPicPr>
          <p:cNvPr id="22" name="Image 3"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3" name="Text 17"/>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4" name="Text 18"/>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field validation directly supports the feasibility of deploying the project's acoustic sensor in a real coconut plantation, where ambient noise will resemble what Faleiro et al. tested, not a quiet lab.</a:t>
            </a:r>
            <a:endParaRPr lang="en-US" sz="840" dirty="0"/>
          </a:p>
        </p:txBody>
      </p:sp>
      <p:sp>
        <p:nvSpPr>
          <p:cNvPr id="25" name="Shape 19"/>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6" name="Shape 20"/>
          <p:cNvSpPr/>
          <p:nvPr/>
        </p:nvSpPr>
        <p:spPr>
          <a:xfrm>
            <a:off x="6332220" y="5541264"/>
            <a:ext cx="402336" cy="402336"/>
          </a:xfrm>
          <a:prstGeom prst="ellipse">
            <a:avLst/>
          </a:prstGeom>
          <a:solidFill>
            <a:srgbClr val="C1440E"/>
          </a:solidFill>
          <a:ln/>
        </p:spPr>
      </p:sp>
      <p:pic>
        <p:nvPicPr>
          <p:cNvPr id="27" name="Image 4" descr="icons/bug_white.png"/>
          <p:cNvPicPr>
            <a:picLocks noChangeAspect="1"/>
          </p:cNvPicPr>
          <p:nvPr/>
        </p:nvPicPr>
        <p:blipFill>
          <a:blip r:embed="rId6"/>
          <a:stretch>
            <a:fillRect/>
          </a:stretch>
        </p:blipFill>
        <p:spPr>
          <a:xfrm>
            <a:off x="6428781" y="5637825"/>
            <a:ext cx="209215" cy="209215"/>
          </a:xfrm>
          <a:prstGeom prst="rect">
            <a:avLst/>
          </a:prstGeom>
        </p:spPr>
      </p:pic>
      <p:sp>
        <p:nvSpPr>
          <p:cNvPr id="28" name="Text 21"/>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9" name="Text 22"/>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study still relied on a single sensing modality (audio only) and used manual, hand-tuned noise filtering rather than a learned approach — a gap the proposed system closes with a trained attention mechanism.</a:t>
            </a:r>
            <a:endParaRPr lang="en-US" sz="840" dirty="0"/>
          </a:p>
        </p:txBody>
      </p:sp>
      <p:sp>
        <p:nvSpPr>
          <p:cNvPr id="30" name="Text 23"/>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1"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PROBLEM STATEMENT &amp; AI — VIKRAM</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IoT-Based Thermal Imaging</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Martin, Saranya &amp; Chowdary, 2026 · Scientific Reports</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1F4D36"/>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 low-cost infrared thermal camera is interfaced with a Raspberry Pi to capture trunk thermal images.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 lightweight convolutional neural network classifies the thermal images to flag subtle heat variations associated with early larval feeding activity.</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1F4D36"/>
          </a:solidFill>
          <a:ln/>
        </p:spPr>
      </p:sp>
      <p:pic>
        <p:nvPicPr>
          <p:cNvPr id="12" name="Image 1" descr="icons/chart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 &amp; Metrics</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Runs entirely on inexpensive, field-deployable edge hardware (Raspberry Pi) rather than a cloud server or workstation GPU.</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using detection accuracy as the reported performance metric.</a:t>
            </a:r>
            <a:endParaRPr lang="en-US" sz="900" dirty="0"/>
          </a:p>
        </p:txBody>
      </p:sp>
      <p:sp>
        <p:nvSpPr>
          <p:cNvPr id="15" name="Shape 11"/>
          <p:cNvSpPr/>
          <p:nvPr/>
        </p:nvSpPr>
        <p:spPr>
          <a:xfrm>
            <a:off x="640080" y="3474720"/>
            <a:ext cx="10908792"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1F4D36"/>
          </a:solidFill>
          <a:ln/>
        </p:spPr>
      </p:sp>
      <p:pic>
        <p:nvPicPr>
          <p:cNvPr id="17" name="Image 2" descr="icons/bullseye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10049256"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Key Results</a:t>
            </a:r>
            <a:endParaRPr lang="en-US" sz="1200" dirty="0"/>
          </a:p>
        </p:txBody>
      </p:sp>
      <p:sp>
        <p:nvSpPr>
          <p:cNvPr id="19" name="Text 14"/>
          <p:cNvSpPr/>
          <p:nvPr/>
        </p:nvSpPr>
        <p:spPr>
          <a:xfrm>
            <a:off x="841248" y="4096512"/>
            <a:ext cx="10506456"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Reported detection accuracy above 98% on the thermal-imaging classification task.</a:t>
            </a:r>
            <a:endParaRPr lang="en-US" sz="900" dirty="0"/>
          </a:p>
        </p:txBody>
      </p:sp>
      <p:sp>
        <p:nvSpPr>
          <p:cNvPr id="20" name="Shape 15"/>
          <p:cNvSpPr/>
          <p:nvPr/>
        </p:nvSpPr>
        <p:spPr>
          <a:xfrm>
            <a:off x="640080" y="5449824"/>
            <a:ext cx="5362956" cy="914400"/>
          </a:xfrm>
          <a:prstGeom prst="roundRect">
            <a:avLst>
              <a:gd name="adj" fmla="val 7000"/>
            </a:avLst>
          </a:prstGeom>
          <a:solidFill>
            <a:srgbClr val="1F4D36"/>
          </a:solidFill>
          <a:ln/>
        </p:spPr>
      </p:sp>
      <p:sp>
        <p:nvSpPr>
          <p:cNvPr id="21" name="Shape 16"/>
          <p:cNvSpPr/>
          <p:nvPr/>
        </p:nvSpPr>
        <p:spPr>
          <a:xfrm>
            <a:off x="786384" y="5541264"/>
            <a:ext cx="402336" cy="402336"/>
          </a:xfrm>
          <a:prstGeom prst="ellipse">
            <a:avLst/>
          </a:prstGeom>
          <a:solidFill>
            <a:srgbClr val="C1440E"/>
          </a:solidFill>
          <a:ln/>
        </p:spPr>
      </p:sp>
      <p:pic>
        <p:nvPicPr>
          <p:cNvPr id="22" name="Image 3"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3" name="Text 17"/>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4" name="Text 18"/>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paper is a template for the kind of low-cost, edge-deployed sensing-to-inference pipeline the proposed system also targets, even though its specific thermal channel is not carried into this project.</a:t>
            </a:r>
            <a:endParaRPr lang="en-US" sz="840" dirty="0"/>
          </a:p>
        </p:txBody>
      </p:sp>
      <p:sp>
        <p:nvSpPr>
          <p:cNvPr id="25" name="Shape 19"/>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6" name="Shape 20"/>
          <p:cNvSpPr/>
          <p:nvPr/>
        </p:nvSpPr>
        <p:spPr>
          <a:xfrm>
            <a:off x="6332220" y="5541264"/>
            <a:ext cx="402336" cy="402336"/>
          </a:xfrm>
          <a:prstGeom prst="ellipse">
            <a:avLst/>
          </a:prstGeom>
          <a:solidFill>
            <a:srgbClr val="C1440E"/>
          </a:solidFill>
          <a:ln/>
        </p:spPr>
      </p:sp>
      <p:pic>
        <p:nvPicPr>
          <p:cNvPr id="27" name="Image 4" descr="icons/bug_white.png"/>
          <p:cNvPicPr>
            <a:picLocks noChangeAspect="1"/>
          </p:cNvPicPr>
          <p:nvPr/>
        </p:nvPicPr>
        <p:blipFill>
          <a:blip r:embed="rId6"/>
          <a:stretch>
            <a:fillRect/>
          </a:stretch>
        </p:blipFill>
        <p:spPr>
          <a:xfrm>
            <a:off x="6428781" y="5637825"/>
            <a:ext cx="209215" cy="209215"/>
          </a:xfrm>
          <a:prstGeom prst="rect">
            <a:avLst/>
          </a:prstGeom>
        </p:spPr>
      </p:pic>
      <p:sp>
        <p:nvSpPr>
          <p:cNvPr id="28" name="Text 21"/>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9" name="Text 22"/>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study was validated in a single geographic region and depends on a thermal-only channel, which adds hardware cost and sensitivity to ambient temperature — one reason this project deliberately scopes out thermal imaging.</a:t>
            </a:r>
            <a:endParaRPr lang="en-US" sz="840" dirty="0"/>
          </a:p>
        </p:txBody>
      </p:sp>
      <p:sp>
        <p:nvSpPr>
          <p:cNvPr id="30" name="Text 23"/>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1"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PROBLEM STATEMENT &amp; AI — VIKRAM</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Deep-Learning Visual Localisation</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Alsanea, Habib, Khan, Alsharekh, Islam &amp; Khan, 2022 · Journal of Imaging</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1F4D36"/>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 region-based convolutional neural network (R-CNN) localises RPW-related damage and the insect itself within photographs.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Bounding boxes are drawn around infested regions and the adult weevil, framing detection as an object-localisation problem.</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1F4D36"/>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Deployed and evaluated on palm-tree imagery from the Al-Qassim region, an area containing thousands of individual farms.</a:t>
            </a:r>
            <a:endParaRPr lang="en-US" sz="900" dirty="0"/>
          </a:p>
        </p:txBody>
      </p:sp>
      <p:sp>
        <p:nvSpPr>
          <p:cNvPr id="15" name="Shape 11"/>
          <p:cNvSpPr/>
          <p:nvPr/>
        </p:nvSpPr>
        <p:spPr>
          <a:xfrm>
            <a:off x="640080" y="3474720"/>
            <a:ext cx="10908792"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1F4D36"/>
          </a:solidFill>
          <a:ln/>
        </p:spPr>
      </p:sp>
      <p:pic>
        <p:nvPicPr>
          <p:cNvPr id="17" name="Image 2" descr="icons/bullseye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10049256"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Findings (Qualitative)</a:t>
            </a:r>
            <a:endParaRPr lang="en-US" sz="1200" dirty="0"/>
          </a:p>
        </p:txBody>
      </p:sp>
      <p:sp>
        <p:nvSpPr>
          <p:cNvPr id="19" name="Text 14"/>
          <p:cNvSpPr/>
          <p:nvPr/>
        </p:nvSpPr>
        <p:spPr>
          <a:xfrm>
            <a:off x="841248" y="4096512"/>
            <a:ext cx="10506456"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Demonstrated an efficient, low-cost RPW detection and classification pipeline realistic to deploy across large numbers of farms.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No accuracy percentage is reported in the reviewed literature for this specific study.</a:t>
            </a:r>
            <a:endParaRPr lang="en-US" sz="900" dirty="0"/>
          </a:p>
        </p:txBody>
      </p:sp>
      <p:sp>
        <p:nvSpPr>
          <p:cNvPr id="20" name="Shape 15"/>
          <p:cNvSpPr/>
          <p:nvPr/>
        </p:nvSpPr>
        <p:spPr>
          <a:xfrm>
            <a:off x="640080" y="5449824"/>
            <a:ext cx="5362956" cy="914400"/>
          </a:xfrm>
          <a:prstGeom prst="roundRect">
            <a:avLst>
              <a:gd name="adj" fmla="val 7000"/>
            </a:avLst>
          </a:prstGeom>
          <a:solidFill>
            <a:srgbClr val="1F4D36"/>
          </a:solidFill>
          <a:ln/>
        </p:spPr>
      </p:sp>
      <p:sp>
        <p:nvSpPr>
          <p:cNvPr id="21" name="Shape 16"/>
          <p:cNvSpPr/>
          <p:nvPr/>
        </p:nvSpPr>
        <p:spPr>
          <a:xfrm>
            <a:off x="786384" y="5541264"/>
            <a:ext cx="402336" cy="402336"/>
          </a:xfrm>
          <a:prstGeom prst="ellipse">
            <a:avLst/>
          </a:prstGeom>
          <a:solidFill>
            <a:srgbClr val="C1440E"/>
          </a:solidFill>
          <a:ln/>
        </p:spPr>
      </p:sp>
      <p:pic>
        <p:nvPicPr>
          <p:cNvPr id="22" name="Image 3"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3" name="Text 17"/>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4" name="Text 18"/>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is a direct baseline for the RGB visual-detection component of the proposed bimodal system, confirming that a deep-learning object detector is a viable way to localise weevils and damage in field photographs.</a:t>
            </a:r>
            <a:endParaRPr lang="en-US" sz="840" dirty="0"/>
          </a:p>
        </p:txBody>
      </p:sp>
      <p:sp>
        <p:nvSpPr>
          <p:cNvPr id="25" name="Shape 19"/>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6" name="Shape 20"/>
          <p:cNvSpPr/>
          <p:nvPr/>
        </p:nvSpPr>
        <p:spPr>
          <a:xfrm>
            <a:off x="6332220" y="5541264"/>
            <a:ext cx="402336" cy="402336"/>
          </a:xfrm>
          <a:prstGeom prst="ellipse">
            <a:avLst/>
          </a:prstGeom>
          <a:solidFill>
            <a:srgbClr val="C1440E"/>
          </a:solidFill>
          <a:ln/>
        </p:spPr>
      </p:sp>
      <p:pic>
        <p:nvPicPr>
          <p:cNvPr id="27" name="Image 4" descr="icons/bug_white.png"/>
          <p:cNvPicPr>
            <a:picLocks noChangeAspect="1"/>
          </p:cNvPicPr>
          <p:nvPr/>
        </p:nvPicPr>
        <p:blipFill>
          <a:blip r:embed="rId6"/>
          <a:stretch>
            <a:fillRect/>
          </a:stretch>
        </p:blipFill>
        <p:spPr>
          <a:xfrm>
            <a:off x="6428781" y="5637825"/>
            <a:ext cx="209215" cy="209215"/>
          </a:xfrm>
          <a:prstGeom prst="rect">
            <a:avLst/>
          </a:prstGeom>
        </p:spPr>
      </p:pic>
      <p:sp>
        <p:nvSpPr>
          <p:cNvPr id="28" name="Text 21"/>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9" name="Text 22"/>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R-CNN architecture is computationally heavy relative to newer single-stage detectors, and every tree is treated in isolation — no attempt is made to relate detections across neighbouring trees, which is exactly the gap this project's network-analysis layer closes.</a:t>
            </a:r>
            <a:endParaRPr lang="en-US" sz="840" dirty="0"/>
          </a:p>
        </p:txBody>
      </p:sp>
      <p:sp>
        <p:nvSpPr>
          <p:cNvPr id="30" name="Text 23"/>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1"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PROBLEM STATEMENT &amp; AI — VIKRAM</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Landscape-Scale Monitoring</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Kagan, Fuhrmann Alpert &amp; Fire, 2021 · ISPRS Journal of Photogrammetry &amp; Remote Sensing</a:t>
            </a:r>
            <a:endParaRPr lang="en-US" sz="930" dirty="0"/>
          </a:p>
        </p:txBody>
      </p:sp>
      <p:sp>
        <p:nvSpPr>
          <p:cNvPr id="5" name="Shape 3"/>
          <p:cNvSpPr/>
          <p:nvPr/>
        </p:nvSpPr>
        <p:spPr>
          <a:xfrm>
            <a:off x="640080" y="1517904"/>
            <a:ext cx="5362956" cy="3803904"/>
          </a:xfrm>
          <a:prstGeom prst="roundRect">
            <a:avLst>
              <a:gd name="adj" fmla="val 1683"/>
            </a:avLst>
          </a:prstGeom>
          <a:solidFill>
            <a:srgbClr val="FAFBF8"/>
          </a:solidFill>
          <a:ln w="12700">
            <a:solidFill>
              <a:srgbClr val="E1E6DA"/>
            </a:solidFill>
            <a:prstDash val="solid"/>
          </a:ln>
        </p:spPr>
      </p:sp>
      <p:sp>
        <p:nvSpPr>
          <p:cNvPr id="6" name="Shape 4"/>
          <p:cNvSpPr/>
          <p:nvPr/>
        </p:nvSpPr>
        <p:spPr>
          <a:xfrm>
            <a:off x="768096" y="1591056"/>
            <a:ext cx="512064" cy="512064"/>
          </a:xfrm>
          <a:prstGeom prst="ellipse">
            <a:avLst/>
          </a:prstGeom>
          <a:solidFill>
            <a:srgbClr val="1F4D36"/>
          </a:solidFill>
          <a:ln/>
        </p:spPr>
      </p:sp>
      <p:pic>
        <p:nvPicPr>
          <p:cNvPr id="7" name="Image 0" descr="icons/network_white.png"/>
          <p:cNvPicPr>
            <a:picLocks noChangeAspect="1"/>
          </p:cNvPicPr>
          <p:nvPr/>
        </p:nvPicPr>
        <p:blipFill>
          <a:blip r:embed="rId3"/>
          <a:stretch>
            <a:fillRect/>
          </a:stretch>
        </p:blipFill>
        <p:spPr>
          <a:xfrm>
            <a:off x="890991" y="1713951"/>
            <a:ext cx="266273" cy="266273"/>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300" b="1" dirty="0">
                <a:solidFill>
                  <a:srgbClr val="1F4D36"/>
                </a:solidFill>
                <a:latin typeface="Cambria" pitchFamily="34" charset="0"/>
                <a:ea typeface="Cambria" pitchFamily="34" charset="-122"/>
                <a:cs typeface="Cambria" pitchFamily="34" charset="-120"/>
              </a:rPr>
              <a:t>Methodology</a:t>
            </a:r>
            <a:endParaRPr lang="en-US" sz="1300" dirty="0"/>
          </a:p>
        </p:txBody>
      </p:sp>
      <p:sp>
        <p:nvSpPr>
          <p:cNvPr id="9" name="Text 6"/>
          <p:cNvSpPr/>
          <p:nvPr/>
        </p:nvSpPr>
        <p:spPr>
          <a:xfrm>
            <a:off x="841248" y="2139696"/>
            <a:ext cx="4960620" cy="3054096"/>
          </a:xfrm>
          <a:prstGeom prst="rect">
            <a:avLst/>
          </a:prstGeom>
          <a:noFill/>
          <a:ln/>
        </p:spPr>
        <p:txBody>
          <a:bodyPr wrap="square" rtlCol="0" anchor="ctr"/>
          <a:lstStyle/>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Applies deep learning to aerial and street-level imagery to automatically locate palm trees and flag infestation risk.</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Moves the detection problem from the scale of a single tree to the scale of an entire city or region.</a:t>
            </a:r>
            <a:endParaRPr lang="en-US" sz="1030" dirty="0"/>
          </a:p>
        </p:txBody>
      </p:sp>
      <p:sp>
        <p:nvSpPr>
          <p:cNvPr id="10" name="Shape 7"/>
          <p:cNvSpPr/>
          <p:nvPr/>
        </p:nvSpPr>
        <p:spPr>
          <a:xfrm>
            <a:off x="6185916" y="1517904"/>
            <a:ext cx="5362956" cy="3803904"/>
          </a:xfrm>
          <a:prstGeom prst="roundRect">
            <a:avLst>
              <a:gd name="adj" fmla="val 1683"/>
            </a:avLst>
          </a:prstGeom>
          <a:solidFill>
            <a:srgbClr val="FAFBF8"/>
          </a:solidFill>
          <a:ln w="12700">
            <a:solidFill>
              <a:srgbClr val="E1E6DA"/>
            </a:solidFill>
            <a:prstDash val="solid"/>
          </a:ln>
        </p:spPr>
      </p:sp>
      <p:sp>
        <p:nvSpPr>
          <p:cNvPr id="11" name="Shape 8"/>
          <p:cNvSpPr/>
          <p:nvPr/>
        </p:nvSpPr>
        <p:spPr>
          <a:xfrm>
            <a:off x="6313932" y="1591056"/>
            <a:ext cx="512064" cy="512064"/>
          </a:xfrm>
          <a:prstGeom prst="ellipse">
            <a:avLst/>
          </a:prstGeom>
          <a:solidFill>
            <a:srgbClr val="1F4D36"/>
          </a:solidFill>
          <a:ln/>
        </p:spPr>
      </p:sp>
      <p:pic>
        <p:nvPicPr>
          <p:cNvPr id="12" name="Image 1" descr="icons/bullseye_white.png"/>
          <p:cNvPicPr>
            <a:picLocks noChangeAspect="1"/>
          </p:cNvPicPr>
          <p:nvPr/>
        </p:nvPicPr>
        <p:blipFill>
          <a:blip r:embed="rId4"/>
          <a:stretch>
            <a:fillRect/>
          </a:stretch>
        </p:blipFill>
        <p:spPr>
          <a:xfrm>
            <a:off x="6436827" y="1713951"/>
            <a:ext cx="266273" cy="266273"/>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300" b="1" dirty="0">
                <a:solidFill>
                  <a:srgbClr val="1F4D36"/>
                </a:solidFill>
                <a:latin typeface="Cambria" pitchFamily="34" charset="0"/>
                <a:ea typeface="Cambria" pitchFamily="34" charset="-122"/>
                <a:cs typeface="Cambria" pitchFamily="34" charset="-120"/>
              </a:rPr>
              <a:t>Findings (Qualitative)</a:t>
            </a:r>
            <a:endParaRPr lang="en-US" sz="1300" dirty="0"/>
          </a:p>
        </p:txBody>
      </p:sp>
      <p:sp>
        <p:nvSpPr>
          <p:cNvPr id="14" name="Text 10"/>
          <p:cNvSpPr/>
          <p:nvPr/>
        </p:nvSpPr>
        <p:spPr>
          <a:xfrm>
            <a:off x="6387084" y="2139696"/>
            <a:ext cx="4960620" cy="3054096"/>
          </a:xfrm>
          <a:prstGeom prst="rect">
            <a:avLst/>
          </a:prstGeom>
          <a:noFill/>
          <a:ln/>
        </p:spPr>
        <p:txBody>
          <a:bodyPr wrap="square" rtlCol="0" anchor="ctr"/>
          <a:lstStyle/>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Showed that models trained on visual symptoms can be applied at landscape scale using imagery already collected for other municipal or mapping purposes.</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Detections are not cross-checked against confirmed per-tree infestation ground truth, so no accuracy figure is reported.</a:t>
            </a:r>
            <a:endParaRPr lang="en-US" sz="1030" dirty="0"/>
          </a:p>
        </p:txBody>
      </p:sp>
      <p:sp>
        <p:nvSpPr>
          <p:cNvPr id="15" name="Shape 11"/>
          <p:cNvSpPr/>
          <p:nvPr/>
        </p:nvSpPr>
        <p:spPr>
          <a:xfrm>
            <a:off x="640080" y="5449824"/>
            <a:ext cx="5362956" cy="914400"/>
          </a:xfrm>
          <a:prstGeom prst="roundRect">
            <a:avLst>
              <a:gd name="adj" fmla="val 7000"/>
            </a:avLst>
          </a:prstGeom>
          <a:solidFill>
            <a:srgbClr val="1F4D36"/>
          </a:solidFill>
          <a:ln/>
        </p:spPr>
      </p:sp>
      <p:sp>
        <p:nvSpPr>
          <p:cNvPr id="16" name="Shape 12"/>
          <p:cNvSpPr/>
          <p:nvPr/>
        </p:nvSpPr>
        <p:spPr>
          <a:xfrm>
            <a:off x="786384" y="5541264"/>
            <a:ext cx="402336" cy="402336"/>
          </a:xfrm>
          <a:prstGeom prst="ellipse">
            <a:avLst/>
          </a:prstGeom>
          <a:solidFill>
            <a:srgbClr val="C1440E"/>
          </a:solidFill>
          <a:ln/>
        </p:spPr>
      </p:sp>
      <p:pic>
        <p:nvPicPr>
          <p:cNvPr id="17" name="Image 2"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18" name="Text 13"/>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19" name="Text 14"/>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is the clearest precedent in the literature for extending detection beyond a single-tree decision — it directly motivates the proposed system's spatial-temporal network-analysis layer, which looks at patterns across many trees.</a:t>
            </a:r>
            <a:endParaRPr lang="en-US" sz="840" dirty="0"/>
          </a:p>
        </p:txBody>
      </p:sp>
      <p:sp>
        <p:nvSpPr>
          <p:cNvPr id="20" name="Shape 15"/>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1" name="Shape 16"/>
          <p:cNvSpPr/>
          <p:nvPr/>
        </p:nvSpPr>
        <p:spPr>
          <a:xfrm>
            <a:off x="6332220" y="5541264"/>
            <a:ext cx="402336" cy="402336"/>
          </a:xfrm>
          <a:prstGeom prst="ellipse">
            <a:avLst/>
          </a:prstGeom>
          <a:solidFill>
            <a:srgbClr val="C1440E"/>
          </a:solidFill>
          <a:ln/>
        </p:spPr>
      </p:sp>
      <p:pic>
        <p:nvPicPr>
          <p:cNvPr id="22" name="Image 3" descr="icons/bug_white.png"/>
          <p:cNvPicPr>
            <a:picLocks noChangeAspect="1"/>
          </p:cNvPicPr>
          <p:nvPr/>
        </p:nvPicPr>
        <p:blipFill>
          <a:blip r:embed="rId5"/>
          <a:stretch>
            <a:fillRect/>
          </a:stretch>
        </p:blipFill>
        <p:spPr>
          <a:xfrm>
            <a:off x="6428781" y="5637825"/>
            <a:ext cx="209215" cy="209215"/>
          </a:xfrm>
          <a:prstGeom prst="rect">
            <a:avLst/>
          </a:prstGeom>
        </p:spPr>
      </p:pic>
      <p:sp>
        <p:nvSpPr>
          <p:cNvPr id="23" name="Text 17"/>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4" name="Text 18"/>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landscape-scale detections are never cross-checked against confirmed per-tree infestation ground truth, so the approach can flag risk at scale but cannot yet confirm it — the proposed system combines confirmed per-tree detections with spatial analysis to close this gap.</a:t>
            </a:r>
            <a:endParaRPr lang="en-US" sz="840" dirty="0"/>
          </a:p>
        </p:txBody>
      </p:sp>
      <p:sp>
        <p:nvSpPr>
          <p:cNvPr id="25" name="Text 19"/>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26" name="Text 20"/>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9174175" y="-1828800"/>
            <a:ext cx="5486400" cy="5486400"/>
          </a:xfrm>
          <a:prstGeom prst="ellipse">
            <a:avLst/>
          </a:prstGeom>
          <a:solidFill>
            <a:srgbClr val="1F4D36"/>
          </a:solidFill>
          <a:ln/>
        </p:spPr>
      </p:sp>
      <p:sp>
        <p:nvSpPr>
          <p:cNvPr id="3" name="Text 1"/>
          <p:cNvSpPr/>
          <p:nvPr/>
        </p:nvSpPr>
        <p:spPr>
          <a:xfrm>
            <a:off x="822960" y="502920"/>
            <a:ext cx="7315200" cy="320040"/>
          </a:xfrm>
          <a:prstGeom prst="rect">
            <a:avLst/>
          </a:prstGeom>
          <a:noFill/>
          <a:ln/>
        </p:spPr>
        <p:txBody>
          <a:bodyPr wrap="square" rtlCol="0" anchor="ctr"/>
          <a:lstStyle/>
          <a:p>
            <a:pPr marL="0" indent="0" algn="l">
              <a:buNone/>
            </a:pPr>
            <a:r>
              <a:rPr lang="en-US" sz="1200" b="1" kern="0" spc="200" dirty="0">
                <a:solidFill>
                  <a:srgbClr val="9FD6A8"/>
                </a:solidFill>
                <a:latin typeface="Calibri" pitchFamily="34" charset="0"/>
                <a:ea typeface="Calibri" pitchFamily="34" charset="-122"/>
                <a:cs typeface="Calibri" pitchFamily="34" charset="-120"/>
              </a:rPr>
              <a:t>PROBLEM STATEMENT &amp; AI — VIKRAM</a:t>
            </a:r>
            <a:endParaRPr lang="en-US" sz="1200" dirty="0"/>
          </a:p>
        </p:txBody>
      </p:sp>
      <p:sp>
        <p:nvSpPr>
          <p:cNvPr id="4" name="Text 2"/>
          <p:cNvSpPr/>
          <p:nvPr/>
        </p:nvSpPr>
        <p:spPr>
          <a:xfrm>
            <a:off x="822960" y="822960"/>
            <a:ext cx="100584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Section Synthesis: Problem Statement &amp; AI-Driven Applications</a:t>
            </a:r>
            <a:endParaRPr lang="en-US" sz="2600" dirty="0"/>
          </a:p>
        </p:txBody>
      </p:sp>
      <p:sp>
        <p:nvSpPr>
          <p:cNvPr id="5" name="Shape 3"/>
          <p:cNvSpPr/>
          <p:nvPr/>
        </p:nvSpPr>
        <p:spPr>
          <a:xfrm>
            <a:off x="822960" y="1600200"/>
            <a:ext cx="10515600" cy="2103120"/>
          </a:xfrm>
          <a:prstGeom prst="roundRect">
            <a:avLst>
              <a:gd name="adj" fmla="val 3913"/>
            </a:avLst>
          </a:prstGeom>
          <a:solidFill>
            <a:srgbClr val="1F4D36"/>
          </a:solidFill>
          <a:ln/>
        </p:spPr>
      </p:sp>
      <p:sp>
        <p:nvSpPr>
          <p:cNvPr id="6" name="Shape 4"/>
          <p:cNvSpPr/>
          <p:nvPr/>
        </p:nvSpPr>
        <p:spPr>
          <a:xfrm>
            <a:off x="1211580" y="1805940"/>
            <a:ext cx="685800" cy="685800"/>
          </a:xfrm>
          <a:prstGeom prst="ellipse">
            <a:avLst/>
          </a:prstGeom>
          <a:solidFill>
            <a:srgbClr val="C1440E"/>
          </a:solidFill>
          <a:ln/>
        </p:spPr>
      </p:sp>
      <p:pic>
        <p:nvPicPr>
          <p:cNvPr id="7" name="Image 0" descr="icons/chart_white.png"/>
          <p:cNvPicPr>
            <a:picLocks noChangeAspect="1"/>
          </p:cNvPicPr>
          <p:nvPr/>
        </p:nvPicPr>
        <p:blipFill>
          <a:blip r:embed="rId3"/>
          <a:stretch>
            <a:fillRect/>
          </a:stretch>
        </p:blipFill>
        <p:spPr>
          <a:xfrm>
            <a:off x="1376172" y="1970532"/>
            <a:ext cx="356616" cy="356616"/>
          </a:xfrm>
          <a:prstGeom prst="rect">
            <a:avLst/>
          </a:prstGeom>
        </p:spPr>
      </p:pic>
      <p:sp>
        <p:nvSpPr>
          <p:cNvPr id="8" name="Text 5"/>
          <p:cNvSpPr/>
          <p:nvPr/>
        </p:nvSpPr>
        <p:spPr>
          <a:xfrm>
            <a:off x="2057400" y="1828800"/>
            <a:ext cx="896112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Trend Across These 5 Papers</a:t>
            </a:r>
            <a:endParaRPr lang="en-US" sz="1500" dirty="0"/>
          </a:p>
        </p:txBody>
      </p:sp>
      <p:sp>
        <p:nvSpPr>
          <p:cNvPr id="9" name="Text 6"/>
          <p:cNvSpPr/>
          <p:nvPr/>
        </p:nvSpPr>
        <p:spPr>
          <a:xfrm>
            <a:off x="1097280" y="2606040"/>
            <a:ext cx="9966960" cy="1005840"/>
          </a:xfrm>
          <a:prstGeom prst="rect">
            <a:avLst/>
          </a:prstGeom>
          <a:noFill/>
          <a:ln/>
        </p:spPr>
        <p:txBody>
          <a:bodyPr wrap="square" rtlCol="0" anchor="t"/>
          <a:lstStyle/>
          <a:p>
            <a:pPr marL="0" indent="0">
              <a:lnSpc>
                <a:spcPct val="122000"/>
              </a:lnSpc>
              <a:buNone/>
            </a:pPr>
            <a:r>
              <a:rPr lang="en-US" sz="1150" dirty="0">
                <a:solidFill>
                  <a:srgbClr val="E4EBE0"/>
                </a:solidFill>
                <a:latin typeface="Calibri" pitchFamily="34" charset="0"/>
                <a:ea typeface="Calibri" pitchFamily="34" charset="-122"/>
                <a:cs typeface="Calibri" pitchFamily="34" charset="-120"/>
              </a:rPr>
              <a:t>A clear trajectory emerges across these five papers: proof that acoustic sensing works at all (Soroker) → validation under real field noise conditions (Faleiro) → IoT-connected, edge-deployable thermal-imaging hardware (Martin) → deep-learning-based visual localisation of the pest and its damage (Alsanea) → and finally landscape-scale, AI-driven surveillance across many trees at once (Kagan). Together, sensing technology and AI methods have grown steadily more sophisticated over this progression.</a:t>
            </a:r>
            <a:endParaRPr lang="en-US" sz="1150" dirty="0"/>
          </a:p>
        </p:txBody>
      </p:sp>
      <p:sp>
        <p:nvSpPr>
          <p:cNvPr id="10" name="Shape 7"/>
          <p:cNvSpPr/>
          <p:nvPr/>
        </p:nvSpPr>
        <p:spPr>
          <a:xfrm>
            <a:off x="822960" y="3886200"/>
            <a:ext cx="10515600" cy="2514600"/>
          </a:xfrm>
          <a:prstGeom prst="roundRect">
            <a:avLst>
              <a:gd name="adj" fmla="val 3273"/>
            </a:avLst>
          </a:prstGeom>
          <a:solidFill>
            <a:srgbClr val="17372A"/>
          </a:solidFill>
          <a:ln w="15875">
            <a:solidFill>
              <a:srgbClr val="C1440E"/>
            </a:solidFill>
            <a:prstDash val="solid"/>
          </a:ln>
        </p:spPr>
      </p:sp>
      <p:sp>
        <p:nvSpPr>
          <p:cNvPr id="11" name="Shape 8"/>
          <p:cNvSpPr/>
          <p:nvPr/>
        </p:nvSpPr>
        <p:spPr>
          <a:xfrm>
            <a:off x="1211580" y="4091940"/>
            <a:ext cx="685800" cy="685800"/>
          </a:xfrm>
          <a:prstGeom prst="ellipse">
            <a:avLst/>
          </a:prstGeom>
          <a:solidFill>
            <a:srgbClr val="C1440E"/>
          </a:solidFill>
          <a:ln/>
        </p:spPr>
      </p:sp>
      <p:pic>
        <p:nvPicPr>
          <p:cNvPr id="12" name="Image 1" descr="icons/bug_white.png"/>
          <p:cNvPicPr>
            <a:picLocks noChangeAspect="1"/>
          </p:cNvPicPr>
          <p:nvPr/>
        </p:nvPicPr>
        <p:blipFill>
          <a:blip r:embed="rId4"/>
          <a:stretch>
            <a:fillRect/>
          </a:stretch>
        </p:blipFill>
        <p:spPr>
          <a:xfrm>
            <a:off x="1376172" y="4256532"/>
            <a:ext cx="356616" cy="356616"/>
          </a:xfrm>
          <a:prstGeom prst="rect">
            <a:avLst/>
          </a:prstGeom>
        </p:spPr>
      </p:pic>
      <p:sp>
        <p:nvSpPr>
          <p:cNvPr id="13" name="Text 9"/>
          <p:cNvSpPr/>
          <p:nvPr/>
        </p:nvSpPr>
        <p:spPr>
          <a:xfrm>
            <a:off x="2057400" y="4114800"/>
            <a:ext cx="8961120" cy="411480"/>
          </a:xfrm>
          <a:prstGeom prst="rect">
            <a:avLst/>
          </a:prstGeom>
          <a:noFill/>
          <a:ln/>
        </p:spPr>
        <p:txBody>
          <a:bodyPr wrap="square" rtlCol="0" anchor="ctr"/>
          <a:lstStyle/>
          <a:p>
            <a:pPr marL="0" indent="0">
              <a:buNone/>
            </a:pPr>
            <a:r>
              <a:rPr lang="en-US" sz="1500" b="1" dirty="0">
                <a:solidFill>
                  <a:srgbClr val="FFD9BE"/>
                </a:solidFill>
                <a:latin typeface="Cambria" pitchFamily="34" charset="0"/>
                <a:ea typeface="Cambria" pitchFamily="34" charset="-122"/>
                <a:cs typeface="Cambria" pitchFamily="34" charset="-120"/>
              </a:rPr>
              <a:t>Collective Research Gap for This Theme</a:t>
            </a:r>
            <a:endParaRPr lang="en-US" sz="1500" dirty="0"/>
          </a:p>
        </p:txBody>
      </p:sp>
      <p:sp>
        <p:nvSpPr>
          <p:cNvPr id="14" name="Text 10"/>
          <p:cNvSpPr/>
          <p:nvPr/>
        </p:nvSpPr>
        <p:spPr>
          <a:xfrm>
            <a:off x="1097280" y="4892040"/>
            <a:ext cx="9966960" cy="1371600"/>
          </a:xfrm>
          <a:prstGeom prst="rect">
            <a:avLst/>
          </a:prstGeom>
          <a:noFill/>
          <a:ln/>
        </p:spPr>
        <p:txBody>
          <a:bodyPr wrap="square" rtlCol="0" anchor="t"/>
          <a:lstStyle/>
          <a:p>
            <a:pPr marL="0" indent="0">
              <a:lnSpc>
                <a:spcPct val="122000"/>
              </a:lnSpc>
              <a:buNone/>
            </a:pPr>
            <a:r>
              <a:rPr lang="en-US" sz="1150" i="1" dirty="0">
                <a:solidFill>
                  <a:srgbClr val="F0DFD3"/>
                </a:solidFill>
                <a:latin typeface="Calibri" pitchFamily="34" charset="0"/>
                <a:ea typeface="Calibri" pitchFamily="34" charset="-122"/>
                <a:cs typeface="Calibri" pitchFamily="34" charset="-120"/>
              </a:rPr>
              <a:t>Even as this progression matured, every one of these five studies still makes an isolated, per-tree, per-scan decision. None explicitly models how infestation risk is spatially or temporally correlated across neighbouring trees on the same plantation — this is precisely the gap the proposed system's spatial-temporal network-analysis layer is designed to close, by tagging per-tree confidence with location and timestamp and analysing them as a graph.</a:t>
            </a:r>
            <a:endParaRPr lang="en-US" sz="1150" dirty="0"/>
          </a:p>
        </p:txBody>
      </p:sp>
      <p:sp>
        <p:nvSpPr>
          <p:cNvPr id="15" name="Text 11"/>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16" name="Text 12"/>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8351215" y="-1828800"/>
            <a:ext cx="5943600" cy="5943600"/>
          </a:xfrm>
          <a:prstGeom prst="ellipse">
            <a:avLst/>
          </a:prstGeom>
          <a:solidFill>
            <a:srgbClr val="1F4D36"/>
          </a:solidFill>
          <a:ln/>
        </p:spPr>
      </p:sp>
      <p:sp>
        <p:nvSpPr>
          <p:cNvPr id="3" name="Shape 1"/>
          <p:cNvSpPr/>
          <p:nvPr/>
        </p:nvSpPr>
        <p:spPr>
          <a:xfrm>
            <a:off x="9814255" y="3931920"/>
            <a:ext cx="3657600" cy="3657600"/>
          </a:xfrm>
          <a:prstGeom prst="ellipse">
            <a:avLst/>
          </a:prstGeom>
          <a:solidFill>
            <a:srgbClr val="6E8F52"/>
          </a:solidFill>
          <a:ln/>
        </p:spPr>
      </p:sp>
      <p:sp>
        <p:nvSpPr>
          <p:cNvPr id="4" name="Shape 2"/>
          <p:cNvSpPr/>
          <p:nvPr/>
        </p:nvSpPr>
        <p:spPr>
          <a:xfrm>
            <a:off x="868680" y="2286000"/>
            <a:ext cx="1371600" cy="1371600"/>
          </a:xfrm>
          <a:prstGeom prst="ellipse">
            <a:avLst/>
          </a:prstGeom>
          <a:solidFill>
            <a:srgbClr val="C1440E"/>
          </a:solidFill>
          <a:ln/>
        </p:spPr>
      </p:sp>
      <p:pic>
        <p:nvPicPr>
          <p:cNvPr id="5" name="Image 0" descr="icons/database_white.png"/>
          <p:cNvPicPr>
            <a:picLocks noChangeAspect="1"/>
          </p:cNvPicPr>
          <p:nvPr/>
        </p:nvPicPr>
        <p:blipFill>
          <a:blip r:embed="rId3"/>
          <a:stretch>
            <a:fillRect/>
          </a:stretch>
        </p:blipFill>
        <p:spPr>
          <a:xfrm>
            <a:off x="1197864" y="2615184"/>
            <a:ext cx="713232" cy="713232"/>
          </a:xfrm>
          <a:prstGeom prst="rect">
            <a:avLst/>
          </a:prstGeom>
        </p:spPr>
      </p:pic>
      <p:sp>
        <p:nvSpPr>
          <p:cNvPr id="6" name="Text 3"/>
          <p:cNvSpPr/>
          <p:nvPr/>
        </p:nvSpPr>
        <p:spPr>
          <a:xfrm>
            <a:off x="3383280" y="2331720"/>
            <a:ext cx="7315200" cy="320040"/>
          </a:xfrm>
          <a:prstGeom prst="rect">
            <a:avLst/>
          </a:prstGeom>
          <a:noFill/>
          <a:ln/>
        </p:spPr>
        <p:txBody>
          <a:bodyPr wrap="square" rtlCol="0" anchor="ctr"/>
          <a:lstStyle/>
          <a:p>
            <a:pPr marL="0" indent="0" algn="l">
              <a:buNone/>
            </a:pPr>
            <a:r>
              <a:rPr lang="en-US" sz="1200" b="1" kern="0" spc="200" dirty="0">
                <a:solidFill>
                  <a:srgbClr val="C9D6BE"/>
                </a:solidFill>
                <a:latin typeface="Calibri" pitchFamily="34" charset="0"/>
                <a:ea typeface="Calibri" pitchFamily="34" charset="-122"/>
                <a:cs typeface="Calibri" pitchFamily="34" charset="-120"/>
              </a:rPr>
              <a:t>LITERATURE REVIEW · PART 2 OF 3</a:t>
            </a:r>
            <a:endParaRPr lang="en-US" sz="1200" dirty="0"/>
          </a:p>
        </p:txBody>
      </p:sp>
      <p:sp>
        <p:nvSpPr>
          <p:cNvPr id="7" name="Text 4"/>
          <p:cNvSpPr/>
          <p:nvPr/>
        </p:nvSpPr>
        <p:spPr>
          <a:xfrm>
            <a:off x="3383280" y="2697480"/>
            <a:ext cx="7863840" cy="1463040"/>
          </a:xfrm>
          <a:prstGeom prst="rect">
            <a:avLst/>
          </a:prstGeom>
          <a:noFill/>
          <a:ln/>
        </p:spPr>
        <p:txBody>
          <a:bodyPr wrap="square" rtlCol="0" anchor="t"/>
          <a:lstStyle/>
          <a:p>
            <a:pPr marL="0" indent="0" algn="l">
              <a:buNone/>
            </a:pPr>
            <a:r>
              <a:rPr lang="en-US" sz="3400" b="1" dirty="0">
                <a:solidFill>
                  <a:srgbClr val="FFFFFF"/>
                </a:solidFill>
                <a:latin typeface="Cambria" pitchFamily="34" charset="0"/>
                <a:ea typeface="Cambria" pitchFamily="34" charset="-122"/>
                <a:cs typeface="Cambria" pitchFamily="34" charset="-120"/>
              </a:rPr>
              <a:t>Datasets for RPW &amp; Coconut Pest Detection</a:t>
            </a:r>
            <a:endParaRPr lang="en-US" sz="3400" dirty="0"/>
          </a:p>
        </p:txBody>
      </p:sp>
      <p:sp>
        <p:nvSpPr>
          <p:cNvPr id="8" name="Text 5"/>
          <p:cNvSpPr/>
          <p:nvPr/>
        </p:nvSpPr>
        <p:spPr>
          <a:xfrm>
            <a:off x="3383280" y="4069080"/>
            <a:ext cx="7863840" cy="457200"/>
          </a:xfrm>
          <a:prstGeom prst="rect">
            <a:avLst/>
          </a:prstGeom>
          <a:noFill/>
          <a:ln/>
        </p:spPr>
        <p:txBody>
          <a:bodyPr wrap="square" rtlCol="0" anchor="ctr"/>
          <a:lstStyle/>
          <a:p>
            <a:pPr marL="0" indent="0" algn="l">
              <a:buNone/>
            </a:pPr>
            <a:r>
              <a:rPr lang="en-US" sz="1600" dirty="0">
                <a:solidFill>
                  <a:srgbClr val="C9D6BE"/>
                </a:solidFill>
                <a:latin typeface="Calibri" pitchFamily="34" charset="0"/>
                <a:ea typeface="Calibri" pitchFamily="34" charset="-122"/>
                <a:cs typeface="Calibri" pitchFamily="34" charset="-120"/>
              </a:rPr>
              <a:t>Presented by  </a:t>
            </a:r>
            <a:r>
              <a:rPr lang="en-US" sz="1600" b="1" dirty="0">
                <a:solidFill>
                  <a:srgbClr val="FFFFFF"/>
                </a:solidFill>
                <a:latin typeface="Calibri" pitchFamily="34" charset="0"/>
                <a:ea typeface="Calibri" pitchFamily="34" charset="-122"/>
                <a:cs typeface="Calibri" pitchFamily="34" charset="-120"/>
              </a:rPr>
              <a:t>Akshath</a:t>
            </a:r>
            <a:r>
              <a:rPr lang="en-US" sz="1600" dirty="0">
                <a:solidFill>
                  <a:srgbClr val="C9D6BE"/>
                </a:solidFill>
                <a:latin typeface="Calibri" pitchFamily="34" charset="0"/>
                <a:ea typeface="Calibri" pitchFamily="34" charset="-122"/>
                <a:cs typeface="Calibri" pitchFamily="34" charset="-120"/>
              </a:rPr>
              <a:t>   |   CB.SC.P2AIE26004</a:t>
            </a:r>
            <a:endParaRPr lang="en-US" sz="1600" dirty="0"/>
          </a:p>
        </p:txBody>
      </p:sp>
      <p:sp>
        <p:nvSpPr>
          <p:cNvPr id="9" name="Text 6"/>
          <p:cNvSpPr/>
          <p:nvPr/>
        </p:nvSpPr>
        <p:spPr>
          <a:xfrm>
            <a:off x="3383280" y="4526280"/>
            <a:ext cx="7863840" cy="365760"/>
          </a:xfrm>
          <a:prstGeom prst="rect">
            <a:avLst/>
          </a:prstGeom>
          <a:noFill/>
          <a:ln/>
        </p:spPr>
        <p:txBody>
          <a:bodyPr wrap="square" rtlCol="0" anchor="ctr"/>
          <a:lstStyle/>
          <a:p>
            <a:pPr marL="0" indent="0">
              <a:buNone/>
            </a:pPr>
            <a:r>
              <a:rPr lang="en-US" sz="1200" i="1" dirty="0">
                <a:solidFill>
                  <a:srgbClr val="9FD6A8"/>
                </a:solidFill>
                <a:latin typeface="Calibri" pitchFamily="34" charset="0"/>
                <a:ea typeface="Calibri" pitchFamily="34" charset="-122"/>
                <a:cs typeface="Calibri" pitchFamily="34" charset="-120"/>
              </a:rPr>
              <a:t>5 papers · overview, relevance &amp; research gap for each</a:t>
            </a:r>
            <a:endParaRPr lang="en-US" sz="1200" dirty="0"/>
          </a:p>
        </p:txBody>
      </p:sp>
      <p:sp>
        <p:nvSpPr>
          <p:cNvPr id="10" name="Text 7"/>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11" name="Text 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6E8F52"/>
                </a:solidFill>
                <a:latin typeface="Calibri" pitchFamily="34" charset="0"/>
                <a:ea typeface="Calibri" pitchFamily="34" charset="-122"/>
                <a:cs typeface="Calibri" pitchFamily="34" charset="-120"/>
              </a:rPr>
              <a:t>DATASETS — AKSHATH</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Curated Dataset with Classical ML Benchmarking</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Kurdi, Al-Aldawsari, Al-Turaiki &amp; Aldawood, 2021 · Plants</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6E8F52"/>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Benchmarked a wide range of classical machine-learning classifiers for early-stage RPW infection prediction — Naive Bayes, KSTAR, AdaBoost, Bagging, PART, J48, MLP, SVM, Random Forest, and Logistic Regression.</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Relies on careful feature engineering rather than deep learning to extract informative signals before classification.</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6E8F52"/>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on a genuine, real-world RPW dataset (rather than synthetic or lab-simulated data).</a:t>
            </a:r>
            <a:endParaRPr lang="en-US" sz="900" dirty="0"/>
          </a:p>
        </p:txBody>
      </p:sp>
      <p:sp>
        <p:nvSpPr>
          <p:cNvPr id="15" name="Shape 11"/>
          <p:cNvSpPr/>
          <p:nvPr/>
        </p:nvSpPr>
        <p:spPr>
          <a:xfrm>
            <a:off x="640080" y="3474720"/>
            <a:ext cx="5362956"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6E8F52"/>
          </a:solidFill>
          <a:ln/>
        </p:spPr>
      </p:sp>
      <p:pic>
        <p:nvPicPr>
          <p:cNvPr id="17" name="Image 2" descr="icons/chart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 &amp; Metrics</a:t>
            </a:r>
            <a:endParaRPr lang="en-US" sz="1200" dirty="0"/>
          </a:p>
        </p:txBody>
      </p:sp>
      <p:sp>
        <p:nvSpPr>
          <p:cNvPr id="19" name="Text 14"/>
          <p:cNvSpPr/>
          <p:nvPr/>
        </p:nvSpPr>
        <p:spPr>
          <a:xfrm>
            <a:off x="841248"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Detection algorithms were assessed using accuracy, precision, recall, and F1-score.</a:t>
            </a:r>
            <a:endParaRPr lang="en-US" sz="900" dirty="0"/>
          </a:p>
        </p:txBody>
      </p:sp>
      <p:sp>
        <p:nvSpPr>
          <p:cNvPr id="20" name="Shape 15"/>
          <p:cNvSpPr/>
          <p:nvPr/>
        </p:nvSpPr>
        <p:spPr>
          <a:xfrm>
            <a:off x="6185916" y="3474720"/>
            <a:ext cx="5362956" cy="1847088"/>
          </a:xfrm>
          <a:prstGeom prst="roundRect">
            <a:avLst>
              <a:gd name="adj" fmla="val 3465"/>
            </a:avLst>
          </a:prstGeom>
          <a:solidFill>
            <a:srgbClr val="FAFBF8"/>
          </a:solidFill>
          <a:ln w="12700">
            <a:solidFill>
              <a:srgbClr val="E1E6DA"/>
            </a:solidFill>
            <a:prstDash val="solid"/>
          </a:ln>
        </p:spPr>
      </p:sp>
      <p:sp>
        <p:nvSpPr>
          <p:cNvPr id="21" name="Shape 16"/>
          <p:cNvSpPr/>
          <p:nvPr/>
        </p:nvSpPr>
        <p:spPr>
          <a:xfrm>
            <a:off x="6350508" y="3584448"/>
            <a:ext cx="438912" cy="438912"/>
          </a:xfrm>
          <a:prstGeom prst="ellipse">
            <a:avLst/>
          </a:prstGeom>
          <a:solidFill>
            <a:srgbClr val="6E8F52"/>
          </a:solidFill>
          <a:ln/>
        </p:spPr>
      </p:sp>
      <p:pic>
        <p:nvPicPr>
          <p:cNvPr id="22" name="Image 3" descr="icons/bullseye_white.png"/>
          <p:cNvPicPr>
            <a:picLocks noChangeAspect="1"/>
          </p:cNvPicPr>
          <p:nvPr/>
        </p:nvPicPr>
        <p:blipFill>
          <a:blip r:embed="rId6"/>
          <a:stretch>
            <a:fillRect/>
          </a:stretch>
        </p:blipFill>
        <p:spPr>
          <a:xfrm>
            <a:off x="6455847" y="3689787"/>
            <a:ext cx="228234" cy="228234"/>
          </a:xfrm>
          <a:prstGeom prst="rect">
            <a:avLst/>
          </a:prstGeom>
        </p:spPr>
      </p:pic>
      <p:sp>
        <p:nvSpPr>
          <p:cNvPr id="23" name="Text 17"/>
          <p:cNvSpPr/>
          <p:nvPr/>
        </p:nvSpPr>
        <p:spPr>
          <a:xfrm>
            <a:off x="6862572"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Key Results</a:t>
            </a:r>
            <a:endParaRPr lang="en-US" sz="1200" dirty="0"/>
          </a:p>
        </p:txBody>
      </p:sp>
      <p:sp>
        <p:nvSpPr>
          <p:cNvPr id="24" name="Text 18"/>
          <p:cNvSpPr/>
          <p:nvPr/>
        </p:nvSpPr>
        <p:spPr>
          <a:xfrm>
            <a:off x="6387084"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RPW infections could be predicted with an accuracy of approximately 93% using the best-performing classical classifier.</a:t>
            </a:r>
            <a:endParaRPr lang="en-US" sz="900" dirty="0"/>
          </a:p>
        </p:txBody>
      </p:sp>
      <p:sp>
        <p:nvSpPr>
          <p:cNvPr id="25" name="Shape 19"/>
          <p:cNvSpPr/>
          <p:nvPr/>
        </p:nvSpPr>
        <p:spPr>
          <a:xfrm>
            <a:off x="640080" y="5449824"/>
            <a:ext cx="5362956" cy="914400"/>
          </a:xfrm>
          <a:prstGeom prst="roundRect">
            <a:avLst>
              <a:gd name="adj" fmla="val 7000"/>
            </a:avLst>
          </a:prstGeom>
          <a:solidFill>
            <a:srgbClr val="1F4D36"/>
          </a:solidFill>
          <a:ln/>
        </p:spPr>
      </p:sp>
      <p:sp>
        <p:nvSpPr>
          <p:cNvPr id="26" name="Shape 20"/>
          <p:cNvSpPr/>
          <p:nvPr/>
        </p:nvSpPr>
        <p:spPr>
          <a:xfrm>
            <a:off x="786384" y="5541264"/>
            <a:ext cx="402336" cy="402336"/>
          </a:xfrm>
          <a:prstGeom prst="ellipse">
            <a:avLst/>
          </a:prstGeom>
          <a:solidFill>
            <a:srgbClr val="C1440E"/>
          </a:solidFill>
          <a:ln/>
        </p:spPr>
      </p:sp>
      <p:pic>
        <p:nvPicPr>
          <p:cNvPr id="27" name="Image 4"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8" name="Text 21"/>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9" name="Text 22"/>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paper is a useful accuracy floor — it shows what is achievable with classical methods before the added complexity of a deep-learning pipeline, helping justify the proposed CNN-BiGRU audio branch and YOLO visual branch.</a:t>
            </a:r>
            <a:endParaRPr lang="en-US" sz="840" dirty="0"/>
          </a:p>
        </p:txBody>
      </p:sp>
      <p:sp>
        <p:nvSpPr>
          <p:cNvPr id="30" name="Shape 23"/>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31" name="Shape 24"/>
          <p:cNvSpPr/>
          <p:nvPr/>
        </p:nvSpPr>
        <p:spPr>
          <a:xfrm>
            <a:off x="6332220" y="5541264"/>
            <a:ext cx="402336" cy="402336"/>
          </a:xfrm>
          <a:prstGeom prst="ellipse">
            <a:avLst/>
          </a:prstGeom>
          <a:solidFill>
            <a:srgbClr val="C1440E"/>
          </a:solidFill>
          <a:ln/>
        </p:spPr>
      </p:sp>
      <p:pic>
        <p:nvPicPr>
          <p:cNvPr id="32" name="Image 5" descr="icons/bug_white.png"/>
          <p:cNvPicPr>
            <a:picLocks noChangeAspect="1"/>
          </p:cNvPicPr>
          <p:nvPr/>
        </p:nvPicPr>
        <p:blipFill>
          <a:blip r:embed="rId7"/>
          <a:stretch>
            <a:fillRect/>
          </a:stretch>
        </p:blipFill>
        <p:spPr>
          <a:xfrm>
            <a:off x="6428781" y="5637825"/>
            <a:ext cx="209215" cy="209215"/>
          </a:xfrm>
          <a:prstGeom prst="rect">
            <a:avLst/>
          </a:prstGeom>
        </p:spPr>
      </p:pic>
      <p:sp>
        <p:nvSpPr>
          <p:cNvPr id="33" name="Text 25"/>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34" name="Text 26"/>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dataset is comparatively small and the study uses no deep learning at all, which limits how well its models would generalise to the more varied acoustic and visual conditions a field-deployed system like the one proposed here would encounter.</a:t>
            </a:r>
            <a:endParaRPr lang="en-US" sz="840" dirty="0"/>
          </a:p>
        </p:txBody>
      </p:sp>
      <p:sp>
        <p:nvSpPr>
          <p:cNvPr id="35" name="Text 27"/>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6" name="Text 2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6E8F52"/>
                </a:solidFill>
                <a:latin typeface="Calibri" pitchFamily="34" charset="0"/>
                <a:ea typeface="Calibri" pitchFamily="34" charset="-122"/>
                <a:cs typeface="Calibri" pitchFamily="34" charset="-120"/>
              </a:rPr>
              <a:t>DATASETS — AKSHATH</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Acoustic-to-Image Dataset Conversion</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Boulila et al., 2023 · IEEE Internet of Things Journal</a:t>
            </a:r>
            <a:endParaRPr lang="en-US" sz="930" dirty="0"/>
          </a:p>
        </p:txBody>
      </p:sp>
      <p:sp>
        <p:nvSpPr>
          <p:cNvPr id="5" name="Shape 3"/>
          <p:cNvSpPr/>
          <p:nvPr/>
        </p:nvSpPr>
        <p:spPr>
          <a:xfrm>
            <a:off x="640080" y="1517904"/>
            <a:ext cx="5362956" cy="3803904"/>
          </a:xfrm>
          <a:prstGeom prst="roundRect">
            <a:avLst>
              <a:gd name="adj" fmla="val 1683"/>
            </a:avLst>
          </a:prstGeom>
          <a:solidFill>
            <a:srgbClr val="FAFBF8"/>
          </a:solidFill>
          <a:ln w="12700">
            <a:solidFill>
              <a:srgbClr val="E1E6DA"/>
            </a:solidFill>
            <a:prstDash val="solid"/>
          </a:ln>
        </p:spPr>
      </p:sp>
      <p:sp>
        <p:nvSpPr>
          <p:cNvPr id="6" name="Shape 4"/>
          <p:cNvSpPr/>
          <p:nvPr/>
        </p:nvSpPr>
        <p:spPr>
          <a:xfrm>
            <a:off x="768096" y="1591056"/>
            <a:ext cx="512064" cy="512064"/>
          </a:xfrm>
          <a:prstGeom prst="ellipse">
            <a:avLst/>
          </a:prstGeom>
          <a:solidFill>
            <a:srgbClr val="6E8F52"/>
          </a:solidFill>
          <a:ln/>
        </p:spPr>
      </p:sp>
      <p:pic>
        <p:nvPicPr>
          <p:cNvPr id="7" name="Image 0" descr="icons/network_white.png"/>
          <p:cNvPicPr>
            <a:picLocks noChangeAspect="1"/>
          </p:cNvPicPr>
          <p:nvPr/>
        </p:nvPicPr>
        <p:blipFill>
          <a:blip r:embed="rId3"/>
          <a:stretch>
            <a:fillRect/>
          </a:stretch>
        </p:blipFill>
        <p:spPr>
          <a:xfrm>
            <a:off x="890991" y="1713951"/>
            <a:ext cx="266273" cy="266273"/>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300" b="1" dirty="0">
                <a:solidFill>
                  <a:srgbClr val="1F4D36"/>
                </a:solidFill>
                <a:latin typeface="Cambria" pitchFamily="34" charset="0"/>
                <a:ea typeface="Cambria" pitchFamily="34" charset="-122"/>
                <a:cs typeface="Cambria" pitchFamily="34" charset="-120"/>
              </a:rPr>
              <a:t>Methodology</a:t>
            </a:r>
            <a:endParaRPr lang="en-US" sz="1300" dirty="0"/>
          </a:p>
        </p:txBody>
      </p:sp>
      <p:sp>
        <p:nvSpPr>
          <p:cNvPr id="9" name="Text 6"/>
          <p:cNvSpPr/>
          <p:nvPr/>
        </p:nvSpPr>
        <p:spPr>
          <a:xfrm>
            <a:off x="841248" y="2139696"/>
            <a:ext cx="4960620" cy="3054096"/>
          </a:xfrm>
          <a:prstGeom prst="rect">
            <a:avLst/>
          </a:prstGeom>
          <a:noFill/>
          <a:ln/>
        </p:spPr>
        <p:txBody>
          <a:bodyPr wrap="square" rtlCol="0" anchor="ctr"/>
          <a:lstStyle/>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Introduces a dataset-construction strategy that converts raw RPW acoustic signals into image-like spectrogram representations.</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This reframing turns a one-dimensional, time-series audio-classification problem into a two-dimensional image-classification problem.</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Enables established image-classification architectures — ResNet50V2, VGG19, and DenseNet121 — to be applied directly to acoustic RPW data.</a:t>
            </a:r>
            <a:endParaRPr lang="en-US" sz="1030" dirty="0"/>
          </a:p>
        </p:txBody>
      </p:sp>
      <p:sp>
        <p:nvSpPr>
          <p:cNvPr id="10" name="Shape 7"/>
          <p:cNvSpPr/>
          <p:nvPr/>
        </p:nvSpPr>
        <p:spPr>
          <a:xfrm>
            <a:off x="6185916" y="1517904"/>
            <a:ext cx="5362956" cy="3803904"/>
          </a:xfrm>
          <a:prstGeom prst="roundRect">
            <a:avLst>
              <a:gd name="adj" fmla="val 1683"/>
            </a:avLst>
          </a:prstGeom>
          <a:solidFill>
            <a:srgbClr val="FAFBF8"/>
          </a:solidFill>
          <a:ln w="12700">
            <a:solidFill>
              <a:srgbClr val="E1E6DA"/>
            </a:solidFill>
            <a:prstDash val="solid"/>
          </a:ln>
        </p:spPr>
      </p:sp>
      <p:sp>
        <p:nvSpPr>
          <p:cNvPr id="11" name="Shape 8"/>
          <p:cNvSpPr/>
          <p:nvPr/>
        </p:nvSpPr>
        <p:spPr>
          <a:xfrm>
            <a:off x="6313932" y="1591056"/>
            <a:ext cx="512064" cy="512064"/>
          </a:xfrm>
          <a:prstGeom prst="ellipse">
            <a:avLst/>
          </a:prstGeom>
          <a:solidFill>
            <a:srgbClr val="6E8F52"/>
          </a:solidFill>
          <a:ln/>
        </p:spPr>
      </p:sp>
      <p:pic>
        <p:nvPicPr>
          <p:cNvPr id="12" name="Image 1" descr="icons/bullseye_white.png"/>
          <p:cNvPicPr>
            <a:picLocks noChangeAspect="1"/>
          </p:cNvPicPr>
          <p:nvPr/>
        </p:nvPicPr>
        <p:blipFill>
          <a:blip r:embed="rId4"/>
          <a:stretch>
            <a:fillRect/>
          </a:stretch>
        </p:blipFill>
        <p:spPr>
          <a:xfrm>
            <a:off x="6436827" y="1713951"/>
            <a:ext cx="266273" cy="266273"/>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300" b="1" dirty="0">
                <a:solidFill>
                  <a:srgbClr val="1F4D36"/>
                </a:solidFill>
                <a:latin typeface="Cambria" pitchFamily="34" charset="0"/>
                <a:ea typeface="Cambria" pitchFamily="34" charset="-122"/>
                <a:cs typeface="Cambria" pitchFamily="34" charset="-120"/>
              </a:rPr>
              <a:t>Findings (Qualitative)</a:t>
            </a:r>
            <a:endParaRPr lang="en-US" sz="1300" dirty="0"/>
          </a:p>
        </p:txBody>
      </p:sp>
      <p:sp>
        <p:nvSpPr>
          <p:cNvPr id="14" name="Text 10"/>
          <p:cNvSpPr/>
          <p:nvPr/>
        </p:nvSpPr>
        <p:spPr>
          <a:xfrm>
            <a:off x="6387084" y="2139696"/>
            <a:ext cx="4960620" cy="3054096"/>
          </a:xfrm>
          <a:prstGeom prst="rect">
            <a:avLst/>
          </a:prstGeom>
          <a:noFill/>
          <a:ln/>
        </p:spPr>
        <p:txBody>
          <a:bodyPr wrap="square" rtlCol="0" anchor="ctr"/>
          <a:lstStyle/>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The spectrogram-conversion approach has since become a widely reused technique across acoustic pest-detection research.</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No dataset size or accuracy figure specific to this study is reported in the reviewed literature.</a:t>
            </a:r>
            <a:endParaRPr lang="en-US" sz="1030" dirty="0"/>
          </a:p>
        </p:txBody>
      </p:sp>
      <p:sp>
        <p:nvSpPr>
          <p:cNvPr id="15" name="Shape 11"/>
          <p:cNvSpPr/>
          <p:nvPr/>
        </p:nvSpPr>
        <p:spPr>
          <a:xfrm>
            <a:off x="640080" y="5449824"/>
            <a:ext cx="5362956" cy="914400"/>
          </a:xfrm>
          <a:prstGeom prst="roundRect">
            <a:avLst>
              <a:gd name="adj" fmla="val 7000"/>
            </a:avLst>
          </a:prstGeom>
          <a:solidFill>
            <a:srgbClr val="1F4D36"/>
          </a:solidFill>
          <a:ln/>
        </p:spPr>
      </p:sp>
      <p:sp>
        <p:nvSpPr>
          <p:cNvPr id="16" name="Shape 12"/>
          <p:cNvSpPr/>
          <p:nvPr/>
        </p:nvSpPr>
        <p:spPr>
          <a:xfrm>
            <a:off x="786384" y="5541264"/>
            <a:ext cx="402336" cy="402336"/>
          </a:xfrm>
          <a:prstGeom prst="ellipse">
            <a:avLst/>
          </a:prstGeom>
          <a:solidFill>
            <a:srgbClr val="C1440E"/>
          </a:solidFill>
          <a:ln/>
        </p:spPr>
      </p:sp>
      <p:pic>
        <p:nvPicPr>
          <p:cNvPr id="17" name="Image 2"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18" name="Text 13"/>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19" name="Text 14"/>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conversion strategy is the direct basis for how the proposed system's audio branch preprocesses TreeVibes recordings — raw acoustic signals are converted into spectrograms before entering the CNN front end.</a:t>
            </a:r>
            <a:endParaRPr lang="en-US" sz="840" dirty="0"/>
          </a:p>
        </p:txBody>
      </p:sp>
      <p:sp>
        <p:nvSpPr>
          <p:cNvPr id="20" name="Shape 15"/>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1" name="Shape 16"/>
          <p:cNvSpPr/>
          <p:nvPr/>
        </p:nvSpPr>
        <p:spPr>
          <a:xfrm>
            <a:off x="6332220" y="5541264"/>
            <a:ext cx="402336" cy="402336"/>
          </a:xfrm>
          <a:prstGeom prst="ellipse">
            <a:avLst/>
          </a:prstGeom>
          <a:solidFill>
            <a:srgbClr val="C1440E"/>
          </a:solidFill>
          <a:ln/>
        </p:spPr>
      </p:sp>
      <p:pic>
        <p:nvPicPr>
          <p:cNvPr id="22" name="Image 3" descr="icons/bug_white.png"/>
          <p:cNvPicPr>
            <a:picLocks noChangeAspect="1"/>
          </p:cNvPicPr>
          <p:nvPr/>
        </p:nvPicPr>
        <p:blipFill>
          <a:blip r:embed="rId5"/>
          <a:stretch>
            <a:fillRect/>
          </a:stretch>
        </p:blipFill>
        <p:spPr>
          <a:xfrm>
            <a:off x="6428781" y="5637825"/>
            <a:ext cx="209215" cy="209215"/>
          </a:xfrm>
          <a:prstGeom prst="rect">
            <a:avLst/>
          </a:prstGeom>
        </p:spPr>
      </p:pic>
      <p:sp>
        <p:nvSpPr>
          <p:cNvPr id="23" name="Text 17"/>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4" name="Text 18"/>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Converting audio into spectrogram images adds a preprocessing step and computational overhead compared to working with the raw waveform, and can discard fine-grained temporal information a sequence model on the raw signal might otherwise capture.</a:t>
            </a:r>
            <a:endParaRPr lang="en-US" sz="840" dirty="0"/>
          </a:p>
        </p:txBody>
      </p:sp>
      <p:sp>
        <p:nvSpPr>
          <p:cNvPr id="25" name="Text 19"/>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26" name="Text 20"/>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6E8F52"/>
                </a:solidFill>
                <a:latin typeface="Calibri" pitchFamily="34" charset="0"/>
                <a:ea typeface="Calibri" pitchFamily="34" charset="-122"/>
                <a:cs typeface="Calibri" pitchFamily="34" charset="-120"/>
              </a:rPr>
              <a:t>DATASETS — AKSHATH</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The TreeVibes Acoustic Dataset &amp; Platform</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Rigakis, Potamitis, Tatlas, Potirakis &amp; Ntalampiras, 2021 · Smart Cities</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6E8F52"/>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Introduces TreeVibes, an acoustic monitoring platform built on cloud-connected sensor nodes deployed across a wide range of tree species, locations, and seasons.</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6E8F52"/>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TreeVibes is a public, labelled dataset of recordings from both infested and non-infested tree trunks — the acoustic dataset directly adopted for this project's audio branch.</a:t>
            </a:r>
            <a:endParaRPr lang="en-US" sz="900" dirty="0"/>
          </a:p>
        </p:txBody>
      </p:sp>
      <p:sp>
        <p:nvSpPr>
          <p:cNvPr id="15" name="Shape 11"/>
          <p:cNvSpPr/>
          <p:nvPr/>
        </p:nvSpPr>
        <p:spPr>
          <a:xfrm>
            <a:off x="640080" y="3474720"/>
            <a:ext cx="10908792"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6E8F52"/>
          </a:solidFill>
          <a:ln/>
        </p:spPr>
      </p:sp>
      <p:pic>
        <p:nvPicPr>
          <p:cNvPr id="17" name="Image 2" descr="icons/bullseye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10049256"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Findings (Qualitative)</a:t>
            </a:r>
            <a:endParaRPr lang="en-US" sz="1200" dirty="0"/>
          </a:p>
        </p:txBody>
      </p:sp>
      <p:sp>
        <p:nvSpPr>
          <p:cNvPr id="19" name="Text 14"/>
          <p:cNvSpPr/>
          <p:nvPr/>
        </p:nvSpPr>
        <p:spPr>
          <a:xfrm>
            <a:off x="841248" y="4096512"/>
            <a:ext cx="10506456"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TreeVibes has become one of the most widely reused public benchmarks for training spectrogram-based larval-activity classifiers.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As an audio-only resource, it includes no paired visual data captured from the same trees.</a:t>
            </a:r>
            <a:endParaRPr lang="en-US" sz="900" dirty="0"/>
          </a:p>
        </p:txBody>
      </p:sp>
      <p:sp>
        <p:nvSpPr>
          <p:cNvPr id="20" name="Shape 15"/>
          <p:cNvSpPr/>
          <p:nvPr/>
        </p:nvSpPr>
        <p:spPr>
          <a:xfrm>
            <a:off x="640080" y="5449824"/>
            <a:ext cx="5362956" cy="914400"/>
          </a:xfrm>
          <a:prstGeom prst="roundRect">
            <a:avLst>
              <a:gd name="adj" fmla="val 7000"/>
            </a:avLst>
          </a:prstGeom>
          <a:solidFill>
            <a:srgbClr val="1F4D36"/>
          </a:solidFill>
          <a:ln/>
        </p:spPr>
      </p:sp>
      <p:sp>
        <p:nvSpPr>
          <p:cNvPr id="21" name="Shape 16"/>
          <p:cNvSpPr/>
          <p:nvPr/>
        </p:nvSpPr>
        <p:spPr>
          <a:xfrm>
            <a:off x="786384" y="5541264"/>
            <a:ext cx="402336" cy="402336"/>
          </a:xfrm>
          <a:prstGeom prst="ellipse">
            <a:avLst/>
          </a:prstGeom>
          <a:solidFill>
            <a:srgbClr val="C1440E"/>
          </a:solidFill>
          <a:ln/>
        </p:spPr>
      </p:sp>
      <p:pic>
        <p:nvPicPr>
          <p:cNvPr id="22" name="Image 3"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3" name="Text 17"/>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4" name="Text 18"/>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TreeVibes is the acoustic dataset directly adopted as the source of training data for this project's audio branch, providing the labelled infested/non-infested recordings the spectrogram-CNN-BiGRU classifier is trained on.</a:t>
            </a:r>
            <a:endParaRPr lang="en-US" sz="840" dirty="0"/>
          </a:p>
        </p:txBody>
      </p:sp>
      <p:sp>
        <p:nvSpPr>
          <p:cNvPr id="25" name="Shape 19"/>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6" name="Shape 20"/>
          <p:cNvSpPr/>
          <p:nvPr/>
        </p:nvSpPr>
        <p:spPr>
          <a:xfrm>
            <a:off x="6332220" y="5541264"/>
            <a:ext cx="402336" cy="402336"/>
          </a:xfrm>
          <a:prstGeom prst="ellipse">
            <a:avLst/>
          </a:prstGeom>
          <a:solidFill>
            <a:srgbClr val="C1440E"/>
          </a:solidFill>
          <a:ln/>
        </p:spPr>
      </p:sp>
      <p:pic>
        <p:nvPicPr>
          <p:cNvPr id="27" name="Image 4" descr="icons/bug_white.png"/>
          <p:cNvPicPr>
            <a:picLocks noChangeAspect="1"/>
          </p:cNvPicPr>
          <p:nvPr/>
        </p:nvPicPr>
        <p:blipFill>
          <a:blip r:embed="rId6"/>
          <a:stretch>
            <a:fillRect/>
          </a:stretch>
        </p:blipFill>
        <p:spPr>
          <a:xfrm>
            <a:off x="6428781" y="5637825"/>
            <a:ext cx="209215" cy="209215"/>
          </a:xfrm>
          <a:prstGeom prst="rect">
            <a:avLst/>
          </a:prstGeom>
        </p:spPr>
      </p:pic>
      <p:sp>
        <p:nvSpPr>
          <p:cNvPr id="28" name="Text 21"/>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9" name="Text 22"/>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Because TreeVibes is audio-only with no paired imagery for the same trees, it cannot on its own support genuinely paired multimodal training — the proposed system works around this via model-level rather than data-level fusion.</a:t>
            </a:r>
            <a:endParaRPr lang="en-US" sz="840" dirty="0"/>
          </a:p>
        </p:txBody>
      </p:sp>
      <p:sp>
        <p:nvSpPr>
          <p:cNvPr id="30" name="Text 23"/>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1"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6E8F52"/>
                </a:solidFill>
                <a:latin typeface="Calibri" pitchFamily="34" charset="0"/>
                <a:ea typeface="Calibri" pitchFamily="34" charset="-122"/>
                <a:cs typeface="Calibri" pitchFamily="34" charset="-120"/>
              </a:rPr>
              <a:t>DATASETS — AKSHATH</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A Purpose-Built RGB Image Dataset</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Wu, Wang, Liu, Chen, Lu, Xu, Hao, Li &amp; Wang, 2023 · Insects</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6E8F52"/>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Trains and evaluates an attention-enhanced YOLOv5 object detector for locating adult red palm weevils in photographs.</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6E8F52"/>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 purpose-built RGB image dataset of approximately 2,600 adult red palm weevils, photographed under varied scenes, poses, and lighting conditions.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Data was split 7:2:1 across training, validation, and test sets.</a:t>
            </a:r>
            <a:endParaRPr lang="en-US" sz="900" dirty="0"/>
          </a:p>
        </p:txBody>
      </p:sp>
      <p:sp>
        <p:nvSpPr>
          <p:cNvPr id="15" name="Shape 11"/>
          <p:cNvSpPr/>
          <p:nvPr/>
        </p:nvSpPr>
        <p:spPr>
          <a:xfrm>
            <a:off x="640080" y="3474720"/>
            <a:ext cx="10908792"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6E8F52"/>
          </a:solidFill>
          <a:ln/>
        </p:spPr>
      </p:sp>
      <p:pic>
        <p:nvPicPr>
          <p:cNvPr id="17" name="Image 2" descr="icons/chart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10049256"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 &amp; Metrics</a:t>
            </a:r>
            <a:endParaRPr lang="en-US" sz="1200" dirty="0"/>
          </a:p>
        </p:txBody>
      </p:sp>
      <p:sp>
        <p:nvSpPr>
          <p:cNvPr id="19" name="Text 14"/>
          <p:cNvSpPr/>
          <p:nvPr/>
        </p:nvSpPr>
        <p:spPr>
          <a:xfrm>
            <a:off x="841248" y="4096512"/>
            <a:ext cx="10506456"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using standard object-detection metrics (mAP / IoU), consistent with the detection-focused papers in this survey.</a:t>
            </a:r>
            <a:endParaRPr lang="en-US" sz="900" dirty="0"/>
          </a:p>
        </p:txBody>
      </p:sp>
      <p:sp>
        <p:nvSpPr>
          <p:cNvPr id="20" name="Shape 15"/>
          <p:cNvSpPr/>
          <p:nvPr/>
        </p:nvSpPr>
        <p:spPr>
          <a:xfrm>
            <a:off x="640080" y="5449824"/>
            <a:ext cx="5362956" cy="914400"/>
          </a:xfrm>
          <a:prstGeom prst="roundRect">
            <a:avLst>
              <a:gd name="adj" fmla="val 7000"/>
            </a:avLst>
          </a:prstGeom>
          <a:solidFill>
            <a:srgbClr val="1F4D36"/>
          </a:solidFill>
          <a:ln/>
        </p:spPr>
      </p:sp>
      <p:sp>
        <p:nvSpPr>
          <p:cNvPr id="21" name="Shape 16"/>
          <p:cNvSpPr/>
          <p:nvPr/>
        </p:nvSpPr>
        <p:spPr>
          <a:xfrm>
            <a:off x="786384" y="5541264"/>
            <a:ext cx="402336" cy="402336"/>
          </a:xfrm>
          <a:prstGeom prst="ellipse">
            <a:avLst/>
          </a:prstGeom>
          <a:solidFill>
            <a:srgbClr val="C1440E"/>
          </a:solidFill>
          <a:ln/>
        </p:spPr>
      </p:sp>
      <p:pic>
        <p:nvPicPr>
          <p:cNvPr id="22" name="Image 3"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3" name="Text 17"/>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4" name="Text 18"/>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dataset is a direct reference point — comparable in purpose to the Roboflow RGB dataset adopted for this project's visual branch — and its attention-enhanced YOLOv5 detector is architecturally close to the YOLO-family detector proposed here.</a:t>
            </a:r>
            <a:endParaRPr lang="en-US" sz="840" dirty="0"/>
          </a:p>
        </p:txBody>
      </p:sp>
      <p:sp>
        <p:nvSpPr>
          <p:cNvPr id="25" name="Shape 19"/>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6" name="Shape 20"/>
          <p:cNvSpPr/>
          <p:nvPr/>
        </p:nvSpPr>
        <p:spPr>
          <a:xfrm>
            <a:off x="6332220" y="5541264"/>
            <a:ext cx="402336" cy="402336"/>
          </a:xfrm>
          <a:prstGeom prst="ellipse">
            <a:avLst/>
          </a:prstGeom>
          <a:solidFill>
            <a:srgbClr val="C1440E"/>
          </a:solidFill>
          <a:ln/>
        </p:spPr>
      </p:sp>
      <p:pic>
        <p:nvPicPr>
          <p:cNvPr id="27" name="Image 4" descr="icons/bug_white.png"/>
          <p:cNvPicPr>
            <a:picLocks noChangeAspect="1"/>
          </p:cNvPicPr>
          <p:nvPr/>
        </p:nvPicPr>
        <p:blipFill>
          <a:blip r:embed="rId6"/>
          <a:stretch>
            <a:fillRect/>
          </a:stretch>
        </p:blipFill>
        <p:spPr>
          <a:xfrm>
            <a:off x="6428781" y="5637825"/>
            <a:ext cx="209215" cy="209215"/>
          </a:xfrm>
          <a:prstGeom prst="rect">
            <a:avLst/>
          </a:prstGeom>
        </p:spPr>
      </p:pic>
      <p:sp>
        <p:nvSpPr>
          <p:cNvPr id="28" name="Text 21"/>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9" name="Text 22"/>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At around 2,600 images the dataset is still comparatively small and geographically narrow, and the class imbalance and background variability the authors report mean a model trained on it may not generalise to very different plantation conditions.</a:t>
            </a:r>
            <a:endParaRPr lang="en-US" sz="840" dirty="0"/>
          </a:p>
        </p:txBody>
      </p:sp>
      <p:sp>
        <p:nvSpPr>
          <p:cNvPr id="30" name="Text 23"/>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1"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6E8F52"/>
                </a:solidFill>
                <a:latin typeface="Calibri" pitchFamily="34" charset="0"/>
                <a:ea typeface="Calibri" pitchFamily="34" charset="-122"/>
                <a:cs typeface="Calibri" pitchFamily="34" charset="-120"/>
              </a:rPr>
              <a:t>DATASETS — AKSHATH</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A Paired RGB-and-Thermal Dataset</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Nadeem, Ashraf, Mehmood, Rizwan &amp; Siddiqui, 2025 · Frontiers in Agronomy</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6E8F52"/>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Releases paired RGB and thermal images of date-palm trunks, with each image annotated by farmer-reported infestation severity.</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Farmer labels were cross-checked against a neural-network-based thermal analysis for consistency.</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6E8F52"/>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832 paired RGB + thermal images captured across plantations in Khairpur, Sindh, Pakistan.</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Severity classes: non-infected, infected, badly damaged, and dead.</a:t>
            </a:r>
            <a:endParaRPr lang="en-US" sz="900" dirty="0"/>
          </a:p>
        </p:txBody>
      </p:sp>
      <p:sp>
        <p:nvSpPr>
          <p:cNvPr id="15" name="Shape 11"/>
          <p:cNvSpPr/>
          <p:nvPr/>
        </p:nvSpPr>
        <p:spPr>
          <a:xfrm>
            <a:off x="640080" y="3474720"/>
            <a:ext cx="10908792"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6E8F52"/>
          </a:solidFill>
          <a:ln/>
        </p:spPr>
      </p:sp>
      <p:pic>
        <p:nvPicPr>
          <p:cNvPr id="17" name="Image 2" descr="icons/bullseye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10049256"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Findings (Qualitative)</a:t>
            </a:r>
            <a:endParaRPr lang="en-US" sz="1200" dirty="0"/>
          </a:p>
        </p:txBody>
      </p:sp>
      <p:sp>
        <p:nvSpPr>
          <p:cNvPr id="19" name="Text 14"/>
          <p:cNvSpPr/>
          <p:nvPr/>
        </p:nvSpPr>
        <p:spPr>
          <a:xfrm>
            <a:off x="841248" y="4096512"/>
            <a:ext cx="10506456"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One of the only datasets combining two imaging modalities (RGB + thermal) on the same trees — a structural achievement rare among the public datasets surveyed here.</a:t>
            </a:r>
            <a:endParaRPr lang="en-US" sz="900" dirty="0"/>
          </a:p>
        </p:txBody>
      </p:sp>
      <p:sp>
        <p:nvSpPr>
          <p:cNvPr id="20" name="Shape 15"/>
          <p:cNvSpPr/>
          <p:nvPr/>
        </p:nvSpPr>
        <p:spPr>
          <a:xfrm>
            <a:off x="640080" y="5449824"/>
            <a:ext cx="5362956" cy="914400"/>
          </a:xfrm>
          <a:prstGeom prst="roundRect">
            <a:avLst>
              <a:gd name="adj" fmla="val 7000"/>
            </a:avLst>
          </a:prstGeom>
          <a:solidFill>
            <a:srgbClr val="1F4D36"/>
          </a:solidFill>
          <a:ln/>
        </p:spPr>
      </p:sp>
      <p:sp>
        <p:nvSpPr>
          <p:cNvPr id="21" name="Shape 16"/>
          <p:cNvSpPr/>
          <p:nvPr/>
        </p:nvSpPr>
        <p:spPr>
          <a:xfrm>
            <a:off x="786384" y="5541264"/>
            <a:ext cx="402336" cy="402336"/>
          </a:xfrm>
          <a:prstGeom prst="ellipse">
            <a:avLst/>
          </a:prstGeom>
          <a:solidFill>
            <a:srgbClr val="C1440E"/>
          </a:solidFill>
          <a:ln/>
        </p:spPr>
      </p:sp>
      <p:pic>
        <p:nvPicPr>
          <p:cNvPr id="22" name="Image 3"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3" name="Text 17"/>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4" name="Text 18"/>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While the proposed system does not use a thermal channel, this dataset's severity-graded, cross-validated annotation approach is a useful template for how the project's own fused confidence output could be labelled and validated.</a:t>
            </a:r>
            <a:endParaRPr lang="en-US" sz="840" dirty="0"/>
          </a:p>
        </p:txBody>
      </p:sp>
      <p:sp>
        <p:nvSpPr>
          <p:cNvPr id="25" name="Shape 19"/>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6" name="Shape 20"/>
          <p:cNvSpPr/>
          <p:nvPr/>
        </p:nvSpPr>
        <p:spPr>
          <a:xfrm>
            <a:off x="6332220" y="5541264"/>
            <a:ext cx="402336" cy="402336"/>
          </a:xfrm>
          <a:prstGeom prst="ellipse">
            <a:avLst/>
          </a:prstGeom>
          <a:solidFill>
            <a:srgbClr val="C1440E"/>
          </a:solidFill>
          <a:ln/>
        </p:spPr>
      </p:sp>
      <p:pic>
        <p:nvPicPr>
          <p:cNvPr id="27" name="Image 4" descr="icons/bug_white.png"/>
          <p:cNvPicPr>
            <a:picLocks noChangeAspect="1"/>
          </p:cNvPicPr>
          <p:nvPr/>
        </p:nvPicPr>
        <p:blipFill>
          <a:blip r:embed="rId6"/>
          <a:stretch>
            <a:fillRect/>
          </a:stretch>
        </p:blipFill>
        <p:spPr>
          <a:xfrm>
            <a:off x="6428781" y="5637825"/>
            <a:ext cx="209215" cy="209215"/>
          </a:xfrm>
          <a:prstGeom prst="rect">
            <a:avLst/>
          </a:prstGeom>
        </p:spPr>
      </p:pic>
      <p:sp>
        <p:nvSpPr>
          <p:cNvPr id="28" name="Text 21"/>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9" name="Text 22"/>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dataset is limited to a single geographic region (Khairpur, Pakistan), and its thermal-capture requirement adds hardware cost and calibration burden that the proposed system deliberately avoids by choosing an acoustic-plus-RGB design instead.</a:t>
            </a:r>
            <a:endParaRPr lang="en-US" sz="840" dirty="0"/>
          </a:p>
        </p:txBody>
      </p:sp>
      <p:sp>
        <p:nvSpPr>
          <p:cNvPr id="30" name="Text 23"/>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1"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9174175" y="-1828800"/>
            <a:ext cx="5486400" cy="5486400"/>
          </a:xfrm>
          <a:prstGeom prst="ellipse">
            <a:avLst/>
          </a:prstGeom>
          <a:solidFill>
            <a:srgbClr val="1F4D36"/>
          </a:solidFill>
          <a:ln/>
        </p:spPr>
      </p:sp>
      <p:sp>
        <p:nvSpPr>
          <p:cNvPr id="3" name="Text 1"/>
          <p:cNvSpPr/>
          <p:nvPr/>
        </p:nvSpPr>
        <p:spPr>
          <a:xfrm>
            <a:off x="822960" y="502920"/>
            <a:ext cx="7315200" cy="320040"/>
          </a:xfrm>
          <a:prstGeom prst="rect">
            <a:avLst/>
          </a:prstGeom>
          <a:noFill/>
          <a:ln/>
        </p:spPr>
        <p:txBody>
          <a:bodyPr wrap="square" rtlCol="0" anchor="ctr"/>
          <a:lstStyle/>
          <a:p>
            <a:pPr marL="0" indent="0" algn="l">
              <a:buNone/>
            </a:pPr>
            <a:r>
              <a:rPr lang="en-US" sz="1200" b="1" kern="0" spc="200" dirty="0">
                <a:solidFill>
                  <a:srgbClr val="9FD6A8"/>
                </a:solidFill>
                <a:latin typeface="Calibri" pitchFamily="34" charset="0"/>
                <a:ea typeface="Calibri" pitchFamily="34" charset="-122"/>
                <a:cs typeface="Calibri" pitchFamily="34" charset="-120"/>
              </a:rPr>
              <a:t>DATASETS — AKSHATH</a:t>
            </a:r>
            <a:endParaRPr lang="en-US" sz="1200" dirty="0"/>
          </a:p>
        </p:txBody>
      </p:sp>
      <p:sp>
        <p:nvSpPr>
          <p:cNvPr id="4" name="Text 2"/>
          <p:cNvSpPr/>
          <p:nvPr/>
        </p:nvSpPr>
        <p:spPr>
          <a:xfrm>
            <a:off x="822960" y="822960"/>
            <a:ext cx="100584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Section Synthesis: Datasets for RPW &amp; Coconut Pest Detection</a:t>
            </a:r>
            <a:endParaRPr lang="en-US" sz="2600" dirty="0"/>
          </a:p>
        </p:txBody>
      </p:sp>
      <p:sp>
        <p:nvSpPr>
          <p:cNvPr id="5" name="Shape 3"/>
          <p:cNvSpPr/>
          <p:nvPr/>
        </p:nvSpPr>
        <p:spPr>
          <a:xfrm>
            <a:off x="822960" y="1600200"/>
            <a:ext cx="10515600" cy="2103120"/>
          </a:xfrm>
          <a:prstGeom prst="roundRect">
            <a:avLst>
              <a:gd name="adj" fmla="val 3913"/>
            </a:avLst>
          </a:prstGeom>
          <a:solidFill>
            <a:srgbClr val="1F4D36"/>
          </a:solidFill>
          <a:ln/>
        </p:spPr>
      </p:sp>
      <p:sp>
        <p:nvSpPr>
          <p:cNvPr id="6" name="Shape 4"/>
          <p:cNvSpPr/>
          <p:nvPr/>
        </p:nvSpPr>
        <p:spPr>
          <a:xfrm>
            <a:off x="1211580" y="1805940"/>
            <a:ext cx="685800" cy="685800"/>
          </a:xfrm>
          <a:prstGeom prst="ellipse">
            <a:avLst/>
          </a:prstGeom>
          <a:solidFill>
            <a:srgbClr val="C1440E"/>
          </a:solidFill>
          <a:ln/>
        </p:spPr>
      </p:sp>
      <p:pic>
        <p:nvPicPr>
          <p:cNvPr id="7" name="Image 0" descr="icons/chart_white.png"/>
          <p:cNvPicPr>
            <a:picLocks noChangeAspect="1"/>
          </p:cNvPicPr>
          <p:nvPr/>
        </p:nvPicPr>
        <p:blipFill>
          <a:blip r:embed="rId3"/>
          <a:stretch>
            <a:fillRect/>
          </a:stretch>
        </p:blipFill>
        <p:spPr>
          <a:xfrm>
            <a:off x="1376172" y="1970532"/>
            <a:ext cx="356616" cy="356616"/>
          </a:xfrm>
          <a:prstGeom prst="rect">
            <a:avLst/>
          </a:prstGeom>
        </p:spPr>
      </p:pic>
      <p:sp>
        <p:nvSpPr>
          <p:cNvPr id="8" name="Text 5"/>
          <p:cNvSpPr/>
          <p:nvPr/>
        </p:nvSpPr>
        <p:spPr>
          <a:xfrm>
            <a:off x="2057400" y="1828800"/>
            <a:ext cx="896112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Trend Across These 5 Papers</a:t>
            </a:r>
            <a:endParaRPr lang="en-US" sz="1500" dirty="0"/>
          </a:p>
        </p:txBody>
      </p:sp>
      <p:sp>
        <p:nvSpPr>
          <p:cNvPr id="9" name="Text 6"/>
          <p:cNvSpPr/>
          <p:nvPr/>
        </p:nvSpPr>
        <p:spPr>
          <a:xfrm>
            <a:off x="1097280" y="2606040"/>
            <a:ext cx="9966960" cy="1005840"/>
          </a:xfrm>
          <a:prstGeom prst="rect">
            <a:avLst/>
          </a:prstGeom>
          <a:noFill/>
          <a:ln/>
        </p:spPr>
        <p:txBody>
          <a:bodyPr wrap="square" rtlCol="0" anchor="t"/>
          <a:lstStyle/>
          <a:p>
            <a:pPr marL="0" indent="0">
              <a:lnSpc>
                <a:spcPct val="122000"/>
              </a:lnSpc>
              <a:buNone/>
            </a:pPr>
            <a:r>
              <a:rPr lang="en-US" sz="1150" dirty="0">
                <a:solidFill>
                  <a:srgbClr val="E4EBE0"/>
                </a:solidFill>
                <a:latin typeface="Calibri" pitchFamily="34" charset="0"/>
                <a:ea typeface="Calibri" pitchFamily="34" charset="-122"/>
                <a:cs typeface="Calibri" pitchFamily="34" charset="-120"/>
              </a:rPr>
              <a:t>Across these five papers, a consistent pattern emerges: acoustic datasets such as TreeVibes (Rigakis et al.) and engineered feature sets (Kurdi et al.) are mature and widely reused, RGB image datasets such as Wu et al.'s are growing but still comparatively small and geographically narrow, and combined RGB-plus-thermal resources such as Nadeem et al.'s remain rare. Boulila et al.'s spectrogram-conversion approach shows one practical way of bridging the audio and image worlds within a single modality's data.</a:t>
            </a:r>
            <a:endParaRPr lang="en-US" sz="1150" dirty="0"/>
          </a:p>
        </p:txBody>
      </p:sp>
      <p:sp>
        <p:nvSpPr>
          <p:cNvPr id="10" name="Shape 7"/>
          <p:cNvSpPr/>
          <p:nvPr/>
        </p:nvSpPr>
        <p:spPr>
          <a:xfrm>
            <a:off x="822960" y="3886200"/>
            <a:ext cx="10515600" cy="2514600"/>
          </a:xfrm>
          <a:prstGeom prst="roundRect">
            <a:avLst>
              <a:gd name="adj" fmla="val 3273"/>
            </a:avLst>
          </a:prstGeom>
          <a:solidFill>
            <a:srgbClr val="17372A"/>
          </a:solidFill>
          <a:ln w="15875">
            <a:solidFill>
              <a:srgbClr val="C1440E"/>
            </a:solidFill>
            <a:prstDash val="solid"/>
          </a:ln>
        </p:spPr>
      </p:sp>
      <p:sp>
        <p:nvSpPr>
          <p:cNvPr id="11" name="Shape 8"/>
          <p:cNvSpPr/>
          <p:nvPr/>
        </p:nvSpPr>
        <p:spPr>
          <a:xfrm>
            <a:off x="1211580" y="4091940"/>
            <a:ext cx="685800" cy="685800"/>
          </a:xfrm>
          <a:prstGeom prst="ellipse">
            <a:avLst/>
          </a:prstGeom>
          <a:solidFill>
            <a:srgbClr val="C1440E"/>
          </a:solidFill>
          <a:ln/>
        </p:spPr>
      </p:sp>
      <p:pic>
        <p:nvPicPr>
          <p:cNvPr id="12" name="Image 1" descr="icons/bug_white.png"/>
          <p:cNvPicPr>
            <a:picLocks noChangeAspect="1"/>
          </p:cNvPicPr>
          <p:nvPr/>
        </p:nvPicPr>
        <p:blipFill>
          <a:blip r:embed="rId4"/>
          <a:stretch>
            <a:fillRect/>
          </a:stretch>
        </p:blipFill>
        <p:spPr>
          <a:xfrm>
            <a:off x="1376172" y="4256532"/>
            <a:ext cx="356616" cy="356616"/>
          </a:xfrm>
          <a:prstGeom prst="rect">
            <a:avLst/>
          </a:prstGeom>
        </p:spPr>
      </p:pic>
      <p:sp>
        <p:nvSpPr>
          <p:cNvPr id="13" name="Text 9"/>
          <p:cNvSpPr/>
          <p:nvPr/>
        </p:nvSpPr>
        <p:spPr>
          <a:xfrm>
            <a:off x="2057400" y="4114800"/>
            <a:ext cx="8961120" cy="411480"/>
          </a:xfrm>
          <a:prstGeom prst="rect">
            <a:avLst/>
          </a:prstGeom>
          <a:noFill/>
          <a:ln/>
        </p:spPr>
        <p:txBody>
          <a:bodyPr wrap="square" rtlCol="0" anchor="ctr"/>
          <a:lstStyle/>
          <a:p>
            <a:pPr marL="0" indent="0">
              <a:buNone/>
            </a:pPr>
            <a:r>
              <a:rPr lang="en-US" sz="1500" b="1" dirty="0">
                <a:solidFill>
                  <a:srgbClr val="FFD9BE"/>
                </a:solidFill>
                <a:latin typeface="Cambria" pitchFamily="34" charset="0"/>
                <a:ea typeface="Cambria" pitchFamily="34" charset="-122"/>
                <a:cs typeface="Cambria" pitchFamily="34" charset="-120"/>
              </a:rPr>
              <a:t>Collective Research Gap for This Theme</a:t>
            </a:r>
            <a:endParaRPr lang="en-US" sz="1500" dirty="0"/>
          </a:p>
        </p:txBody>
      </p:sp>
      <p:sp>
        <p:nvSpPr>
          <p:cNvPr id="14" name="Text 10"/>
          <p:cNvSpPr/>
          <p:nvPr/>
        </p:nvSpPr>
        <p:spPr>
          <a:xfrm>
            <a:off x="1097280" y="4892040"/>
            <a:ext cx="9966960" cy="1371600"/>
          </a:xfrm>
          <a:prstGeom prst="rect">
            <a:avLst/>
          </a:prstGeom>
          <a:noFill/>
          <a:ln/>
        </p:spPr>
        <p:txBody>
          <a:bodyPr wrap="square" rtlCol="0" anchor="t"/>
          <a:lstStyle/>
          <a:p>
            <a:pPr marL="0" indent="0">
              <a:lnSpc>
                <a:spcPct val="122000"/>
              </a:lnSpc>
              <a:buNone/>
            </a:pPr>
            <a:r>
              <a:rPr lang="en-US" sz="1150" i="1" dirty="0">
                <a:solidFill>
                  <a:srgbClr val="F0DFD3"/>
                </a:solidFill>
                <a:latin typeface="Calibri" pitchFamily="34" charset="0"/>
                <a:ea typeface="Calibri" pitchFamily="34" charset="-122"/>
                <a:cs typeface="Calibri" pitchFamily="34" charset="-120"/>
              </a:rPr>
              <a:t>No dataset reviewed here pairs acoustic and visual recordings on the same trees under matched field conditions, so models trained purely on these public resources cannot yet be validated as a genuinely paired, multimodal detection pipeline — the proposed system addresses this by pairing TreeVibes and the Roboflow RGB set through model-level, confidence-weighted fusion rather than data-level pairing.</a:t>
            </a:r>
            <a:endParaRPr lang="en-US" sz="1150" dirty="0"/>
          </a:p>
        </p:txBody>
      </p:sp>
      <p:sp>
        <p:nvSpPr>
          <p:cNvPr id="15" name="Text 11"/>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16" name="Text 12"/>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8351215" y="-1828800"/>
            <a:ext cx="5943600" cy="5943600"/>
          </a:xfrm>
          <a:prstGeom prst="ellipse">
            <a:avLst/>
          </a:prstGeom>
          <a:solidFill>
            <a:srgbClr val="1F4D36"/>
          </a:solidFill>
          <a:ln/>
        </p:spPr>
      </p:sp>
      <p:sp>
        <p:nvSpPr>
          <p:cNvPr id="3" name="Shape 1"/>
          <p:cNvSpPr/>
          <p:nvPr/>
        </p:nvSpPr>
        <p:spPr>
          <a:xfrm>
            <a:off x="9814255" y="3931920"/>
            <a:ext cx="3657600" cy="3657600"/>
          </a:xfrm>
          <a:prstGeom prst="ellipse">
            <a:avLst/>
          </a:prstGeom>
          <a:solidFill>
            <a:srgbClr val="6E8F52"/>
          </a:solidFill>
          <a:ln/>
        </p:spPr>
      </p:sp>
      <p:sp>
        <p:nvSpPr>
          <p:cNvPr id="4" name="Shape 2"/>
          <p:cNvSpPr/>
          <p:nvPr/>
        </p:nvSpPr>
        <p:spPr>
          <a:xfrm>
            <a:off x="868680" y="2286000"/>
            <a:ext cx="1371600" cy="1371600"/>
          </a:xfrm>
          <a:prstGeom prst="ellipse">
            <a:avLst/>
          </a:prstGeom>
          <a:solidFill>
            <a:srgbClr val="C1440E"/>
          </a:solidFill>
          <a:ln/>
        </p:spPr>
      </p:sp>
      <p:pic>
        <p:nvPicPr>
          <p:cNvPr id="5" name="Image 0" descr="icons/brain_white.png"/>
          <p:cNvPicPr>
            <a:picLocks noChangeAspect="1"/>
          </p:cNvPicPr>
          <p:nvPr/>
        </p:nvPicPr>
        <p:blipFill>
          <a:blip r:embed="rId3"/>
          <a:stretch>
            <a:fillRect/>
          </a:stretch>
        </p:blipFill>
        <p:spPr>
          <a:xfrm>
            <a:off x="1197864" y="2615184"/>
            <a:ext cx="713232" cy="713232"/>
          </a:xfrm>
          <a:prstGeom prst="rect">
            <a:avLst/>
          </a:prstGeom>
        </p:spPr>
      </p:pic>
      <p:sp>
        <p:nvSpPr>
          <p:cNvPr id="6" name="Text 3"/>
          <p:cNvSpPr/>
          <p:nvPr/>
        </p:nvSpPr>
        <p:spPr>
          <a:xfrm>
            <a:off x="3383280" y="2331720"/>
            <a:ext cx="7315200" cy="320040"/>
          </a:xfrm>
          <a:prstGeom prst="rect">
            <a:avLst/>
          </a:prstGeom>
          <a:noFill/>
          <a:ln/>
        </p:spPr>
        <p:txBody>
          <a:bodyPr wrap="square" rtlCol="0" anchor="ctr"/>
          <a:lstStyle/>
          <a:p>
            <a:pPr marL="0" indent="0" algn="l">
              <a:buNone/>
            </a:pPr>
            <a:r>
              <a:rPr lang="en-US" sz="1200" b="1" kern="0" spc="200" dirty="0">
                <a:solidFill>
                  <a:srgbClr val="C9D6BE"/>
                </a:solidFill>
                <a:latin typeface="Calibri" pitchFamily="34" charset="0"/>
                <a:ea typeface="Calibri" pitchFamily="34" charset="-122"/>
                <a:cs typeface="Calibri" pitchFamily="34" charset="-120"/>
              </a:rPr>
              <a:t>LITERATURE REVIEW · PART 3 OF 3</a:t>
            </a:r>
            <a:endParaRPr lang="en-US" sz="1200" dirty="0"/>
          </a:p>
        </p:txBody>
      </p:sp>
      <p:sp>
        <p:nvSpPr>
          <p:cNvPr id="7" name="Text 4"/>
          <p:cNvSpPr/>
          <p:nvPr/>
        </p:nvSpPr>
        <p:spPr>
          <a:xfrm>
            <a:off x="3383280" y="2697480"/>
            <a:ext cx="7863840" cy="1463040"/>
          </a:xfrm>
          <a:prstGeom prst="rect">
            <a:avLst/>
          </a:prstGeom>
          <a:noFill/>
          <a:ln/>
        </p:spPr>
        <p:txBody>
          <a:bodyPr wrap="square" rtlCol="0" anchor="t"/>
          <a:lstStyle/>
          <a:p>
            <a:pPr marL="0" indent="0" algn="l">
              <a:buNone/>
            </a:pPr>
            <a:r>
              <a:rPr lang="en-US" sz="3400" b="1" dirty="0">
                <a:solidFill>
                  <a:srgbClr val="FFFFFF"/>
                </a:solidFill>
                <a:latin typeface="Cambria" pitchFamily="34" charset="0"/>
                <a:ea typeface="Cambria" pitchFamily="34" charset="-122"/>
                <a:cs typeface="Cambria" pitchFamily="34" charset="-120"/>
              </a:rPr>
              <a:t>Algorithms &amp; Models for Pest Detection</a:t>
            </a:r>
            <a:endParaRPr lang="en-US" sz="3400" dirty="0"/>
          </a:p>
        </p:txBody>
      </p:sp>
      <p:sp>
        <p:nvSpPr>
          <p:cNvPr id="8" name="Text 5"/>
          <p:cNvSpPr/>
          <p:nvPr/>
        </p:nvSpPr>
        <p:spPr>
          <a:xfrm>
            <a:off x="3383280" y="4069080"/>
            <a:ext cx="7863840" cy="457200"/>
          </a:xfrm>
          <a:prstGeom prst="rect">
            <a:avLst/>
          </a:prstGeom>
          <a:noFill/>
          <a:ln/>
        </p:spPr>
        <p:txBody>
          <a:bodyPr wrap="square" rtlCol="0" anchor="ctr"/>
          <a:lstStyle/>
          <a:p>
            <a:pPr marL="0" indent="0" algn="l">
              <a:buNone/>
            </a:pPr>
            <a:r>
              <a:rPr lang="en-US" sz="1600" dirty="0">
                <a:solidFill>
                  <a:srgbClr val="C9D6BE"/>
                </a:solidFill>
                <a:latin typeface="Calibri" pitchFamily="34" charset="0"/>
                <a:ea typeface="Calibri" pitchFamily="34" charset="-122"/>
                <a:cs typeface="Calibri" pitchFamily="34" charset="-120"/>
              </a:rPr>
              <a:t>Presented by  </a:t>
            </a:r>
            <a:r>
              <a:rPr lang="en-US" sz="1600" b="1" dirty="0">
                <a:solidFill>
                  <a:srgbClr val="FFFFFF"/>
                </a:solidFill>
                <a:latin typeface="Calibri" pitchFamily="34" charset="0"/>
                <a:ea typeface="Calibri" pitchFamily="34" charset="-122"/>
                <a:cs typeface="Calibri" pitchFamily="34" charset="-120"/>
              </a:rPr>
              <a:t>Abinaya</a:t>
            </a:r>
            <a:r>
              <a:rPr lang="en-US" sz="1600" dirty="0">
                <a:solidFill>
                  <a:srgbClr val="C9D6BE"/>
                </a:solidFill>
                <a:latin typeface="Calibri" pitchFamily="34" charset="0"/>
                <a:ea typeface="Calibri" pitchFamily="34" charset="-122"/>
                <a:cs typeface="Calibri" pitchFamily="34" charset="-120"/>
              </a:rPr>
              <a:t>   |   CB.SC.P2AIE26002</a:t>
            </a:r>
            <a:endParaRPr lang="en-US" sz="1600" dirty="0"/>
          </a:p>
        </p:txBody>
      </p:sp>
      <p:sp>
        <p:nvSpPr>
          <p:cNvPr id="9" name="Text 6"/>
          <p:cNvSpPr/>
          <p:nvPr/>
        </p:nvSpPr>
        <p:spPr>
          <a:xfrm>
            <a:off x="3383280" y="4526280"/>
            <a:ext cx="7863840" cy="365760"/>
          </a:xfrm>
          <a:prstGeom prst="rect">
            <a:avLst/>
          </a:prstGeom>
          <a:noFill/>
          <a:ln/>
        </p:spPr>
        <p:txBody>
          <a:bodyPr wrap="square" rtlCol="0" anchor="ctr"/>
          <a:lstStyle/>
          <a:p>
            <a:pPr marL="0" indent="0">
              <a:buNone/>
            </a:pPr>
            <a:r>
              <a:rPr lang="en-US" sz="1200" i="1" dirty="0">
                <a:solidFill>
                  <a:srgbClr val="9FD6A8"/>
                </a:solidFill>
                <a:latin typeface="Calibri" pitchFamily="34" charset="0"/>
                <a:ea typeface="Calibri" pitchFamily="34" charset="-122"/>
                <a:cs typeface="Calibri" pitchFamily="34" charset="-120"/>
              </a:rPr>
              <a:t>5 papers · overview, relevance &amp; research gap for each</a:t>
            </a:r>
            <a:endParaRPr lang="en-US" sz="1200" dirty="0"/>
          </a:p>
        </p:txBody>
      </p:sp>
      <p:sp>
        <p:nvSpPr>
          <p:cNvPr id="10" name="Text 7"/>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11" name="Text 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C1440E"/>
                </a:solidFill>
                <a:latin typeface="Calibri" pitchFamily="34" charset="0"/>
                <a:ea typeface="Calibri" pitchFamily="34" charset="-122"/>
                <a:cs typeface="Calibri" pitchFamily="34" charset="-120"/>
              </a:rPr>
              <a:t>ALGORITHMS — ABINAYA</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AMS-YOLO for Maize-Pest Detection</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Deng, Fang, Ullah, Hou &amp; Yu, 2025 · Frontiers in Plant Science</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C1440E"/>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AMS-YOLO is a YOLOv8n variant enhanced with three modules: SMCA attention (complex-background target recognition), MSBlock multi-scale feature fusion (adaptability across pest growth stages), and AMConv downsampling (preserves subtle features between visually similar species).</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C1440E"/>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on a dataset covering thirteen common maize pests.</a:t>
            </a:r>
            <a:endParaRPr lang="en-US" sz="900" dirty="0"/>
          </a:p>
        </p:txBody>
      </p:sp>
      <p:sp>
        <p:nvSpPr>
          <p:cNvPr id="15" name="Shape 11"/>
          <p:cNvSpPr/>
          <p:nvPr/>
        </p:nvSpPr>
        <p:spPr>
          <a:xfrm>
            <a:off x="640080" y="3474720"/>
            <a:ext cx="5362956"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C1440E"/>
          </a:solidFill>
          <a:ln/>
        </p:spPr>
      </p:sp>
      <p:pic>
        <p:nvPicPr>
          <p:cNvPr id="17" name="Image 2" descr="icons/chart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 &amp; Metrics</a:t>
            </a:r>
            <a:endParaRPr lang="en-US" sz="1200" dirty="0"/>
          </a:p>
        </p:txBody>
      </p:sp>
      <p:sp>
        <p:nvSpPr>
          <p:cNvPr id="19" name="Text 14"/>
          <p:cNvSpPr/>
          <p:nvPr/>
        </p:nvSpPr>
        <p:spPr>
          <a:xfrm>
            <a:off x="841248"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using standard object-detection metrics (mAP / IoU).</a:t>
            </a:r>
            <a:endParaRPr lang="en-US" sz="900" dirty="0"/>
          </a:p>
        </p:txBody>
      </p:sp>
      <p:sp>
        <p:nvSpPr>
          <p:cNvPr id="20" name="Shape 15"/>
          <p:cNvSpPr/>
          <p:nvPr/>
        </p:nvSpPr>
        <p:spPr>
          <a:xfrm>
            <a:off x="6185916" y="3474720"/>
            <a:ext cx="5362956" cy="1847088"/>
          </a:xfrm>
          <a:prstGeom prst="roundRect">
            <a:avLst>
              <a:gd name="adj" fmla="val 3465"/>
            </a:avLst>
          </a:prstGeom>
          <a:solidFill>
            <a:srgbClr val="FAFBF8"/>
          </a:solidFill>
          <a:ln w="12700">
            <a:solidFill>
              <a:srgbClr val="E1E6DA"/>
            </a:solidFill>
            <a:prstDash val="solid"/>
          </a:ln>
        </p:spPr>
      </p:sp>
      <p:sp>
        <p:nvSpPr>
          <p:cNvPr id="21" name="Shape 16"/>
          <p:cNvSpPr/>
          <p:nvPr/>
        </p:nvSpPr>
        <p:spPr>
          <a:xfrm>
            <a:off x="6350508" y="3584448"/>
            <a:ext cx="438912" cy="438912"/>
          </a:xfrm>
          <a:prstGeom prst="ellipse">
            <a:avLst/>
          </a:prstGeom>
          <a:solidFill>
            <a:srgbClr val="C1440E"/>
          </a:solidFill>
          <a:ln/>
        </p:spPr>
      </p:sp>
      <p:pic>
        <p:nvPicPr>
          <p:cNvPr id="22" name="Image 3" descr="icons/bullseye_white.png"/>
          <p:cNvPicPr>
            <a:picLocks noChangeAspect="1"/>
          </p:cNvPicPr>
          <p:nvPr/>
        </p:nvPicPr>
        <p:blipFill>
          <a:blip r:embed="rId6"/>
          <a:stretch>
            <a:fillRect/>
          </a:stretch>
        </p:blipFill>
        <p:spPr>
          <a:xfrm>
            <a:off x="6455847" y="3689787"/>
            <a:ext cx="228234" cy="228234"/>
          </a:xfrm>
          <a:prstGeom prst="rect">
            <a:avLst/>
          </a:prstGeom>
        </p:spPr>
      </p:pic>
      <p:sp>
        <p:nvSpPr>
          <p:cNvPr id="23" name="Text 17"/>
          <p:cNvSpPr/>
          <p:nvPr/>
        </p:nvSpPr>
        <p:spPr>
          <a:xfrm>
            <a:off x="6862572"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Key Results</a:t>
            </a:r>
            <a:endParaRPr lang="en-US" sz="1200" dirty="0"/>
          </a:p>
        </p:txBody>
      </p:sp>
      <p:sp>
        <p:nvSpPr>
          <p:cNvPr id="24" name="Text 18"/>
          <p:cNvSpPr/>
          <p:nvPr/>
        </p:nvSpPr>
        <p:spPr>
          <a:xfrm>
            <a:off x="6387084"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AMS-YOLO outperformed the baseline YOLOv8n model on every reported metric.</a:t>
            </a:r>
            <a:endParaRPr lang="en-US" sz="900" dirty="0"/>
          </a:p>
        </p:txBody>
      </p:sp>
      <p:sp>
        <p:nvSpPr>
          <p:cNvPr id="25" name="Shape 19"/>
          <p:cNvSpPr/>
          <p:nvPr/>
        </p:nvSpPr>
        <p:spPr>
          <a:xfrm>
            <a:off x="640080" y="5449824"/>
            <a:ext cx="5362956" cy="914400"/>
          </a:xfrm>
          <a:prstGeom prst="roundRect">
            <a:avLst>
              <a:gd name="adj" fmla="val 7000"/>
            </a:avLst>
          </a:prstGeom>
          <a:solidFill>
            <a:srgbClr val="1F4D36"/>
          </a:solidFill>
          <a:ln/>
        </p:spPr>
      </p:sp>
      <p:sp>
        <p:nvSpPr>
          <p:cNvPr id="26" name="Shape 20"/>
          <p:cNvSpPr/>
          <p:nvPr/>
        </p:nvSpPr>
        <p:spPr>
          <a:xfrm>
            <a:off x="786384" y="5541264"/>
            <a:ext cx="402336" cy="402336"/>
          </a:xfrm>
          <a:prstGeom prst="ellipse">
            <a:avLst/>
          </a:prstGeom>
          <a:solidFill>
            <a:srgbClr val="C1440E"/>
          </a:solidFill>
          <a:ln/>
        </p:spPr>
      </p:sp>
      <p:pic>
        <p:nvPicPr>
          <p:cNvPr id="27" name="Image 4"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8" name="Text 21"/>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9" name="Text 22"/>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AMS-YOLO's attention and multi-scale fusion design is a direct architectural reference for the proposed system's visual branch, since RPW and its damage symptoms are often small, partially occluded, and easily confused with trunk texture.</a:t>
            </a:r>
            <a:endParaRPr lang="en-US" sz="840" dirty="0"/>
          </a:p>
        </p:txBody>
      </p:sp>
      <p:sp>
        <p:nvSpPr>
          <p:cNvPr id="30" name="Shape 23"/>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31" name="Shape 24"/>
          <p:cNvSpPr/>
          <p:nvPr/>
        </p:nvSpPr>
        <p:spPr>
          <a:xfrm>
            <a:off x="6332220" y="5541264"/>
            <a:ext cx="402336" cy="402336"/>
          </a:xfrm>
          <a:prstGeom prst="ellipse">
            <a:avLst/>
          </a:prstGeom>
          <a:solidFill>
            <a:srgbClr val="C1440E"/>
          </a:solidFill>
          <a:ln/>
        </p:spPr>
      </p:sp>
      <p:pic>
        <p:nvPicPr>
          <p:cNvPr id="32" name="Image 5" descr="icons/bug_white.png"/>
          <p:cNvPicPr>
            <a:picLocks noChangeAspect="1"/>
          </p:cNvPicPr>
          <p:nvPr/>
        </p:nvPicPr>
        <p:blipFill>
          <a:blip r:embed="rId7"/>
          <a:stretch>
            <a:fillRect/>
          </a:stretch>
        </p:blipFill>
        <p:spPr>
          <a:xfrm>
            <a:off x="6428781" y="5637825"/>
            <a:ext cx="209215" cy="209215"/>
          </a:xfrm>
          <a:prstGeom prst="rect">
            <a:avLst/>
          </a:prstGeom>
        </p:spPr>
      </p:pic>
      <p:sp>
        <p:nvSpPr>
          <p:cNvPr id="33" name="Text 25"/>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34" name="Text 26"/>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AMS-YOLO was designed and tuned specifically for maize pests at a very different scale and background context than RPW on a palm trunk, so its modules would need re-tuning and re-validation rather than direct transfer to this project.</a:t>
            </a:r>
            <a:endParaRPr lang="en-US" sz="840" dirty="0"/>
          </a:p>
        </p:txBody>
      </p:sp>
      <p:sp>
        <p:nvSpPr>
          <p:cNvPr id="35" name="Text 27"/>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6" name="Text 2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C1440E"/>
                </a:solidFill>
                <a:latin typeface="Calibri" pitchFamily="34" charset="0"/>
                <a:ea typeface="Calibri" pitchFamily="34" charset="-122"/>
                <a:cs typeface="Calibri" pitchFamily="34" charset="-120"/>
              </a:rPr>
              <a:t>ALGORITHMS — ABINAYA</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Maize-YOLO for Real-Time Detection</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Yang, Xing, Wang, Dong, Gao, Liu, Zhang, Li &amp; Zhao, 2023 · Insects</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C1440E"/>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Maize-YOLO is a YOLOv7-based architecture that inserts a CSPResNeXt-50 module and a VoVGSCSP module into the network backbone.</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C1440E"/>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Trained and tested on a large-scale pest dataset (exact sample count not specified in the reviewed literature).</a:t>
            </a:r>
            <a:endParaRPr lang="en-US" sz="900" dirty="0"/>
          </a:p>
        </p:txBody>
      </p:sp>
      <p:sp>
        <p:nvSpPr>
          <p:cNvPr id="15" name="Shape 11"/>
          <p:cNvSpPr/>
          <p:nvPr/>
        </p:nvSpPr>
        <p:spPr>
          <a:xfrm>
            <a:off x="640080" y="3474720"/>
            <a:ext cx="5362956"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C1440E"/>
          </a:solidFill>
          <a:ln/>
        </p:spPr>
      </p:sp>
      <p:pic>
        <p:nvPicPr>
          <p:cNvPr id="17" name="Image 2" descr="icons/chart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 &amp; Metrics</a:t>
            </a:r>
            <a:endParaRPr lang="en-US" sz="1200" dirty="0"/>
          </a:p>
        </p:txBody>
      </p:sp>
      <p:sp>
        <p:nvSpPr>
          <p:cNvPr id="19" name="Text 14"/>
          <p:cNvSpPr/>
          <p:nvPr/>
        </p:nvSpPr>
        <p:spPr>
          <a:xfrm>
            <a:off x="841248"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using standard object-detection metrics (mAP / IoU).</a:t>
            </a:r>
            <a:endParaRPr lang="en-US" sz="900" dirty="0"/>
          </a:p>
        </p:txBody>
      </p:sp>
      <p:sp>
        <p:nvSpPr>
          <p:cNvPr id="20" name="Shape 15"/>
          <p:cNvSpPr/>
          <p:nvPr/>
        </p:nvSpPr>
        <p:spPr>
          <a:xfrm>
            <a:off x="6185916" y="3474720"/>
            <a:ext cx="5362956" cy="1847088"/>
          </a:xfrm>
          <a:prstGeom prst="roundRect">
            <a:avLst>
              <a:gd name="adj" fmla="val 3465"/>
            </a:avLst>
          </a:prstGeom>
          <a:solidFill>
            <a:srgbClr val="FAFBF8"/>
          </a:solidFill>
          <a:ln w="12700">
            <a:solidFill>
              <a:srgbClr val="E1E6DA"/>
            </a:solidFill>
            <a:prstDash val="solid"/>
          </a:ln>
        </p:spPr>
      </p:sp>
      <p:sp>
        <p:nvSpPr>
          <p:cNvPr id="21" name="Shape 16"/>
          <p:cNvSpPr/>
          <p:nvPr/>
        </p:nvSpPr>
        <p:spPr>
          <a:xfrm>
            <a:off x="6350508" y="3584448"/>
            <a:ext cx="438912" cy="438912"/>
          </a:xfrm>
          <a:prstGeom prst="ellipse">
            <a:avLst/>
          </a:prstGeom>
          <a:solidFill>
            <a:srgbClr val="C1440E"/>
          </a:solidFill>
          <a:ln/>
        </p:spPr>
      </p:sp>
      <p:pic>
        <p:nvPicPr>
          <p:cNvPr id="22" name="Image 3" descr="icons/bullseye_white.png"/>
          <p:cNvPicPr>
            <a:picLocks noChangeAspect="1"/>
          </p:cNvPicPr>
          <p:nvPr/>
        </p:nvPicPr>
        <p:blipFill>
          <a:blip r:embed="rId6"/>
          <a:stretch>
            <a:fillRect/>
          </a:stretch>
        </p:blipFill>
        <p:spPr>
          <a:xfrm>
            <a:off x="6455847" y="3689787"/>
            <a:ext cx="228234" cy="228234"/>
          </a:xfrm>
          <a:prstGeom prst="rect">
            <a:avLst/>
          </a:prstGeom>
        </p:spPr>
      </p:pic>
      <p:sp>
        <p:nvSpPr>
          <p:cNvPr id="23" name="Text 17"/>
          <p:cNvSpPr/>
          <p:nvPr/>
        </p:nvSpPr>
        <p:spPr>
          <a:xfrm>
            <a:off x="6862572"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Key Results</a:t>
            </a:r>
            <a:endParaRPr lang="en-US" sz="1200" dirty="0"/>
          </a:p>
        </p:txBody>
      </p:sp>
      <p:sp>
        <p:nvSpPr>
          <p:cNvPr id="24" name="Text 18"/>
          <p:cNvSpPr/>
          <p:nvPr/>
        </p:nvSpPr>
        <p:spPr>
          <a:xfrm>
            <a:off x="6387084"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Improved both detection accuracy and inference speed while reducing overall computational cost relative to the baseline YOLOv7.</a:t>
            </a:r>
            <a:endParaRPr lang="en-US" sz="900" dirty="0"/>
          </a:p>
        </p:txBody>
      </p:sp>
      <p:sp>
        <p:nvSpPr>
          <p:cNvPr id="25" name="Shape 19"/>
          <p:cNvSpPr/>
          <p:nvPr/>
        </p:nvSpPr>
        <p:spPr>
          <a:xfrm>
            <a:off x="640080" y="5449824"/>
            <a:ext cx="5362956" cy="914400"/>
          </a:xfrm>
          <a:prstGeom prst="roundRect">
            <a:avLst>
              <a:gd name="adj" fmla="val 7000"/>
            </a:avLst>
          </a:prstGeom>
          <a:solidFill>
            <a:srgbClr val="1F4D36"/>
          </a:solidFill>
          <a:ln/>
        </p:spPr>
      </p:sp>
      <p:sp>
        <p:nvSpPr>
          <p:cNvPr id="26" name="Shape 20"/>
          <p:cNvSpPr/>
          <p:nvPr/>
        </p:nvSpPr>
        <p:spPr>
          <a:xfrm>
            <a:off x="786384" y="5541264"/>
            <a:ext cx="402336" cy="402336"/>
          </a:xfrm>
          <a:prstGeom prst="ellipse">
            <a:avLst/>
          </a:prstGeom>
          <a:solidFill>
            <a:srgbClr val="C1440E"/>
          </a:solidFill>
          <a:ln/>
        </p:spPr>
      </p:sp>
      <p:pic>
        <p:nvPicPr>
          <p:cNvPr id="27" name="Image 4"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8" name="Text 21"/>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9" name="Text 22"/>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The lightweight-backbone strategy demonstrated here directly informs the proposed system's preference for a Nano- or small-scale YOLO variant, since field deployment on non-GPU hardware is an explicit design constraint of this project.</a:t>
            </a:r>
            <a:endParaRPr lang="en-US" sz="840" dirty="0"/>
          </a:p>
        </p:txBody>
      </p:sp>
      <p:sp>
        <p:nvSpPr>
          <p:cNvPr id="30" name="Shape 23"/>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31" name="Shape 24"/>
          <p:cNvSpPr/>
          <p:nvPr/>
        </p:nvSpPr>
        <p:spPr>
          <a:xfrm>
            <a:off x="6332220" y="5541264"/>
            <a:ext cx="402336" cy="402336"/>
          </a:xfrm>
          <a:prstGeom prst="ellipse">
            <a:avLst/>
          </a:prstGeom>
          <a:solidFill>
            <a:srgbClr val="C1440E"/>
          </a:solidFill>
          <a:ln/>
        </p:spPr>
      </p:sp>
      <p:pic>
        <p:nvPicPr>
          <p:cNvPr id="32" name="Image 5" descr="icons/bug_white.png"/>
          <p:cNvPicPr>
            <a:picLocks noChangeAspect="1"/>
          </p:cNvPicPr>
          <p:nvPr/>
        </p:nvPicPr>
        <p:blipFill>
          <a:blip r:embed="rId7"/>
          <a:stretch>
            <a:fillRect/>
          </a:stretch>
        </p:blipFill>
        <p:spPr>
          <a:xfrm>
            <a:off x="6428781" y="5637825"/>
            <a:ext cx="209215" cy="209215"/>
          </a:xfrm>
          <a:prstGeom prst="rect">
            <a:avLst/>
          </a:prstGeom>
        </p:spPr>
      </p:pic>
      <p:sp>
        <p:nvSpPr>
          <p:cNvPr id="33" name="Text 25"/>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34" name="Text 26"/>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Like AMS-YOLO, Maize-YOLO's modules were tuned for maize-specific pests, and while CSPResNeXt-50 and VoVGSCSP improve accuracy, they also add to overall model size — a trade-off that must be carefully managed for a genuinely edge-deployable RPW detector.</a:t>
            </a:r>
            <a:endParaRPr lang="en-US" sz="840" dirty="0"/>
          </a:p>
        </p:txBody>
      </p:sp>
      <p:sp>
        <p:nvSpPr>
          <p:cNvPr id="35" name="Text 27"/>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6" name="Text 2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C1440E"/>
                </a:solidFill>
                <a:latin typeface="Calibri" pitchFamily="34" charset="0"/>
                <a:ea typeface="Calibri" pitchFamily="34" charset="-122"/>
                <a:cs typeface="Calibri" pitchFamily="34" charset="-120"/>
              </a:rPr>
              <a:t>ALGORITHMS — ABINAYA</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RED-BIYO: Real-Time RPW Detection via Multimodal Sensor Data</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Siron Anita Susan T, Alagarsamy, Gurusamy, Azizur Rahuman, Ramya &amp; Sowmya Sundari, 2026 · International Journal of Computational Intelligence Systems</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C1440E"/>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5"/>
            <a:ext cx="4960620" cy="1778325"/>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Stem images denoised with a Savitzky-Golay (SavG) filter; audio segmented with Hamming-windowed STFT into normalized spectrograms.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YOLOv9 (ResNeSt split-attention backbone + FPN) detects Damaged Tree (DT) / No Damaged Tree (NDT) from stem images.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 Spiking-CNN + Bidirectional GRU (SCNN-BiGRU) classifies spectrograms as RPW / No RPW (NRPW) — SCNN extracts spike-based spatial-frequency features, BiGRU models forward/backward temporal patterns.</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C1440E"/>
          </a:solidFill>
          <a:ln/>
        </p:spPr>
      </p:sp>
      <p:pic>
        <p:nvPicPr>
          <p:cNvPr id="12" name="Image 1" descr="icons/database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Dataset Used</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Proprietary multimodal dataset collected from coconut plantations in Tamil Nadu, India (June–December 2024).</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Stem-image set: 3,000 images (1,500 DT / 1,500 NDT), 1024×768 px, expert-annotated.</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Acoustic set: 2,400 clips (1,200 RPW / 1,200 NRPW), 16 kHz, 10–30 s, captured with an INMP441 digital microphone, validated by physical inspection + expert review.</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with 5-fold cross-validation, 80/10/10 split per fold, fixed seed (42) for reproducibility.</a:t>
            </a:r>
            <a:endParaRPr lang="en-US" sz="900" dirty="0"/>
          </a:p>
        </p:txBody>
      </p:sp>
      <p:sp>
        <p:nvSpPr>
          <p:cNvPr id="15" name="Shape 11"/>
          <p:cNvSpPr/>
          <p:nvPr/>
        </p:nvSpPr>
        <p:spPr>
          <a:xfrm>
            <a:off x="640080" y="3474720"/>
            <a:ext cx="5362956"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C1440E"/>
          </a:solidFill>
          <a:ln/>
        </p:spPr>
      </p:sp>
      <p:pic>
        <p:nvPicPr>
          <p:cNvPr id="17" name="Image 2" descr="icons/chart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 &amp; Metrics</a:t>
            </a:r>
            <a:endParaRPr lang="en-US" sz="1200" dirty="0"/>
          </a:p>
        </p:txBody>
      </p:sp>
      <p:sp>
        <p:nvSpPr>
          <p:cNvPr id="19" name="Text 14"/>
          <p:cNvSpPr/>
          <p:nvPr/>
        </p:nvSpPr>
        <p:spPr>
          <a:xfrm>
            <a:off x="841248"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Hardware: Intel Core i7, 16 GB RAM, NVIDIA RTX 3060 GPU; Spyder/Anaconda on Windows 10.</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YOLOv9: 640×640 input, auto-anchor, 100 epochs, batch 16, SGD (momentum 0.937), cosine-annealed LR from 0.01.</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SCNN-BiGRU: 128×128 spectrogram input, 3D conv filters 32/64/128, T=10 spike steps, dropout 0.5, batch 32, Adam (lr 0.001), 100 epochs, cross-entropy loss.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Metrics: Accuracy, Specificity, Precision, Recall, F1-score, and Matthews Correlation Coefficient (MCC).</a:t>
            </a:r>
            <a:endParaRPr lang="en-US" sz="900" dirty="0"/>
          </a:p>
        </p:txBody>
      </p:sp>
      <p:sp>
        <p:nvSpPr>
          <p:cNvPr id="20" name="Shape 15"/>
          <p:cNvSpPr/>
          <p:nvPr/>
        </p:nvSpPr>
        <p:spPr>
          <a:xfrm>
            <a:off x="6185916" y="3474720"/>
            <a:ext cx="5362956" cy="1847088"/>
          </a:xfrm>
          <a:prstGeom prst="roundRect">
            <a:avLst>
              <a:gd name="adj" fmla="val 3465"/>
            </a:avLst>
          </a:prstGeom>
          <a:solidFill>
            <a:srgbClr val="FAFBF8"/>
          </a:solidFill>
          <a:ln w="12700">
            <a:solidFill>
              <a:srgbClr val="E1E6DA"/>
            </a:solidFill>
            <a:prstDash val="solid"/>
          </a:ln>
        </p:spPr>
      </p:sp>
      <p:sp>
        <p:nvSpPr>
          <p:cNvPr id="21" name="Shape 16"/>
          <p:cNvSpPr/>
          <p:nvPr/>
        </p:nvSpPr>
        <p:spPr>
          <a:xfrm>
            <a:off x="6350508" y="3584448"/>
            <a:ext cx="438912" cy="438912"/>
          </a:xfrm>
          <a:prstGeom prst="ellipse">
            <a:avLst/>
          </a:prstGeom>
          <a:solidFill>
            <a:srgbClr val="C1440E"/>
          </a:solidFill>
          <a:ln/>
        </p:spPr>
      </p:sp>
      <p:pic>
        <p:nvPicPr>
          <p:cNvPr id="22" name="Image 3" descr="icons/bullseye_white.png"/>
          <p:cNvPicPr>
            <a:picLocks noChangeAspect="1"/>
          </p:cNvPicPr>
          <p:nvPr/>
        </p:nvPicPr>
        <p:blipFill>
          <a:blip r:embed="rId6"/>
          <a:stretch>
            <a:fillRect/>
          </a:stretch>
        </p:blipFill>
        <p:spPr>
          <a:xfrm>
            <a:off x="6455847" y="3689787"/>
            <a:ext cx="228234" cy="228234"/>
          </a:xfrm>
          <a:prstGeom prst="rect">
            <a:avLst/>
          </a:prstGeom>
        </p:spPr>
      </p:pic>
      <p:sp>
        <p:nvSpPr>
          <p:cNvPr id="23" name="Text 17"/>
          <p:cNvSpPr/>
          <p:nvPr/>
        </p:nvSpPr>
        <p:spPr>
          <a:xfrm>
            <a:off x="6862572" y="3584448"/>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Key Results</a:t>
            </a:r>
            <a:endParaRPr lang="en-US" sz="1200" dirty="0"/>
          </a:p>
        </p:txBody>
      </p:sp>
      <p:sp>
        <p:nvSpPr>
          <p:cNvPr id="24" name="Text 18"/>
          <p:cNvSpPr/>
          <p:nvPr/>
        </p:nvSpPr>
        <p:spPr>
          <a:xfrm>
            <a:off x="6387084" y="4096512"/>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Overall: 99.54% accuracy, 97.93% MCC, 94.87% F1, 98% specificity — best per-class result on NRPW (99.98% ACC).</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5-fold average: 97.92 ± 1.63% accuracy, confirming stable, non-overfit generalisation across folds.</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SCNN-BiGRU beats LSTM/BiGRU/BiLSTM/CNN-BiGRU by 1.41–4.95% accuracy; YOLOv9 beats SSD/Faster R-CNN/Mask R-CNN/YOLOv6 by 1.85–7.21%.</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Ablation confirms fusion's value: stem-only 98.12%, audio-only 97.05%, fused 99.54% — with the smallest model (68.9 MB) and fastest inference (24.3 s) of all networks compared.</a:t>
            </a:r>
            <a:endParaRPr lang="en-US" sz="900" dirty="0"/>
          </a:p>
        </p:txBody>
      </p:sp>
      <p:sp>
        <p:nvSpPr>
          <p:cNvPr id="25" name="Shape 19"/>
          <p:cNvSpPr/>
          <p:nvPr/>
        </p:nvSpPr>
        <p:spPr>
          <a:xfrm>
            <a:off x="640080" y="5449824"/>
            <a:ext cx="5362956" cy="914400"/>
          </a:xfrm>
          <a:prstGeom prst="roundRect">
            <a:avLst>
              <a:gd name="adj" fmla="val 7000"/>
            </a:avLst>
          </a:prstGeom>
          <a:solidFill>
            <a:srgbClr val="1F4D36"/>
          </a:solidFill>
          <a:ln/>
        </p:spPr>
      </p:sp>
      <p:sp>
        <p:nvSpPr>
          <p:cNvPr id="26" name="Shape 20"/>
          <p:cNvSpPr/>
          <p:nvPr/>
        </p:nvSpPr>
        <p:spPr>
          <a:xfrm>
            <a:off x="786384" y="5541264"/>
            <a:ext cx="402336" cy="402336"/>
          </a:xfrm>
          <a:prstGeom prst="ellipse">
            <a:avLst/>
          </a:prstGeom>
          <a:solidFill>
            <a:srgbClr val="C1440E"/>
          </a:solidFill>
          <a:ln/>
        </p:spPr>
      </p:sp>
      <p:pic>
        <p:nvPicPr>
          <p:cNvPr id="27" name="Image 4"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8" name="Text 21"/>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9" name="Text 22"/>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RED-BIYO is the closest working precedent to this project — the same YOLO detector + acoustic CNN-recurrent classifier + Mamdani-fuzzy fusion pattern is adopted as the base architecture, then extended with a spatial-temporal network layer across trees.</a:t>
            </a:r>
            <a:endParaRPr lang="en-US" sz="840" dirty="0"/>
          </a:p>
        </p:txBody>
      </p:sp>
      <p:sp>
        <p:nvSpPr>
          <p:cNvPr id="30" name="Shape 23"/>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31" name="Shape 24"/>
          <p:cNvSpPr/>
          <p:nvPr/>
        </p:nvSpPr>
        <p:spPr>
          <a:xfrm>
            <a:off x="6332220" y="5541264"/>
            <a:ext cx="402336" cy="402336"/>
          </a:xfrm>
          <a:prstGeom prst="ellipse">
            <a:avLst/>
          </a:prstGeom>
          <a:solidFill>
            <a:srgbClr val="C1440E"/>
          </a:solidFill>
          <a:ln/>
        </p:spPr>
      </p:sp>
      <p:pic>
        <p:nvPicPr>
          <p:cNvPr id="32" name="Image 5" descr="icons/bug_white.png"/>
          <p:cNvPicPr>
            <a:picLocks noChangeAspect="1"/>
          </p:cNvPicPr>
          <p:nvPr/>
        </p:nvPicPr>
        <p:blipFill>
          <a:blip r:embed="rId7"/>
          <a:stretch>
            <a:fillRect/>
          </a:stretch>
        </p:blipFill>
        <p:spPr>
          <a:xfrm>
            <a:off x="6428781" y="5637825"/>
            <a:ext cx="209215" cy="209215"/>
          </a:xfrm>
          <a:prstGeom prst="rect">
            <a:avLst/>
          </a:prstGeom>
        </p:spPr>
      </p:pic>
      <p:sp>
        <p:nvSpPr>
          <p:cNvPr id="33" name="Text 25"/>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34" name="Text 26"/>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RED-BIYO still decides per-tree, per-scan with no cross-tree modelling. Its authors flag two more gaps: a proprietary, non-public dataset, and compute needs that still require optimisation for true low-power edge deployment.</a:t>
            </a:r>
            <a:endParaRPr lang="en-US" sz="840" dirty="0"/>
          </a:p>
        </p:txBody>
      </p:sp>
      <p:sp>
        <p:nvSpPr>
          <p:cNvPr id="35" name="Text 27"/>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6" name="Text 28"/>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C1440E"/>
                </a:solidFill>
                <a:latin typeface="Calibri" pitchFamily="34" charset="0"/>
                <a:ea typeface="Calibri" pitchFamily="34" charset="-122"/>
                <a:cs typeface="Calibri" pitchFamily="34" charset="-120"/>
              </a:rPr>
              <a:t>ALGORITHMS — ABINAYA</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A Review of YOLO in Agriculture</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Kamalesh Kanna, Kumaraperumal, Pazhanivelan, Jagadeeswaran &amp; Prabu, 2024 · Journal of Agricultural Engineering</a:t>
            </a:r>
            <a:endParaRPr lang="en-US" sz="930" dirty="0"/>
          </a:p>
        </p:txBody>
      </p:sp>
      <p:sp>
        <p:nvSpPr>
          <p:cNvPr id="5" name="Shape 3"/>
          <p:cNvSpPr/>
          <p:nvPr/>
        </p:nvSpPr>
        <p:spPr>
          <a:xfrm>
            <a:off x="640080" y="1517904"/>
            <a:ext cx="10908792" cy="3803904"/>
          </a:xfrm>
          <a:prstGeom prst="roundRect">
            <a:avLst>
              <a:gd name="adj" fmla="val 1683"/>
            </a:avLst>
          </a:prstGeom>
          <a:solidFill>
            <a:srgbClr val="FAFBF8"/>
          </a:solidFill>
          <a:ln w="12700">
            <a:solidFill>
              <a:srgbClr val="E1E6DA"/>
            </a:solidFill>
            <a:prstDash val="solid"/>
          </a:ln>
        </p:spPr>
      </p:sp>
      <p:sp>
        <p:nvSpPr>
          <p:cNvPr id="6" name="Shape 4"/>
          <p:cNvSpPr/>
          <p:nvPr/>
        </p:nvSpPr>
        <p:spPr>
          <a:xfrm>
            <a:off x="768096" y="1591056"/>
            <a:ext cx="512064" cy="512064"/>
          </a:xfrm>
          <a:prstGeom prst="ellipse">
            <a:avLst/>
          </a:prstGeom>
          <a:solidFill>
            <a:srgbClr val="C1440E"/>
          </a:solidFill>
          <a:ln/>
        </p:spPr>
      </p:sp>
      <p:pic>
        <p:nvPicPr>
          <p:cNvPr id="7" name="Image 0" descr="icons/network_white.png"/>
          <p:cNvPicPr>
            <a:picLocks noChangeAspect="1"/>
          </p:cNvPicPr>
          <p:nvPr/>
        </p:nvPicPr>
        <p:blipFill>
          <a:blip r:embed="rId3"/>
          <a:stretch>
            <a:fillRect/>
          </a:stretch>
        </p:blipFill>
        <p:spPr>
          <a:xfrm>
            <a:off x="890991" y="1713951"/>
            <a:ext cx="266273" cy="266273"/>
          </a:xfrm>
          <a:prstGeom prst="rect">
            <a:avLst/>
          </a:prstGeom>
        </p:spPr>
      </p:pic>
      <p:sp>
        <p:nvSpPr>
          <p:cNvPr id="8" name="Text 5"/>
          <p:cNvSpPr/>
          <p:nvPr/>
        </p:nvSpPr>
        <p:spPr>
          <a:xfrm>
            <a:off x="1316736" y="1627632"/>
            <a:ext cx="10049256" cy="438912"/>
          </a:xfrm>
          <a:prstGeom prst="rect">
            <a:avLst/>
          </a:prstGeom>
          <a:noFill/>
          <a:ln/>
        </p:spPr>
        <p:txBody>
          <a:bodyPr wrap="square" rtlCol="0" anchor="ctr"/>
          <a:lstStyle/>
          <a:p>
            <a:pPr marL="0" indent="0">
              <a:buNone/>
            </a:pPr>
            <a:r>
              <a:rPr lang="en-US" sz="1300" b="1" dirty="0">
                <a:solidFill>
                  <a:srgbClr val="1F4D36"/>
                </a:solidFill>
                <a:latin typeface="Cambria" pitchFamily="34" charset="0"/>
                <a:ea typeface="Cambria" pitchFamily="34" charset="-122"/>
                <a:cs typeface="Cambria" pitchFamily="34" charset="-120"/>
              </a:rPr>
              <a:t>Methodology (Survey Scope)</a:t>
            </a:r>
            <a:endParaRPr lang="en-US" sz="1300" dirty="0"/>
          </a:p>
        </p:txBody>
      </p:sp>
      <p:sp>
        <p:nvSpPr>
          <p:cNvPr id="9" name="Text 6"/>
          <p:cNvSpPr/>
          <p:nvPr/>
        </p:nvSpPr>
        <p:spPr>
          <a:xfrm>
            <a:off x="841248" y="2139696"/>
            <a:ext cx="10506456" cy="3054096"/>
          </a:xfrm>
          <a:prstGeom prst="rect">
            <a:avLst/>
          </a:prstGeom>
          <a:noFill/>
          <a:ln/>
        </p:spPr>
        <p:txBody>
          <a:bodyPr wrap="square" rtlCol="0" anchor="ctr"/>
          <a:lstStyle/>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Reviews the evolution of the YOLO family of object detectors and its applications across agriculture — crop classification, disease and pest detection, and environmental monitoring.</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Discusses the underlying one-stage, regression-based detection principle that distinguishes YOLO from two-stage detectors such as R-CNN.</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Compares reported accuracy and inference-speed figures across successive YOLO versions, as published elsewhere in the literature.</a:t>
            </a:r>
            <a:endParaRPr lang="en-US" sz="1030" dirty="0"/>
          </a:p>
          <a:p>
            <a:pPr marL="0" indent="0">
              <a:lnSpc>
                <a:spcPct val="135000"/>
              </a:lnSpc>
              <a:buNone/>
            </a:pPr>
            <a:r>
              <a:rPr lang="en-US" sz="1030" dirty="0">
                <a:solidFill>
                  <a:srgbClr val="20261F"/>
                </a:solidFill>
                <a:latin typeface="Calibri" pitchFamily="34" charset="0"/>
                <a:ea typeface="Calibri" pitchFamily="34" charset="-122"/>
                <a:cs typeface="Calibri" pitchFamily="34" charset="-120"/>
              </a:rPr>
              <a:t>•  This is a review paper — it introduces no dataset or model of its own and reports no original experimental results, so Dataset, Setup, and Results are not applicable here.</a:t>
            </a:r>
            <a:endParaRPr lang="en-US" sz="1030" dirty="0"/>
          </a:p>
        </p:txBody>
      </p:sp>
      <p:sp>
        <p:nvSpPr>
          <p:cNvPr id="10" name="Shape 7"/>
          <p:cNvSpPr/>
          <p:nvPr/>
        </p:nvSpPr>
        <p:spPr>
          <a:xfrm>
            <a:off x="640080" y="5449824"/>
            <a:ext cx="5362956" cy="1060704"/>
          </a:xfrm>
          <a:prstGeom prst="roundRect">
            <a:avLst>
              <a:gd name="adj" fmla="val 7000"/>
            </a:avLst>
          </a:prstGeom>
          <a:solidFill>
            <a:srgbClr val="1F4D36"/>
          </a:solidFill>
          <a:ln/>
        </p:spPr>
      </p:sp>
      <p:sp>
        <p:nvSpPr>
          <p:cNvPr id="11" name="Shape 8"/>
          <p:cNvSpPr/>
          <p:nvPr/>
        </p:nvSpPr>
        <p:spPr>
          <a:xfrm>
            <a:off x="786384" y="5541264"/>
            <a:ext cx="402336" cy="402336"/>
          </a:xfrm>
          <a:prstGeom prst="ellipse">
            <a:avLst/>
          </a:prstGeom>
          <a:solidFill>
            <a:srgbClr val="C1440E"/>
          </a:solidFill>
          <a:ln/>
        </p:spPr>
      </p:sp>
      <p:pic>
        <p:nvPicPr>
          <p:cNvPr id="12" name="Image 1"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13" name="Text 9"/>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14" name="Text 10"/>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review directly informs the proposed system's choice of a Nano- or small-scale YOLO variant for the visual branch, laying out the speed-accuracy trade-offs across versions that must be balanced against field-hardware constraints.</a:t>
            </a:r>
            <a:endParaRPr lang="en-US" sz="840" dirty="0"/>
          </a:p>
        </p:txBody>
      </p:sp>
      <p:sp>
        <p:nvSpPr>
          <p:cNvPr id="15" name="Shape 11"/>
          <p:cNvSpPr/>
          <p:nvPr/>
        </p:nvSpPr>
        <p:spPr>
          <a:xfrm>
            <a:off x="6185916" y="5449824"/>
            <a:ext cx="5362956" cy="1060704"/>
          </a:xfrm>
          <a:prstGeom prst="roundRect">
            <a:avLst>
              <a:gd name="adj" fmla="val 7000"/>
            </a:avLst>
          </a:prstGeom>
          <a:solidFill>
            <a:srgbClr val="FFF2E9"/>
          </a:solidFill>
          <a:ln w="13970">
            <a:solidFill>
              <a:srgbClr val="C1440E"/>
            </a:solidFill>
            <a:prstDash val="solid"/>
          </a:ln>
        </p:spPr>
      </p:sp>
      <p:sp>
        <p:nvSpPr>
          <p:cNvPr id="16" name="Shape 12"/>
          <p:cNvSpPr/>
          <p:nvPr/>
        </p:nvSpPr>
        <p:spPr>
          <a:xfrm>
            <a:off x="6332220" y="5541264"/>
            <a:ext cx="402336" cy="402336"/>
          </a:xfrm>
          <a:prstGeom prst="ellipse">
            <a:avLst/>
          </a:prstGeom>
          <a:solidFill>
            <a:srgbClr val="C1440E"/>
          </a:solidFill>
          <a:ln/>
        </p:spPr>
      </p:sp>
      <p:pic>
        <p:nvPicPr>
          <p:cNvPr id="17" name="Image 2" descr="icons/bug_white.png"/>
          <p:cNvPicPr>
            <a:picLocks noChangeAspect="1"/>
          </p:cNvPicPr>
          <p:nvPr/>
        </p:nvPicPr>
        <p:blipFill>
          <a:blip r:embed="rId4"/>
          <a:stretch>
            <a:fillRect/>
          </a:stretch>
        </p:blipFill>
        <p:spPr>
          <a:xfrm>
            <a:off x="6428781" y="5637825"/>
            <a:ext cx="209215" cy="209215"/>
          </a:xfrm>
          <a:prstGeom prst="rect">
            <a:avLst/>
          </a:prstGeom>
        </p:spPr>
      </p:pic>
      <p:sp>
        <p:nvSpPr>
          <p:cNvPr id="18" name="Text 13"/>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19" name="Text 14"/>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Being a survey rather than an original study, this paper proposes no new model or dataset of its own — it is a reference and decision-support tool for selecting among existing YOLO variants, not a source of new detection capability.</a:t>
            </a:r>
            <a:endParaRPr lang="en-US" sz="840" dirty="0"/>
          </a:p>
        </p:txBody>
      </p:sp>
      <p:sp>
        <p:nvSpPr>
          <p:cNvPr id="20" name="Text 15"/>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21" name="Text 16"/>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7315200" cy="320040"/>
          </a:xfrm>
          <a:prstGeom prst="rect">
            <a:avLst/>
          </a:prstGeom>
          <a:noFill/>
          <a:ln/>
        </p:spPr>
        <p:txBody>
          <a:bodyPr wrap="square" rtlCol="0" anchor="ctr"/>
          <a:lstStyle/>
          <a:p>
            <a:pPr marL="0" indent="0" algn="l">
              <a:buNone/>
            </a:pPr>
            <a:r>
              <a:rPr lang="en-US" sz="1200" b="1" kern="0" spc="200" dirty="0">
                <a:solidFill>
                  <a:srgbClr val="C1440E"/>
                </a:solidFill>
                <a:latin typeface="Calibri" pitchFamily="34" charset="0"/>
                <a:ea typeface="Calibri" pitchFamily="34" charset="-122"/>
                <a:cs typeface="Calibri" pitchFamily="34" charset="-120"/>
              </a:rPr>
              <a:t>ALGORITHMS — ABINAYA</a:t>
            </a:r>
            <a:endParaRPr lang="en-US" sz="1200" dirty="0"/>
          </a:p>
        </p:txBody>
      </p:sp>
      <p:sp>
        <p:nvSpPr>
          <p:cNvPr id="3" name="Text 1"/>
          <p:cNvSpPr/>
          <p:nvPr/>
        </p:nvSpPr>
        <p:spPr>
          <a:xfrm>
            <a:off x="640080" y="566928"/>
            <a:ext cx="10908792" cy="438912"/>
          </a:xfrm>
          <a:prstGeom prst="rect">
            <a:avLst/>
          </a:prstGeom>
          <a:noFill/>
          <a:ln/>
        </p:spPr>
        <p:txBody>
          <a:bodyPr wrap="square" rtlCol="0" anchor="ctr"/>
          <a:lstStyle/>
          <a:p>
            <a:pPr marL="0" indent="0">
              <a:buNone/>
            </a:pPr>
            <a:r>
              <a:rPr lang="en-US" sz="1750" b="1" dirty="0">
                <a:solidFill>
                  <a:srgbClr val="1F4D36"/>
                </a:solidFill>
                <a:latin typeface="Cambria" pitchFamily="34" charset="0"/>
                <a:ea typeface="Cambria" pitchFamily="34" charset="-122"/>
                <a:cs typeface="Cambria" pitchFamily="34" charset="-120"/>
              </a:rPr>
              <a:t>Neural-Network Classification of RPW Acoustics</a:t>
            </a:r>
            <a:endParaRPr lang="en-US" sz="1750" dirty="0"/>
          </a:p>
        </p:txBody>
      </p:sp>
      <p:sp>
        <p:nvSpPr>
          <p:cNvPr id="4" name="Text 2"/>
          <p:cNvSpPr/>
          <p:nvPr/>
        </p:nvSpPr>
        <p:spPr>
          <a:xfrm>
            <a:off x="640080" y="1005840"/>
            <a:ext cx="10908792" cy="402336"/>
          </a:xfrm>
          <a:prstGeom prst="rect">
            <a:avLst/>
          </a:prstGeom>
          <a:noFill/>
          <a:ln/>
        </p:spPr>
        <p:txBody>
          <a:bodyPr wrap="square" rtlCol="0" anchor="t"/>
          <a:lstStyle/>
          <a:p>
            <a:pPr marL="0" indent="0">
              <a:buNone/>
            </a:pPr>
            <a:r>
              <a:rPr lang="en-US" sz="930" i="1" dirty="0">
                <a:solidFill>
                  <a:srgbClr val="5B6B5B"/>
                </a:solidFill>
                <a:latin typeface="Calibri" pitchFamily="34" charset="0"/>
                <a:ea typeface="Calibri" pitchFamily="34" charset="-122"/>
                <a:cs typeface="Calibri" pitchFamily="34" charset="-120"/>
              </a:rPr>
              <a:t>Wang, Mao, Ashry, Al-Fehaid, Al-Shawaf, Ng, Yu &amp; Ooi, 2021 · Sensors</a:t>
            </a:r>
            <a:endParaRPr lang="en-US" sz="930" dirty="0"/>
          </a:p>
        </p:txBody>
      </p:sp>
      <p:sp>
        <p:nvSpPr>
          <p:cNvPr id="5" name="Shape 3"/>
          <p:cNvSpPr/>
          <p:nvPr/>
        </p:nvSpPr>
        <p:spPr>
          <a:xfrm>
            <a:off x="640080" y="1517904"/>
            <a:ext cx="5362956" cy="1847088"/>
          </a:xfrm>
          <a:prstGeom prst="roundRect">
            <a:avLst>
              <a:gd name="adj" fmla="val 3465"/>
            </a:avLst>
          </a:prstGeom>
          <a:solidFill>
            <a:srgbClr val="FAFBF8"/>
          </a:solidFill>
          <a:ln w="12700">
            <a:solidFill>
              <a:srgbClr val="E1E6DA"/>
            </a:solidFill>
            <a:prstDash val="solid"/>
          </a:ln>
        </p:spPr>
      </p:sp>
      <p:sp>
        <p:nvSpPr>
          <p:cNvPr id="6" name="Shape 4"/>
          <p:cNvSpPr/>
          <p:nvPr/>
        </p:nvSpPr>
        <p:spPr>
          <a:xfrm>
            <a:off x="804672" y="1627632"/>
            <a:ext cx="438912" cy="438912"/>
          </a:xfrm>
          <a:prstGeom prst="ellipse">
            <a:avLst/>
          </a:prstGeom>
          <a:solidFill>
            <a:srgbClr val="C1440E"/>
          </a:solidFill>
          <a:ln/>
        </p:spPr>
      </p:sp>
      <p:pic>
        <p:nvPicPr>
          <p:cNvPr id="7" name="Image 0" descr="icons/network_white.png"/>
          <p:cNvPicPr>
            <a:picLocks noChangeAspect="1"/>
          </p:cNvPicPr>
          <p:nvPr/>
        </p:nvPicPr>
        <p:blipFill>
          <a:blip r:embed="rId3"/>
          <a:stretch>
            <a:fillRect/>
          </a:stretch>
        </p:blipFill>
        <p:spPr>
          <a:xfrm>
            <a:off x="910011" y="1732971"/>
            <a:ext cx="228234" cy="228234"/>
          </a:xfrm>
          <a:prstGeom prst="rect">
            <a:avLst/>
          </a:prstGeom>
        </p:spPr>
      </p:pic>
      <p:sp>
        <p:nvSpPr>
          <p:cNvPr id="8" name="Text 5"/>
          <p:cNvSpPr/>
          <p:nvPr/>
        </p:nvSpPr>
        <p:spPr>
          <a:xfrm>
            <a:off x="1316736"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Methodology</a:t>
            </a:r>
            <a:endParaRPr lang="en-US" sz="1200" dirty="0"/>
          </a:p>
        </p:txBody>
      </p:sp>
      <p:sp>
        <p:nvSpPr>
          <p:cNvPr id="9" name="Text 6"/>
          <p:cNvSpPr/>
          <p:nvPr/>
        </p:nvSpPr>
        <p:spPr>
          <a:xfrm>
            <a:off x="841248"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Combines fibre-optic distributed acoustic sensing (DAS) with a fully-connected artificial neural network (ANN) and a convolutional neural network (CNN).</a:t>
            </a:r>
            <a:endParaRPr lang="en-US" sz="900" dirty="0"/>
          </a:p>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Classifies healthy vs. RPW-infested trees from temporal and spectral acoustic features.</a:t>
            </a:r>
            <a:endParaRPr lang="en-US" sz="900" dirty="0"/>
          </a:p>
        </p:txBody>
      </p:sp>
      <p:sp>
        <p:nvSpPr>
          <p:cNvPr id="10" name="Shape 7"/>
          <p:cNvSpPr/>
          <p:nvPr/>
        </p:nvSpPr>
        <p:spPr>
          <a:xfrm>
            <a:off x="6185916" y="1517904"/>
            <a:ext cx="5362956" cy="1847088"/>
          </a:xfrm>
          <a:prstGeom prst="roundRect">
            <a:avLst>
              <a:gd name="adj" fmla="val 3465"/>
            </a:avLst>
          </a:prstGeom>
          <a:solidFill>
            <a:srgbClr val="FAFBF8"/>
          </a:solidFill>
          <a:ln w="12700">
            <a:solidFill>
              <a:srgbClr val="E1E6DA"/>
            </a:solidFill>
            <a:prstDash val="solid"/>
          </a:ln>
        </p:spPr>
      </p:sp>
      <p:sp>
        <p:nvSpPr>
          <p:cNvPr id="11" name="Shape 8"/>
          <p:cNvSpPr/>
          <p:nvPr/>
        </p:nvSpPr>
        <p:spPr>
          <a:xfrm>
            <a:off x="6350508" y="1627632"/>
            <a:ext cx="438912" cy="438912"/>
          </a:xfrm>
          <a:prstGeom prst="ellipse">
            <a:avLst/>
          </a:prstGeom>
          <a:solidFill>
            <a:srgbClr val="C1440E"/>
          </a:solidFill>
          <a:ln/>
        </p:spPr>
      </p:sp>
      <p:pic>
        <p:nvPicPr>
          <p:cNvPr id="12" name="Image 1" descr="icons/chart_white.png"/>
          <p:cNvPicPr>
            <a:picLocks noChangeAspect="1"/>
          </p:cNvPicPr>
          <p:nvPr/>
        </p:nvPicPr>
        <p:blipFill>
          <a:blip r:embed="rId4"/>
          <a:stretch>
            <a:fillRect/>
          </a:stretch>
        </p:blipFill>
        <p:spPr>
          <a:xfrm>
            <a:off x="6455847" y="1732971"/>
            <a:ext cx="228234" cy="228234"/>
          </a:xfrm>
          <a:prstGeom prst="rect">
            <a:avLst/>
          </a:prstGeom>
        </p:spPr>
      </p:pic>
      <p:sp>
        <p:nvSpPr>
          <p:cNvPr id="13" name="Text 9"/>
          <p:cNvSpPr/>
          <p:nvPr/>
        </p:nvSpPr>
        <p:spPr>
          <a:xfrm>
            <a:off x="6862572" y="1627632"/>
            <a:ext cx="4503420"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Experimental Setup &amp; Metrics</a:t>
            </a:r>
            <a:endParaRPr lang="en-US" sz="1200" dirty="0"/>
          </a:p>
        </p:txBody>
      </p:sp>
      <p:sp>
        <p:nvSpPr>
          <p:cNvPr id="14" name="Text 10"/>
          <p:cNvSpPr/>
          <p:nvPr/>
        </p:nvSpPr>
        <p:spPr>
          <a:xfrm>
            <a:off x="6387084" y="2139696"/>
            <a:ext cx="4960620"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Evaluated under controlled laboratory conditions using classification accuracy as the reported metric.</a:t>
            </a:r>
            <a:endParaRPr lang="en-US" sz="900" dirty="0"/>
          </a:p>
        </p:txBody>
      </p:sp>
      <p:sp>
        <p:nvSpPr>
          <p:cNvPr id="15" name="Shape 11"/>
          <p:cNvSpPr/>
          <p:nvPr/>
        </p:nvSpPr>
        <p:spPr>
          <a:xfrm>
            <a:off x="640080" y="3474720"/>
            <a:ext cx="10908792" cy="1847088"/>
          </a:xfrm>
          <a:prstGeom prst="roundRect">
            <a:avLst>
              <a:gd name="adj" fmla="val 3465"/>
            </a:avLst>
          </a:prstGeom>
          <a:solidFill>
            <a:srgbClr val="FAFBF8"/>
          </a:solidFill>
          <a:ln w="12700">
            <a:solidFill>
              <a:srgbClr val="E1E6DA"/>
            </a:solidFill>
            <a:prstDash val="solid"/>
          </a:ln>
        </p:spPr>
      </p:sp>
      <p:sp>
        <p:nvSpPr>
          <p:cNvPr id="16" name="Shape 12"/>
          <p:cNvSpPr/>
          <p:nvPr/>
        </p:nvSpPr>
        <p:spPr>
          <a:xfrm>
            <a:off x="804672" y="3584448"/>
            <a:ext cx="438912" cy="438912"/>
          </a:xfrm>
          <a:prstGeom prst="ellipse">
            <a:avLst/>
          </a:prstGeom>
          <a:solidFill>
            <a:srgbClr val="C1440E"/>
          </a:solidFill>
          <a:ln/>
        </p:spPr>
      </p:sp>
      <p:pic>
        <p:nvPicPr>
          <p:cNvPr id="17" name="Image 2" descr="icons/bullseye_white.png"/>
          <p:cNvPicPr>
            <a:picLocks noChangeAspect="1"/>
          </p:cNvPicPr>
          <p:nvPr/>
        </p:nvPicPr>
        <p:blipFill>
          <a:blip r:embed="rId5"/>
          <a:stretch>
            <a:fillRect/>
          </a:stretch>
        </p:blipFill>
        <p:spPr>
          <a:xfrm>
            <a:off x="910011" y="3689787"/>
            <a:ext cx="228234" cy="228234"/>
          </a:xfrm>
          <a:prstGeom prst="rect">
            <a:avLst/>
          </a:prstGeom>
        </p:spPr>
      </p:pic>
      <p:sp>
        <p:nvSpPr>
          <p:cNvPr id="18" name="Text 13"/>
          <p:cNvSpPr/>
          <p:nvPr/>
        </p:nvSpPr>
        <p:spPr>
          <a:xfrm>
            <a:off x="1316736" y="3584448"/>
            <a:ext cx="10049256" cy="438912"/>
          </a:xfrm>
          <a:prstGeom prst="rect">
            <a:avLst/>
          </a:prstGeom>
          <a:noFill/>
          <a:ln/>
        </p:spPr>
        <p:txBody>
          <a:bodyPr wrap="square" rtlCol="0" anchor="ctr"/>
          <a:lstStyle/>
          <a:p>
            <a:pPr marL="0" indent="0">
              <a:buNone/>
            </a:pPr>
            <a:r>
              <a:rPr lang="en-US" sz="1200" b="1" dirty="0">
                <a:solidFill>
                  <a:srgbClr val="1F4D36"/>
                </a:solidFill>
                <a:latin typeface="Cambria" pitchFamily="34" charset="0"/>
                <a:ea typeface="Cambria" pitchFamily="34" charset="-122"/>
                <a:cs typeface="Cambria" pitchFamily="34" charset="-120"/>
              </a:rPr>
              <a:t>Key Results</a:t>
            </a:r>
            <a:endParaRPr lang="en-US" sz="1200" dirty="0"/>
          </a:p>
        </p:txBody>
      </p:sp>
      <p:sp>
        <p:nvSpPr>
          <p:cNvPr id="19" name="Text 14"/>
          <p:cNvSpPr/>
          <p:nvPr/>
        </p:nvSpPr>
        <p:spPr>
          <a:xfrm>
            <a:off x="841248" y="4096512"/>
            <a:ext cx="10506456" cy="1097280"/>
          </a:xfrm>
          <a:prstGeom prst="rect">
            <a:avLst/>
          </a:prstGeom>
          <a:noFill/>
          <a:ln/>
        </p:spPr>
        <p:txBody>
          <a:bodyPr wrap="square" rtlCol="0" anchor="t"/>
          <a:lstStyle/>
          <a:p>
            <a:pPr marL="0" indent="0">
              <a:lnSpc>
                <a:spcPct val="112000"/>
              </a:lnSpc>
              <a:buNone/>
            </a:pPr>
            <a:r>
              <a:rPr lang="en-US" sz="900" dirty="0">
                <a:solidFill>
                  <a:srgbClr val="20261F"/>
                </a:solidFill>
                <a:latin typeface="Calibri" pitchFamily="34" charset="0"/>
                <a:ea typeface="Calibri" pitchFamily="34" charset="-122"/>
                <a:cs typeface="Calibri" pitchFamily="34" charset="-120"/>
              </a:rPr>
              <a:t>•  Classification accuracies above 99% under controlled laboratory conditions.</a:t>
            </a:r>
            <a:endParaRPr lang="en-US" sz="900" dirty="0"/>
          </a:p>
        </p:txBody>
      </p:sp>
      <p:sp>
        <p:nvSpPr>
          <p:cNvPr id="20" name="Shape 15"/>
          <p:cNvSpPr/>
          <p:nvPr/>
        </p:nvSpPr>
        <p:spPr>
          <a:xfrm>
            <a:off x="640080" y="5449824"/>
            <a:ext cx="5362956" cy="1060704"/>
          </a:xfrm>
          <a:prstGeom prst="roundRect">
            <a:avLst>
              <a:gd name="adj" fmla="val 7000"/>
            </a:avLst>
          </a:prstGeom>
          <a:solidFill>
            <a:srgbClr val="1F4D36"/>
          </a:solidFill>
          <a:ln/>
        </p:spPr>
      </p:sp>
      <p:sp>
        <p:nvSpPr>
          <p:cNvPr id="21" name="Shape 16"/>
          <p:cNvSpPr/>
          <p:nvPr/>
        </p:nvSpPr>
        <p:spPr>
          <a:xfrm>
            <a:off x="786384" y="5541264"/>
            <a:ext cx="402336" cy="402336"/>
          </a:xfrm>
          <a:prstGeom prst="ellipse">
            <a:avLst/>
          </a:prstGeom>
          <a:solidFill>
            <a:srgbClr val="C1440E"/>
          </a:solidFill>
          <a:ln/>
        </p:spPr>
      </p:sp>
      <p:pic>
        <p:nvPicPr>
          <p:cNvPr id="22" name="Image 3" descr="icons/network_white.png"/>
          <p:cNvPicPr>
            <a:picLocks noChangeAspect="1"/>
          </p:cNvPicPr>
          <p:nvPr/>
        </p:nvPicPr>
        <p:blipFill>
          <a:blip r:embed="rId3"/>
          <a:stretch>
            <a:fillRect/>
          </a:stretch>
        </p:blipFill>
        <p:spPr>
          <a:xfrm>
            <a:off x="882945" y="5637825"/>
            <a:ext cx="209215" cy="209215"/>
          </a:xfrm>
          <a:prstGeom prst="rect">
            <a:avLst/>
          </a:prstGeom>
        </p:spPr>
      </p:pic>
      <p:sp>
        <p:nvSpPr>
          <p:cNvPr id="23" name="Text 17"/>
          <p:cNvSpPr/>
          <p:nvPr/>
        </p:nvSpPr>
        <p:spPr>
          <a:xfrm>
            <a:off x="1243584" y="5541264"/>
            <a:ext cx="4594860" cy="365760"/>
          </a:xfrm>
          <a:prstGeom prst="rect">
            <a:avLst/>
          </a:prstGeom>
          <a:noFill/>
          <a:ln/>
        </p:spPr>
        <p:txBody>
          <a:bodyPr wrap="square"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Relevance to Proposed System</a:t>
            </a:r>
            <a:endParaRPr lang="en-US" sz="1100" dirty="0"/>
          </a:p>
        </p:txBody>
      </p:sp>
      <p:sp>
        <p:nvSpPr>
          <p:cNvPr id="24" name="Text 18"/>
          <p:cNvSpPr/>
          <p:nvPr/>
        </p:nvSpPr>
        <p:spPr>
          <a:xfrm>
            <a:off x="822960" y="5907024"/>
            <a:ext cx="4997196" cy="384048"/>
          </a:xfrm>
          <a:prstGeom prst="rect">
            <a:avLst/>
          </a:prstGeom>
          <a:noFill/>
          <a:ln/>
        </p:spPr>
        <p:txBody>
          <a:bodyPr wrap="square" rtlCol="0" anchor="t"/>
          <a:lstStyle/>
          <a:p>
            <a:pPr marL="0" indent="0">
              <a:lnSpc>
                <a:spcPct val="108000"/>
              </a:lnSpc>
              <a:buNone/>
            </a:pPr>
            <a:r>
              <a:rPr lang="en-US" sz="840" dirty="0">
                <a:solidFill>
                  <a:srgbClr val="E4EBE0"/>
                </a:solidFill>
                <a:latin typeface="Calibri" pitchFamily="34" charset="0"/>
                <a:ea typeface="Calibri" pitchFamily="34" charset="-122"/>
                <a:cs typeface="Calibri" pitchFamily="34" charset="-120"/>
              </a:rPr>
              <a:t>This paper provides a strong architectural and accuracy baseline for the proposed system's audio-classification branch, confirming that neural classifiers operating on acoustic features alone can achieve very high accuracy for RPW specifically.</a:t>
            </a:r>
            <a:endParaRPr lang="en-US" sz="840" dirty="0"/>
          </a:p>
        </p:txBody>
      </p:sp>
      <p:sp>
        <p:nvSpPr>
          <p:cNvPr id="25" name="Shape 19"/>
          <p:cNvSpPr/>
          <p:nvPr/>
        </p:nvSpPr>
        <p:spPr>
          <a:xfrm>
            <a:off x="6185916" y="5449824"/>
            <a:ext cx="5362956" cy="914400"/>
          </a:xfrm>
          <a:prstGeom prst="roundRect">
            <a:avLst>
              <a:gd name="adj" fmla="val 7000"/>
            </a:avLst>
          </a:prstGeom>
          <a:solidFill>
            <a:srgbClr val="FFF2E9"/>
          </a:solidFill>
          <a:ln w="13970">
            <a:solidFill>
              <a:srgbClr val="C1440E"/>
            </a:solidFill>
            <a:prstDash val="solid"/>
          </a:ln>
        </p:spPr>
      </p:sp>
      <p:sp>
        <p:nvSpPr>
          <p:cNvPr id="26" name="Shape 20"/>
          <p:cNvSpPr/>
          <p:nvPr/>
        </p:nvSpPr>
        <p:spPr>
          <a:xfrm>
            <a:off x="6332220" y="5541264"/>
            <a:ext cx="402336" cy="402336"/>
          </a:xfrm>
          <a:prstGeom prst="ellipse">
            <a:avLst/>
          </a:prstGeom>
          <a:solidFill>
            <a:srgbClr val="C1440E"/>
          </a:solidFill>
          <a:ln/>
        </p:spPr>
      </p:sp>
      <p:pic>
        <p:nvPicPr>
          <p:cNvPr id="27" name="Image 4" descr="icons/bug_white.png"/>
          <p:cNvPicPr>
            <a:picLocks noChangeAspect="1"/>
          </p:cNvPicPr>
          <p:nvPr/>
        </p:nvPicPr>
        <p:blipFill>
          <a:blip r:embed="rId6"/>
          <a:stretch>
            <a:fillRect/>
          </a:stretch>
        </p:blipFill>
        <p:spPr>
          <a:xfrm>
            <a:off x="6428781" y="5637825"/>
            <a:ext cx="209215" cy="209215"/>
          </a:xfrm>
          <a:prstGeom prst="rect">
            <a:avLst/>
          </a:prstGeom>
        </p:spPr>
      </p:pic>
      <p:sp>
        <p:nvSpPr>
          <p:cNvPr id="28" name="Text 21"/>
          <p:cNvSpPr/>
          <p:nvPr/>
        </p:nvSpPr>
        <p:spPr>
          <a:xfrm>
            <a:off x="6789420" y="5541264"/>
            <a:ext cx="4594860" cy="365760"/>
          </a:xfrm>
          <a:prstGeom prst="rect">
            <a:avLst/>
          </a:prstGeom>
          <a:noFill/>
          <a:ln/>
        </p:spPr>
        <p:txBody>
          <a:bodyPr wrap="square" rtlCol="0" anchor="ctr"/>
          <a:lstStyle/>
          <a:p>
            <a:pPr marL="0" indent="0">
              <a:buNone/>
            </a:pPr>
            <a:r>
              <a:rPr lang="en-US" sz="1100" b="1" dirty="0">
                <a:solidFill>
                  <a:srgbClr val="8A3A0E"/>
                </a:solidFill>
                <a:latin typeface="Cambria" pitchFamily="34" charset="0"/>
                <a:ea typeface="Cambria" pitchFamily="34" charset="-122"/>
                <a:cs typeface="Cambria" pitchFamily="34" charset="-120"/>
              </a:rPr>
              <a:t>Research Gap / Limitation</a:t>
            </a:r>
            <a:endParaRPr lang="en-US" sz="1100" dirty="0"/>
          </a:p>
        </p:txBody>
      </p:sp>
      <p:sp>
        <p:nvSpPr>
          <p:cNvPr id="29" name="Text 22"/>
          <p:cNvSpPr/>
          <p:nvPr/>
        </p:nvSpPr>
        <p:spPr>
          <a:xfrm>
            <a:off x="6368796" y="5907024"/>
            <a:ext cx="4997196" cy="384048"/>
          </a:xfrm>
          <a:prstGeom prst="rect">
            <a:avLst/>
          </a:prstGeom>
          <a:noFill/>
          <a:ln/>
        </p:spPr>
        <p:txBody>
          <a:bodyPr wrap="square" rtlCol="0" anchor="t"/>
          <a:lstStyle/>
          <a:p>
            <a:pPr marL="0" indent="0">
              <a:lnSpc>
                <a:spcPct val="108000"/>
              </a:lnSpc>
              <a:buNone/>
            </a:pPr>
            <a:r>
              <a:rPr lang="en-US" sz="840" dirty="0">
                <a:solidFill>
                  <a:srgbClr val="6B3400"/>
                </a:solidFill>
                <a:latin typeface="Calibri" pitchFamily="34" charset="0"/>
                <a:ea typeface="Calibri" pitchFamily="34" charset="-122"/>
                <a:cs typeface="Calibri" pitchFamily="34" charset="-120"/>
              </a:rPr>
              <a:t>The reported &gt;99% accuracy was achieved only under controlled laboratory conditions with no field testing, so it remains unclear how robust this approach would be to the noisier acoustic environment of a real plantation — a gap this project's field-oriented evaluation targets.</a:t>
            </a:r>
            <a:endParaRPr lang="en-US" sz="840" dirty="0"/>
          </a:p>
        </p:txBody>
      </p:sp>
      <p:sp>
        <p:nvSpPr>
          <p:cNvPr id="30" name="Text 23"/>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31" name="Text 24"/>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9174175" y="-1828800"/>
            <a:ext cx="5486400" cy="5486400"/>
          </a:xfrm>
          <a:prstGeom prst="ellipse">
            <a:avLst/>
          </a:prstGeom>
          <a:solidFill>
            <a:srgbClr val="1F4D36"/>
          </a:solidFill>
          <a:ln/>
        </p:spPr>
      </p:sp>
      <p:sp>
        <p:nvSpPr>
          <p:cNvPr id="3" name="Text 1"/>
          <p:cNvSpPr/>
          <p:nvPr/>
        </p:nvSpPr>
        <p:spPr>
          <a:xfrm>
            <a:off x="822960" y="502920"/>
            <a:ext cx="7315200" cy="320040"/>
          </a:xfrm>
          <a:prstGeom prst="rect">
            <a:avLst/>
          </a:prstGeom>
          <a:noFill/>
          <a:ln/>
        </p:spPr>
        <p:txBody>
          <a:bodyPr wrap="square" rtlCol="0" anchor="ctr"/>
          <a:lstStyle/>
          <a:p>
            <a:pPr marL="0" indent="0" algn="l">
              <a:buNone/>
            </a:pPr>
            <a:r>
              <a:rPr lang="en-US" sz="1200" b="1" kern="0" spc="200" dirty="0">
                <a:solidFill>
                  <a:srgbClr val="9FD6A8"/>
                </a:solidFill>
                <a:latin typeface="Calibri" pitchFamily="34" charset="0"/>
                <a:ea typeface="Calibri" pitchFamily="34" charset="-122"/>
                <a:cs typeface="Calibri" pitchFamily="34" charset="-120"/>
              </a:rPr>
              <a:t>ALGORITHMS — ABINAYA</a:t>
            </a:r>
            <a:endParaRPr lang="en-US" sz="1200" dirty="0"/>
          </a:p>
        </p:txBody>
      </p:sp>
      <p:sp>
        <p:nvSpPr>
          <p:cNvPr id="4" name="Text 2"/>
          <p:cNvSpPr/>
          <p:nvPr/>
        </p:nvSpPr>
        <p:spPr>
          <a:xfrm>
            <a:off x="822960" y="822960"/>
            <a:ext cx="100584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Section Synthesis: Algorithms &amp; Models for Pest Detection</a:t>
            </a:r>
            <a:endParaRPr lang="en-US" sz="2600" dirty="0"/>
          </a:p>
        </p:txBody>
      </p:sp>
      <p:sp>
        <p:nvSpPr>
          <p:cNvPr id="5" name="Shape 3"/>
          <p:cNvSpPr/>
          <p:nvPr/>
        </p:nvSpPr>
        <p:spPr>
          <a:xfrm>
            <a:off x="822960" y="1600200"/>
            <a:ext cx="10515600" cy="2103120"/>
          </a:xfrm>
          <a:prstGeom prst="roundRect">
            <a:avLst>
              <a:gd name="adj" fmla="val 3913"/>
            </a:avLst>
          </a:prstGeom>
          <a:solidFill>
            <a:srgbClr val="1F4D36"/>
          </a:solidFill>
          <a:ln/>
        </p:spPr>
      </p:sp>
      <p:sp>
        <p:nvSpPr>
          <p:cNvPr id="6" name="Shape 4"/>
          <p:cNvSpPr/>
          <p:nvPr/>
        </p:nvSpPr>
        <p:spPr>
          <a:xfrm>
            <a:off x="1211580" y="1805940"/>
            <a:ext cx="685800" cy="685800"/>
          </a:xfrm>
          <a:prstGeom prst="ellipse">
            <a:avLst/>
          </a:prstGeom>
          <a:solidFill>
            <a:srgbClr val="C1440E"/>
          </a:solidFill>
          <a:ln/>
        </p:spPr>
      </p:sp>
      <p:pic>
        <p:nvPicPr>
          <p:cNvPr id="7" name="Image 0" descr="icons/chart_white.png"/>
          <p:cNvPicPr>
            <a:picLocks noChangeAspect="1"/>
          </p:cNvPicPr>
          <p:nvPr/>
        </p:nvPicPr>
        <p:blipFill>
          <a:blip r:embed="rId3"/>
          <a:stretch>
            <a:fillRect/>
          </a:stretch>
        </p:blipFill>
        <p:spPr>
          <a:xfrm>
            <a:off x="1376172" y="1970532"/>
            <a:ext cx="356616" cy="356616"/>
          </a:xfrm>
          <a:prstGeom prst="rect">
            <a:avLst/>
          </a:prstGeom>
        </p:spPr>
      </p:pic>
      <p:sp>
        <p:nvSpPr>
          <p:cNvPr id="8" name="Text 5"/>
          <p:cNvSpPr/>
          <p:nvPr/>
        </p:nvSpPr>
        <p:spPr>
          <a:xfrm>
            <a:off x="2057400" y="1828800"/>
            <a:ext cx="896112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Trend Across These 5 Papers</a:t>
            </a:r>
            <a:endParaRPr lang="en-US" sz="1500" dirty="0"/>
          </a:p>
        </p:txBody>
      </p:sp>
      <p:sp>
        <p:nvSpPr>
          <p:cNvPr id="9" name="Text 6"/>
          <p:cNvSpPr/>
          <p:nvPr/>
        </p:nvSpPr>
        <p:spPr>
          <a:xfrm>
            <a:off x="1097280" y="2606040"/>
            <a:ext cx="9966960" cy="1005840"/>
          </a:xfrm>
          <a:prstGeom prst="rect">
            <a:avLst/>
          </a:prstGeom>
          <a:noFill/>
          <a:ln/>
        </p:spPr>
        <p:txBody>
          <a:bodyPr wrap="square" rtlCol="0" anchor="t"/>
          <a:lstStyle/>
          <a:p>
            <a:pPr marL="0" indent="0">
              <a:lnSpc>
                <a:spcPct val="122000"/>
              </a:lnSpc>
              <a:buNone/>
            </a:pPr>
            <a:r>
              <a:rPr lang="en-US" sz="1150" dirty="0">
                <a:solidFill>
                  <a:srgbClr val="E4EBE0"/>
                </a:solidFill>
                <a:latin typeface="Calibri" pitchFamily="34" charset="0"/>
                <a:ea typeface="Calibri" pitchFamily="34" charset="-122"/>
                <a:cs typeface="Calibri" pitchFamily="34" charset="-120"/>
              </a:rPr>
              <a:t>Read together, these five papers show two algorithmic tracks converging into a working system. On the visual side, Deng et al. and Yang et al. demonstrate that lightweight attention and multi-scale fusion modules lift YOLO's accuracy on small, visually similar pest targets, with Kamalesh Kanna et al.'s review mapping the speed-accuracy trade-offs across YOLO versions. On the acoustic side, Wang et al. confirm that a comparatively simple neural classifier can reach very high RPW-specific accuracy from sound alone. RED-BIYO (Siron Anita Susan T et al.) is the closest working precedent to the proposed system: it already combines a YOLO-family visual detector, a spiking CNN-BiGRU audio classifier, and Mamdani-fuzzy fusion into one 99.54%-accurate pipeline with a farmer-facing IoT alert.</a:t>
            </a:r>
            <a:endParaRPr lang="en-US" sz="1150" dirty="0"/>
          </a:p>
        </p:txBody>
      </p:sp>
      <p:sp>
        <p:nvSpPr>
          <p:cNvPr id="10" name="Shape 7"/>
          <p:cNvSpPr/>
          <p:nvPr/>
        </p:nvSpPr>
        <p:spPr>
          <a:xfrm>
            <a:off x="822960" y="3886200"/>
            <a:ext cx="10515600" cy="2514600"/>
          </a:xfrm>
          <a:prstGeom prst="roundRect">
            <a:avLst>
              <a:gd name="adj" fmla="val 3273"/>
            </a:avLst>
          </a:prstGeom>
          <a:solidFill>
            <a:srgbClr val="17372A"/>
          </a:solidFill>
          <a:ln w="15875">
            <a:solidFill>
              <a:srgbClr val="C1440E"/>
            </a:solidFill>
            <a:prstDash val="solid"/>
          </a:ln>
        </p:spPr>
      </p:sp>
      <p:sp>
        <p:nvSpPr>
          <p:cNvPr id="11" name="Shape 8"/>
          <p:cNvSpPr/>
          <p:nvPr/>
        </p:nvSpPr>
        <p:spPr>
          <a:xfrm>
            <a:off x="1211580" y="4091940"/>
            <a:ext cx="685800" cy="685800"/>
          </a:xfrm>
          <a:prstGeom prst="ellipse">
            <a:avLst/>
          </a:prstGeom>
          <a:solidFill>
            <a:srgbClr val="C1440E"/>
          </a:solidFill>
          <a:ln/>
        </p:spPr>
      </p:sp>
      <p:pic>
        <p:nvPicPr>
          <p:cNvPr id="12" name="Image 1" descr="icons/bug_white.png"/>
          <p:cNvPicPr>
            <a:picLocks noChangeAspect="1"/>
          </p:cNvPicPr>
          <p:nvPr/>
        </p:nvPicPr>
        <p:blipFill>
          <a:blip r:embed="rId4"/>
          <a:stretch>
            <a:fillRect/>
          </a:stretch>
        </p:blipFill>
        <p:spPr>
          <a:xfrm>
            <a:off x="1376172" y="4256532"/>
            <a:ext cx="356616" cy="356616"/>
          </a:xfrm>
          <a:prstGeom prst="rect">
            <a:avLst/>
          </a:prstGeom>
        </p:spPr>
      </p:pic>
      <p:sp>
        <p:nvSpPr>
          <p:cNvPr id="13" name="Text 9"/>
          <p:cNvSpPr/>
          <p:nvPr/>
        </p:nvSpPr>
        <p:spPr>
          <a:xfrm>
            <a:off x="2057400" y="4114800"/>
            <a:ext cx="8961120" cy="411480"/>
          </a:xfrm>
          <a:prstGeom prst="rect">
            <a:avLst/>
          </a:prstGeom>
          <a:noFill/>
          <a:ln/>
        </p:spPr>
        <p:txBody>
          <a:bodyPr wrap="square" rtlCol="0" anchor="ctr"/>
          <a:lstStyle/>
          <a:p>
            <a:pPr marL="0" indent="0">
              <a:buNone/>
            </a:pPr>
            <a:r>
              <a:rPr lang="en-US" sz="1500" b="1" dirty="0">
                <a:solidFill>
                  <a:srgbClr val="FFD9BE"/>
                </a:solidFill>
                <a:latin typeface="Cambria" pitchFamily="34" charset="0"/>
                <a:ea typeface="Cambria" pitchFamily="34" charset="-122"/>
                <a:cs typeface="Cambria" pitchFamily="34" charset="-120"/>
              </a:rPr>
              <a:t>Collective Research Gap for This Theme</a:t>
            </a:r>
            <a:endParaRPr lang="en-US" sz="1500" dirty="0"/>
          </a:p>
        </p:txBody>
      </p:sp>
      <p:sp>
        <p:nvSpPr>
          <p:cNvPr id="14" name="Text 10"/>
          <p:cNvSpPr/>
          <p:nvPr/>
        </p:nvSpPr>
        <p:spPr>
          <a:xfrm>
            <a:off x="1097280" y="4892040"/>
            <a:ext cx="9966960" cy="1371600"/>
          </a:xfrm>
          <a:prstGeom prst="rect">
            <a:avLst/>
          </a:prstGeom>
          <a:noFill/>
          <a:ln/>
        </p:spPr>
        <p:txBody>
          <a:bodyPr wrap="square" rtlCol="0" anchor="t"/>
          <a:lstStyle/>
          <a:p>
            <a:pPr marL="0" indent="0">
              <a:lnSpc>
                <a:spcPct val="122000"/>
              </a:lnSpc>
              <a:buNone/>
            </a:pPr>
            <a:r>
              <a:rPr lang="en-US" sz="1150" i="1" dirty="0">
                <a:solidFill>
                  <a:srgbClr val="F0DFD3"/>
                </a:solidFill>
                <a:latin typeface="Calibri" pitchFamily="34" charset="0"/>
                <a:ea typeface="Calibri" pitchFamily="34" charset="-122"/>
                <a:cs typeface="Calibri" pitchFamily="34" charset="-120"/>
              </a:rPr>
              <a:t>Even this closest prior system, RED-BIYO, still makes an isolated per-tree, per-scan decision with no spatial-temporal modelling across neighbouring trees — and its own authors flag two further gaps: the training dataset is proprietary and not publicly released, and its moderate compute needs (a 68.9 MB model on an RTX 3060) still require optimisation before genuine low-power edge deployment. These three gaps — no cross-tree analysis, no public data, and no edge validation — are exactly what the proposed system's spatial-temporal network layer and lightweight model choices are designed to close.</a:t>
            </a:r>
            <a:endParaRPr lang="en-US" sz="1150" dirty="0"/>
          </a:p>
        </p:txBody>
      </p:sp>
      <p:sp>
        <p:nvSpPr>
          <p:cNvPr id="15" name="Text 11"/>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16" name="Text 12"/>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PROPOSED SYSTEM</a:t>
            </a:r>
            <a:endParaRPr lang="en-US" sz="1200" dirty="0"/>
          </a:p>
        </p:txBody>
      </p:sp>
      <p:sp>
        <p:nvSpPr>
          <p:cNvPr id="3" name="Text 1"/>
          <p:cNvSpPr/>
          <p:nvPr/>
        </p:nvSpPr>
        <p:spPr>
          <a:xfrm>
            <a:off x="640080" y="658368"/>
            <a:ext cx="8229600" cy="502920"/>
          </a:xfrm>
          <a:prstGeom prst="rect">
            <a:avLst/>
          </a:prstGeom>
          <a:noFill/>
          <a:ln/>
        </p:spPr>
        <p:txBody>
          <a:bodyPr wrap="square" rtlCol="0" anchor="ctr"/>
          <a:lstStyle/>
          <a:p>
            <a:pPr marL="0" indent="0">
              <a:buNone/>
            </a:pPr>
            <a:r>
              <a:rPr lang="en-US" sz="2600" b="1" dirty="0">
                <a:solidFill>
                  <a:srgbClr val="1F4D36"/>
                </a:solidFill>
                <a:latin typeface="Cambria" pitchFamily="34" charset="0"/>
                <a:ea typeface="Cambria" pitchFamily="34" charset="-122"/>
                <a:cs typeface="Cambria" pitchFamily="34" charset="-120"/>
              </a:rPr>
              <a:t>Algorithm Chosen</a:t>
            </a:r>
            <a:endParaRPr lang="en-US" sz="2600" dirty="0"/>
          </a:p>
        </p:txBody>
      </p:sp>
      <p:sp>
        <p:nvSpPr>
          <p:cNvPr id="4" name="Text 2"/>
          <p:cNvSpPr/>
          <p:nvPr/>
        </p:nvSpPr>
        <p:spPr>
          <a:xfrm>
            <a:off x="640080" y="1170432"/>
            <a:ext cx="10607040" cy="320040"/>
          </a:xfrm>
          <a:prstGeom prst="rect">
            <a:avLst/>
          </a:prstGeom>
          <a:noFill/>
          <a:ln/>
        </p:spPr>
        <p:txBody>
          <a:bodyPr wrap="square" rtlCol="0" anchor="ctr"/>
          <a:lstStyle/>
          <a:p>
            <a:pPr marL="0" indent="0">
              <a:buNone/>
            </a:pPr>
            <a:r>
              <a:rPr lang="en-US" sz="1200" i="1" dirty="0">
                <a:solidFill>
                  <a:srgbClr val="5B6B5B"/>
                </a:solidFill>
                <a:latin typeface="Calibri" pitchFamily="34" charset="0"/>
                <a:ea typeface="Calibri" pitchFamily="34" charset="-122"/>
                <a:cs typeface="Calibri" pitchFamily="34" charset="-120"/>
              </a:rPr>
              <a:t>A bimodal (audio + RGB-image) deep-learning detection pipeline, fused by confidence-weighted / Mamdani-fuzzy decision logic.</a:t>
            </a:r>
            <a:endParaRPr lang="en-US" sz="1200" dirty="0"/>
          </a:p>
        </p:txBody>
      </p:sp>
      <p:sp>
        <p:nvSpPr>
          <p:cNvPr id="5" name="Shape 3"/>
          <p:cNvSpPr/>
          <p:nvPr/>
        </p:nvSpPr>
        <p:spPr>
          <a:xfrm>
            <a:off x="640080" y="1627632"/>
            <a:ext cx="4709160" cy="2697480"/>
          </a:xfrm>
          <a:prstGeom prst="roundRect">
            <a:avLst>
              <a:gd name="adj" fmla="val 2712"/>
            </a:avLst>
          </a:prstGeom>
          <a:solidFill>
            <a:srgbClr val="EDF1E7"/>
          </a:solidFill>
          <a:ln w="19050">
            <a:solidFill>
              <a:srgbClr val="1F4D36"/>
            </a:solidFill>
            <a:prstDash val="solid"/>
          </a:ln>
        </p:spPr>
      </p:sp>
      <p:sp>
        <p:nvSpPr>
          <p:cNvPr id="6" name="Shape 4"/>
          <p:cNvSpPr/>
          <p:nvPr/>
        </p:nvSpPr>
        <p:spPr>
          <a:xfrm>
            <a:off x="996696" y="1847088"/>
            <a:ext cx="658368" cy="658368"/>
          </a:xfrm>
          <a:prstGeom prst="ellipse">
            <a:avLst/>
          </a:prstGeom>
          <a:solidFill>
            <a:srgbClr val="1F4D36"/>
          </a:solidFill>
          <a:ln/>
        </p:spPr>
      </p:sp>
      <p:pic>
        <p:nvPicPr>
          <p:cNvPr id="7" name="Image 0" descr="icons/mic_white.png"/>
          <p:cNvPicPr>
            <a:picLocks noChangeAspect="1"/>
          </p:cNvPicPr>
          <p:nvPr/>
        </p:nvPicPr>
        <p:blipFill>
          <a:blip r:embed="rId3"/>
          <a:stretch>
            <a:fillRect/>
          </a:stretch>
        </p:blipFill>
        <p:spPr>
          <a:xfrm>
            <a:off x="1154704" y="2005096"/>
            <a:ext cx="342351" cy="342351"/>
          </a:xfrm>
          <a:prstGeom prst="rect">
            <a:avLst/>
          </a:prstGeom>
        </p:spPr>
      </p:pic>
      <p:sp>
        <p:nvSpPr>
          <p:cNvPr id="8" name="Text 5"/>
          <p:cNvSpPr/>
          <p:nvPr/>
        </p:nvSpPr>
        <p:spPr>
          <a:xfrm>
            <a:off x="1783080" y="1883664"/>
            <a:ext cx="3383280" cy="457200"/>
          </a:xfrm>
          <a:prstGeom prst="rect">
            <a:avLst/>
          </a:prstGeom>
          <a:noFill/>
          <a:ln/>
        </p:spPr>
        <p:txBody>
          <a:bodyPr wrap="square" rtlCol="0" anchor="ctr"/>
          <a:lstStyle/>
          <a:p>
            <a:pPr marL="0" indent="0">
              <a:buNone/>
            </a:pPr>
            <a:r>
              <a:rPr lang="en-US" sz="1500" b="1" dirty="0">
                <a:solidFill>
                  <a:srgbClr val="1F4D36"/>
                </a:solidFill>
                <a:latin typeface="Cambria" pitchFamily="34" charset="0"/>
                <a:ea typeface="Cambria" pitchFamily="34" charset="-122"/>
                <a:cs typeface="Cambria" pitchFamily="34" charset="-120"/>
              </a:rPr>
              <a:t>Audio Branch</a:t>
            </a:r>
            <a:endParaRPr lang="en-US" sz="1500" dirty="0"/>
          </a:p>
        </p:txBody>
      </p:sp>
      <p:sp>
        <p:nvSpPr>
          <p:cNvPr id="9" name="Text 6"/>
          <p:cNvSpPr/>
          <p:nvPr/>
        </p:nvSpPr>
        <p:spPr>
          <a:xfrm>
            <a:off x="1783080" y="2221992"/>
            <a:ext cx="3383280" cy="274320"/>
          </a:xfrm>
          <a:prstGeom prst="rect">
            <a:avLst/>
          </a:prstGeom>
          <a:noFill/>
          <a:ln/>
        </p:spPr>
        <p:txBody>
          <a:bodyPr wrap="square" rtlCol="0" anchor="ctr"/>
          <a:lstStyle/>
          <a:p>
            <a:pPr marL="0" indent="0">
              <a:buNone/>
            </a:pPr>
            <a:r>
              <a:rPr lang="en-US" sz="1000" i="1" dirty="0">
                <a:solidFill>
                  <a:srgbClr val="5B6B5B"/>
                </a:solidFill>
                <a:latin typeface="Calibri" pitchFamily="34" charset="0"/>
                <a:ea typeface="Calibri" pitchFamily="34" charset="-122"/>
                <a:cs typeface="Calibri" pitchFamily="34" charset="-120"/>
              </a:rPr>
              <a:t>Attention-augmented CNN + BiGRU</a:t>
            </a:r>
            <a:endParaRPr lang="en-US" sz="1000" dirty="0"/>
          </a:p>
        </p:txBody>
      </p:sp>
      <p:sp>
        <p:nvSpPr>
          <p:cNvPr id="10" name="Text 7"/>
          <p:cNvSpPr/>
          <p:nvPr/>
        </p:nvSpPr>
        <p:spPr>
          <a:xfrm>
            <a:off x="868680" y="2587752"/>
            <a:ext cx="4251960" cy="1600200"/>
          </a:xfrm>
          <a:prstGeom prst="rect">
            <a:avLst/>
          </a:prstGeom>
          <a:noFill/>
          <a:ln/>
        </p:spPr>
        <p:txBody>
          <a:bodyPr wrap="square" rtlCol="0" anchor="t"/>
          <a:lstStyle/>
          <a:p>
            <a:pPr marL="0" indent="0">
              <a:lnSpc>
                <a:spcPct val="116000"/>
              </a:lnSpc>
              <a:buNone/>
            </a:pPr>
            <a:r>
              <a:rPr lang="en-US" sz="1030" dirty="0">
                <a:solidFill>
                  <a:srgbClr val="20261F"/>
                </a:solidFill>
                <a:latin typeface="Calibri" pitchFamily="34" charset="0"/>
                <a:ea typeface="Calibri" pitchFamily="34" charset="-122"/>
                <a:cs typeface="Calibri" pitchFamily="34" charset="-120"/>
              </a:rPr>
              <a:t>Trunk-mounted recordings from the TreeVibes dataset are converted into spectrograms, following Boulila et al.'s acoustic-to-image strategy. A convolutional front end extracts spatial-frequency features, and a Bidirectional GRU (following Lu et al.'s CNN-BiGRU design) then captures forward and backward temporal dependencies across the larval feeding-sound signature. An attention mechanism, in the spirit of AMS-YOLO's SMCA module, is layered on top to weight the most discriminative frequency bands more heavily than background noise, addressing the noise-confusion limitation reported by several acoustic papers reviewed above.</a:t>
            </a:r>
            <a:endParaRPr lang="en-US" sz="1030" dirty="0"/>
          </a:p>
        </p:txBody>
      </p:sp>
      <p:sp>
        <p:nvSpPr>
          <p:cNvPr id="11" name="Shape 8"/>
          <p:cNvSpPr/>
          <p:nvPr/>
        </p:nvSpPr>
        <p:spPr>
          <a:xfrm>
            <a:off x="5669280" y="1627632"/>
            <a:ext cx="4709160" cy="2697480"/>
          </a:xfrm>
          <a:prstGeom prst="roundRect">
            <a:avLst>
              <a:gd name="adj" fmla="val 2712"/>
            </a:avLst>
          </a:prstGeom>
          <a:solidFill>
            <a:srgbClr val="EDF1E7"/>
          </a:solidFill>
          <a:ln w="19050">
            <a:solidFill>
              <a:srgbClr val="6E8F52"/>
            </a:solidFill>
            <a:prstDash val="solid"/>
          </a:ln>
        </p:spPr>
      </p:sp>
      <p:sp>
        <p:nvSpPr>
          <p:cNvPr id="12" name="Shape 9"/>
          <p:cNvSpPr/>
          <p:nvPr/>
        </p:nvSpPr>
        <p:spPr>
          <a:xfrm>
            <a:off x="6025896" y="1847088"/>
            <a:ext cx="658368" cy="658368"/>
          </a:xfrm>
          <a:prstGeom prst="ellipse">
            <a:avLst/>
          </a:prstGeom>
          <a:solidFill>
            <a:srgbClr val="6E8F52"/>
          </a:solidFill>
          <a:ln/>
        </p:spPr>
      </p:sp>
      <p:pic>
        <p:nvPicPr>
          <p:cNvPr id="13" name="Image 1" descr="icons/camera_white.png"/>
          <p:cNvPicPr>
            <a:picLocks noChangeAspect="1"/>
          </p:cNvPicPr>
          <p:nvPr/>
        </p:nvPicPr>
        <p:blipFill>
          <a:blip r:embed="rId4"/>
          <a:stretch>
            <a:fillRect/>
          </a:stretch>
        </p:blipFill>
        <p:spPr>
          <a:xfrm>
            <a:off x="6183904" y="2005096"/>
            <a:ext cx="342351" cy="342351"/>
          </a:xfrm>
          <a:prstGeom prst="rect">
            <a:avLst/>
          </a:prstGeom>
        </p:spPr>
      </p:pic>
      <p:sp>
        <p:nvSpPr>
          <p:cNvPr id="14" name="Text 10"/>
          <p:cNvSpPr/>
          <p:nvPr/>
        </p:nvSpPr>
        <p:spPr>
          <a:xfrm>
            <a:off x="6812280" y="1883664"/>
            <a:ext cx="3383280" cy="457200"/>
          </a:xfrm>
          <a:prstGeom prst="rect">
            <a:avLst/>
          </a:prstGeom>
          <a:noFill/>
          <a:ln/>
        </p:spPr>
        <p:txBody>
          <a:bodyPr wrap="square" rtlCol="0" anchor="ctr"/>
          <a:lstStyle/>
          <a:p>
            <a:pPr marL="0" indent="0">
              <a:buNone/>
            </a:pPr>
            <a:r>
              <a:rPr lang="en-US" sz="1500" b="1" dirty="0">
                <a:solidFill>
                  <a:srgbClr val="6E8F52"/>
                </a:solidFill>
                <a:latin typeface="Cambria" pitchFamily="34" charset="0"/>
                <a:ea typeface="Cambria" pitchFamily="34" charset="-122"/>
                <a:cs typeface="Cambria" pitchFamily="34" charset="-120"/>
              </a:rPr>
              <a:t>Visual Branch</a:t>
            </a:r>
            <a:endParaRPr lang="en-US" sz="1500" dirty="0"/>
          </a:p>
        </p:txBody>
      </p:sp>
      <p:sp>
        <p:nvSpPr>
          <p:cNvPr id="15" name="Text 11"/>
          <p:cNvSpPr/>
          <p:nvPr/>
        </p:nvSpPr>
        <p:spPr>
          <a:xfrm>
            <a:off x="6812280" y="2221992"/>
            <a:ext cx="3383280" cy="274320"/>
          </a:xfrm>
          <a:prstGeom prst="rect">
            <a:avLst/>
          </a:prstGeom>
          <a:noFill/>
          <a:ln/>
        </p:spPr>
        <p:txBody>
          <a:bodyPr wrap="square" rtlCol="0" anchor="ctr"/>
          <a:lstStyle/>
          <a:p>
            <a:pPr marL="0" indent="0">
              <a:buNone/>
            </a:pPr>
            <a:r>
              <a:rPr lang="en-US" sz="1000" i="1" dirty="0">
                <a:solidFill>
                  <a:srgbClr val="5B6B5B"/>
                </a:solidFill>
                <a:latin typeface="Calibri" pitchFamily="34" charset="0"/>
                <a:ea typeface="Calibri" pitchFamily="34" charset="-122"/>
                <a:cs typeface="Calibri" pitchFamily="34" charset="-120"/>
              </a:rPr>
              <a:t>YOLO / RetinaNet-family detector</a:t>
            </a:r>
            <a:endParaRPr lang="en-US" sz="1000" dirty="0"/>
          </a:p>
        </p:txBody>
      </p:sp>
      <p:sp>
        <p:nvSpPr>
          <p:cNvPr id="16" name="Text 12"/>
          <p:cNvSpPr/>
          <p:nvPr/>
        </p:nvSpPr>
        <p:spPr>
          <a:xfrm>
            <a:off x="5897880" y="2587752"/>
            <a:ext cx="4251960" cy="1600200"/>
          </a:xfrm>
          <a:prstGeom prst="rect">
            <a:avLst/>
          </a:prstGeom>
          <a:noFill/>
          <a:ln/>
        </p:spPr>
        <p:txBody>
          <a:bodyPr wrap="square" rtlCol="0" anchor="t"/>
          <a:lstStyle/>
          <a:p>
            <a:pPr marL="0" indent="0">
              <a:lnSpc>
                <a:spcPct val="116000"/>
              </a:lnSpc>
              <a:buNone/>
            </a:pPr>
            <a:r>
              <a:rPr lang="en-US" sz="1030" dirty="0">
                <a:solidFill>
                  <a:srgbClr val="20261F"/>
                </a:solidFill>
                <a:latin typeface="Calibri" pitchFamily="34" charset="0"/>
                <a:ea typeface="Calibri" pitchFamily="34" charset="-122"/>
                <a:cs typeface="Calibri" pitchFamily="34" charset="-120"/>
              </a:rPr>
              <a:t>RGB images from the Roboflow RPW dataset are processed by a single-stage YOLO-family detector (or RetinaNet where two-stage accuracy matters more than speed), localising the adult weevil or visible damage — boreholes, frass, discoloration — via bounding boxes. The variant is informed by Kamalesh Kanna et al.'s comparative review and by AMS-YOLO's attention/multi-scale fusion and Maize-YOLO's efficiency modules, both of which improve small-object accuracy without a large size increase. A Nano/small-scale variant is preferred over a larger backbone so inference can run on field-deployable, non-GPU hardware.</a:t>
            </a:r>
            <a:endParaRPr lang="en-US" sz="1030" dirty="0"/>
          </a:p>
        </p:txBody>
      </p:sp>
      <p:sp>
        <p:nvSpPr>
          <p:cNvPr id="17" name="Shape 13"/>
          <p:cNvSpPr/>
          <p:nvPr/>
        </p:nvSpPr>
        <p:spPr>
          <a:xfrm>
            <a:off x="2606040" y="4379976"/>
            <a:ext cx="365760" cy="292608"/>
          </a:xfrm>
          <a:prstGeom prst="downArrow">
            <a:avLst/>
          </a:prstGeom>
          <a:solidFill>
            <a:srgbClr val="1F4D36"/>
          </a:solidFill>
          <a:ln/>
        </p:spPr>
      </p:sp>
      <p:sp>
        <p:nvSpPr>
          <p:cNvPr id="18" name="Shape 14"/>
          <p:cNvSpPr/>
          <p:nvPr/>
        </p:nvSpPr>
        <p:spPr>
          <a:xfrm>
            <a:off x="7635240" y="4379976"/>
            <a:ext cx="365760" cy="292608"/>
          </a:xfrm>
          <a:prstGeom prst="downArrow">
            <a:avLst/>
          </a:prstGeom>
          <a:solidFill>
            <a:srgbClr val="6E8F52"/>
          </a:solidFill>
          <a:ln/>
        </p:spPr>
      </p:sp>
      <p:sp>
        <p:nvSpPr>
          <p:cNvPr id="19" name="Shape 15"/>
          <p:cNvSpPr/>
          <p:nvPr/>
        </p:nvSpPr>
        <p:spPr>
          <a:xfrm>
            <a:off x="640080" y="4745736"/>
            <a:ext cx="9738360" cy="1444752"/>
          </a:xfrm>
          <a:prstGeom prst="roundRect">
            <a:avLst>
              <a:gd name="adj" fmla="val 5063"/>
            </a:avLst>
          </a:prstGeom>
          <a:solidFill>
            <a:srgbClr val="12291D"/>
          </a:solidFill>
          <a:ln/>
        </p:spPr>
      </p:sp>
      <p:sp>
        <p:nvSpPr>
          <p:cNvPr id="20" name="Shape 16"/>
          <p:cNvSpPr/>
          <p:nvPr/>
        </p:nvSpPr>
        <p:spPr>
          <a:xfrm>
            <a:off x="969264" y="5138928"/>
            <a:ext cx="658368" cy="658368"/>
          </a:xfrm>
          <a:prstGeom prst="ellipse">
            <a:avLst/>
          </a:prstGeom>
          <a:solidFill>
            <a:srgbClr val="C1440E"/>
          </a:solidFill>
          <a:ln/>
        </p:spPr>
      </p:sp>
      <p:pic>
        <p:nvPicPr>
          <p:cNvPr id="21" name="Image 2" descr="icons/network_white.png"/>
          <p:cNvPicPr>
            <a:picLocks noChangeAspect="1"/>
          </p:cNvPicPr>
          <p:nvPr/>
        </p:nvPicPr>
        <p:blipFill>
          <a:blip r:embed="rId5"/>
          <a:stretch>
            <a:fillRect/>
          </a:stretch>
        </p:blipFill>
        <p:spPr>
          <a:xfrm>
            <a:off x="1127272" y="5296936"/>
            <a:ext cx="342351" cy="342351"/>
          </a:xfrm>
          <a:prstGeom prst="rect">
            <a:avLst/>
          </a:prstGeom>
        </p:spPr>
      </p:pic>
      <p:sp>
        <p:nvSpPr>
          <p:cNvPr id="22" name="Text 17"/>
          <p:cNvSpPr/>
          <p:nvPr/>
        </p:nvSpPr>
        <p:spPr>
          <a:xfrm>
            <a:off x="1828800" y="4882896"/>
            <a:ext cx="8229600" cy="32004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Fusion Layer — Confidence-Weighted / Mamdani-Fuzzy Logic</a:t>
            </a:r>
            <a:endParaRPr lang="en-US" sz="1300" dirty="0"/>
          </a:p>
        </p:txBody>
      </p:sp>
      <p:sp>
        <p:nvSpPr>
          <p:cNvPr id="23" name="Text 18"/>
          <p:cNvSpPr/>
          <p:nvPr/>
        </p:nvSpPr>
        <p:spPr>
          <a:xfrm>
            <a:off x="1828800" y="5202936"/>
            <a:ext cx="8366760" cy="914400"/>
          </a:xfrm>
          <a:prstGeom prst="rect">
            <a:avLst/>
          </a:prstGeom>
          <a:noFill/>
          <a:ln/>
        </p:spPr>
        <p:txBody>
          <a:bodyPr wrap="square" rtlCol="0" anchor="ctr"/>
          <a:lstStyle/>
          <a:p>
            <a:pPr marL="0" indent="0">
              <a:lnSpc>
                <a:spcPct val="116000"/>
              </a:lnSpc>
              <a:buNone/>
            </a:pPr>
            <a:r>
              <a:rPr lang="en-US" sz="1020" dirty="0">
                <a:solidFill>
                  <a:srgbClr val="D9E4D3"/>
                </a:solidFill>
                <a:latin typeface="Calibri" pitchFamily="34" charset="0"/>
                <a:ea typeface="Calibri" pitchFamily="34" charset="-122"/>
                <a:cs typeface="Calibri" pitchFamily="34" charset="-120"/>
              </a:rPr>
              <a:t>Audio and visual confidence scores are combined into a single per-tree infestation likelihood, following two literature-grounded strategies: an adaptive Kalman-style weighting (after Stephen et al.) that automatically down-weights whichever modality is currently less reliable, or a Mamdani fuzzy rule base (after the RED-BIYO base paper) as an interpretable fallback. Per-tree scores are then tagged with location and timestamp and analysed as a spatial graph, so that clusters of rising, still-individually-uncertain confidence among neighbouring trees can be flagged as an emerging farm-level outbreak.</a:t>
            </a:r>
            <a:endParaRPr lang="en-US" sz="1020" dirty="0"/>
          </a:p>
        </p:txBody>
      </p:sp>
      <p:sp>
        <p:nvSpPr>
          <p:cNvPr id="24" name="Text 19"/>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25" name="Text 20"/>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DATA FOUNDATION</a:t>
            </a:r>
            <a:endParaRPr lang="en-US" sz="1200" dirty="0"/>
          </a:p>
        </p:txBody>
      </p:sp>
      <p:sp>
        <p:nvSpPr>
          <p:cNvPr id="3" name="Text 1"/>
          <p:cNvSpPr/>
          <p:nvPr/>
        </p:nvSpPr>
        <p:spPr>
          <a:xfrm>
            <a:off x="640080" y="658368"/>
            <a:ext cx="8229600" cy="502920"/>
          </a:xfrm>
          <a:prstGeom prst="rect">
            <a:avLst/>
          </a:prstGeom>
          <a:noFill/>
          <a:ln/>
        </p:spPr>
        <p:txBody>
          <a:bodyPr wrap="square" rtlCol="0" anchor="ctr"/>
          <a:lstStyle/>
          <a:p>
            <a:pPr marL="0" indent="0">
              <a:buNone/>
            </a:pPr>
            <a:r>
              <a:rPr lang="en-US" sz="2600" b="1" dirty="0">
                <a:solidFill>
                  <a:srgbClr val="1F4D36"/>
                </a:solidFill>
                <a:latin typeface="Cambria" pitchFamily="34" charset="0"/>
                <a:ea typeface="Cambria" pitchFamily="34" charset="-122"/>
                <a:cs typeface="Cambria" pitchFamily="34" charset="-120"/>
              </a:rPr>
              <a:t>Dataset Understanding</a:t>
            </a:r>
            <a:endParaRPr lang="en-US" sz="2600" dirty="0"/>
          </a:p>
        </p:txBody>
      </p:sp>
      <p:sp>
        <p:nvSpPr>
          <p:cNvPr id="4" name="Text 2"/>
          <p:cNvSpPr/>
          <p:nvPr/>
        </p:nvSpPr>
        <p:spPr>
          <a:xfrm>
            <a:off x="640080" y="1170432"/>
            <a:ext cx="10607040" cy="347472"/>
          </a:xfrm>
          <a:prstGeom prst="rect">
            <a:avLst/>
          </a:prstGeom>
          <a:noFill/>
          <a:ln/>
        </p:spPr>
        <p:txBody>
          <a:bodyPr wrap="square" rtlCol="0" anchor="ctr"/>
          <a:lstStyle/>
          <a:p>
            <a:pPr marL="0" indent="0">
              <a:buNone/>
            </a:pPr>
            <a:r>
              <a:rPr lang="en-US" sz="1200" i="1" dirty="0">
                <a:solidFill>
                  <a:srgbClr val="5B6B5B"/>
                </a:solidFill>
                <a:latin typeface="Calibri" pitchFamily="34" charset="0"/>
                <a:ea typeface="Calibri" pitchFamily="34" charset="-122"/>
                <a:cs typeface="Calibri" pitchFamily="34" charset="-120"/>
              </a:rPr>
              <a:t>Two publicly available, single-modality datasets form the primary data sources — matching the bimodal design of the proposed system.</a:t>
            </a:r>
            <a:endParaRPr lang="en-US" sz="1200" dirty="0"/>
          </a:p>
        </p:txBody>
      </p:sp>
      <p:sp>
        <p:nvSpPr>
          <p:cNvPr id="5" name="Shape 3"/>
          <p:cNvSpPr/>
          <p:nvPr/>
        </p:nvSpPr>
        <p:spPr>
          <a:xfrm>
            <a:off x="640080" y="1627632"/>
            <a:ext cx="5349240" cy="3703320"/>
          </a:xfrm>
          <a:prstGeom prst="roundRect">
            <a:avLst>
              <a:gd name="adj" fmla="val 2222"/>
            </a:avLst>
          </a:prstGeom>
          <a:solidFill>
            <a:srgbClr val="FAFBF8"/>
          </a:solidFill>
          <a:ln w="12700">
            <a:solidFill>
              <a:srgbClr val="E1E6DA"/>
            </a:solidFill>
            <a:prstDash val="solid"/>
          </a:ln>
        </p:spPr>
      </p:sp>
      <p:sp>
        <p:nvSpPr>
          <p:cNvPr id="6" name="Shape 4"/>
          <p:cNvSpPr/>
          <p:nvPr/>
        </p:nvSpPr>
        <p:spPr>
          <a:xfrm>
            <a:off x="640080" y="1627632"/>
            <a:ext cx="5349240" cy="914400"/>
          </a:xfrm>
          <a:prstGeom prst="rect">
            <a:avLst/>
          </a:prstGeom>
          <a:solidFill>
            <a:srgbClr val="1F4D36"/>
          </a:solidFill>
          <a:ln/>
        </p:spPr>
      </p:sp>
      <p:sp>
        <p:nvSpPr>
          <p:cNvPr id="7" name="Shape 5"/>
          <p:cNvSpPr/>
          <p:nvPr/>
        </p:nvSpPr>
        <p:spPr>
          <a:xfrm>
            <a:off x="909828" y="1787652"/>
            <a:ext cx="594360" cy="594360"/>
          </a:xfrm>
          <a:prstGeom prst="ellipse">
            <a:avLst/>
          </a:prstGeom>
          <a:solidFill>
            <a:srgbClr val="1F4D36"/>
          </a:solidFill>
          <a:ln/>
        </p:spPr>
      </p:sp>
      <p:pic>
        <p:nvPicPr>
          <p:cNvPr id="8" name="Image 0" descr="icons/mic_white.png"/>
          <p:cNvPicPr>
            <a:picLocks noChangeAspect="1"/>
          </p:cNvPicPr>
          <p:nvPr/>
        </p:nvPicPr>
        <p:blipFill>
          <a:blip r:embed="rId3"/>
          <a:stretch>
            <a:fillRect/>
          </a:stretch>
        </p:blipFill>
        <p:spPr>
          <a:xfrm>
            <a:off x="1052474" y="1930298"/>
            <a:ext cx="309067" cy="309067"/>
          </a:xfrm>
          <a:prstGeom prst="rect">
            <a:avLst/>
          </a:prstGeom>
        </p:spPr>
      </p:pic>
      <p:sp>
        <p:nvSpPr>
          <p:cNvPr id="9" name="Text 6"/>
          <p:cNvSpPr/>
          <p:nvPr/>
        </p:nvSpPr>
        <p:spPr>
          <a:xfrm>
            <a:off x="1645920" y="1719072"/>
            <a:ext cx="4160520" cy="502920"/>
          </a:xfrm>
          <a:prstGeom prst="rect">
            <a:avLst/>
          </a:prstGeom>
          <a:noFill/>
          <a:ln/>
        </p:spPr>
        <p:txBody>
          <a:bodyPr wrap="square"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TreeVibes (Acoustic)</a:t>
            </a:r>
            <a:endParaRPr lang="en-US" sz="1300" dirty="0"/>
          </a:p>
        </p:txBody>
      </p:sp>
      <p:sp>
        <p:nvSpPr>
          <p:cNvPr id="10" name="Text 7"/>
          <p:cNvSpPr/>
          <p:nvPr/>
        </p:nvSpPr>
        <p:spPr>
          <a:xfrm>
            <a:off x="1645920" y="2194560"/>
            <a:ext cx="4160520" cy="274320"/>
          </a:xfrm>
          <a:prstGeom prst="rect">
            <a:avLst/>
          </a:prstGeom>
          <a:noFill/>
          <a:ln/>
        </p:spPr>
        <p:txBody>
          <a:bodyPr wrap="square" rtlCol="0" anchor="ctr"/>
          <a:lstStyle/>
          <a:p>
            <a:pPr marL="0" indent="0">
              <a:buNone/>
            </a:pPr>
            <a:r>
              <a:rPr lang="en-US" sz="950" i="1" dirty="0">
                <a:solidFill>
                  <a:srgbClr val="E4EBE0"/>
                </a:solidFill>
                <a:latin typeface="Calibri" pitchFamily="34" charset="0"/>
                <a:ea typeface="Calibri" pitchFamily="34" charset="-122"/>
                <a:cs typeface="Calibri" pitchFamily="34" charset="-120"/>
              </a:rPr>
              <a:t>Source: Kaggle — potamitis/treevibes</a:t>
            </a:r>
            <a:endParaRPr lang="en-US" sz="950" dirty="0"/>
          </a:p>
        </p:txBody>
      </p:sp>
      <p:sp>
        <p:nvSpPr>
          <p:cNvPr id="11" name="Text 8"/>
          <p:cNvSpPr/>
          <p:nvPr/>
        </p:nvSpPr>
        <p:spPr>
          <a:xfrm>
            <a:off x="896112" y="2724912"/>
            <a:ext cx="4837176" cy="2423160"/>
          </a:xfrm>
          <a:prstGeom prst="rect">
            <a:avLst/>
          </a:prstGeom>
          <a:noFill/>
          <a:ln/>
        </p:spPr>
        <p:txBody>
          <a:bodyPr wrap="square" rtlCol="0" anchor="t"/>
          <a:lstStyle/>
          <a:p>
            <a:pPr marL="0" indent="0">
              <a:lnSpc>
                <a:spcPct val="120000"/>
              </a:lnSpc>
              <a:buNone/>
            </a:pPr>
            <a:r>
              <a:rPr lang="en-US" sz="1060" dirty="0">
                <a:solidFill>
                  <a:srgbClr val="20261F"/>
                </a:solidFill>
                <a:latin typeface="Calibri" pitchFamily="34" charset="0"/>
                <a:ea typeface="Calibri" pitchFamily="34" charset="-122"/>
                <a:cs typeface="Calibri" pitchFamily="34" charset="-120"/>
              </a:rPr>
              <a:t>TreeVibes is a labelled collection of trunk-mounted acoustic recordings from infested and non-infested palm and other borer-susceptible trees, distributed by I. Potamitis and formally described as a monitoring platform by Rigakis et al. Recordings are captured via cloud-connected sensor nodes across a range of tree species, locations, and seasons, and have been reused in multiple acoustic RPW-detection studies (Boulila et al., Wang et al.) as a reproducible benchmark for training spectrogram-based larval-activity classifiers. As an audio-only resource, it carries no paired visual data for the same trees — this is why a second, image-based dataset is required for the RGB branch of the proposed system.</a:t>
            </a:r>
            <a:endParaRPr lang="en-US" sz="1060" dirty="0"/>
          </a:p>
        </p:txBody>
      </p:sp>
      <p:sp>
        <p:nvSpPr>
          <p:cNvPr id="12" name="Shape 9"/>
          <p:cNvSpPr/>
          <p:nvPr/>
        </p:nvSpPr>
        <p:spPr>
          <a:xfrm>
            <a:off x="6172200" y="1627632"/>
            <a:ext cx="5349240" cy="3703320"/>
          </a:xfrm>
          <a:prstGeom prst="roundRect">
            <a:avLst>
              <a:gd name="adj" fmla="val 2222"/>
            </a:avLst>
          </a:prstGeom>
          <a:solidFill>
            <a:srgbClr val="FAFBF8"/>
          </a:solidFill>
          <a:ln w="12700">
            <a:solidFill>
              <a:srgbClr val="E1E6DA"/>
            </a:solidFill>
            <a:prstDash val="solid"/>
          </a:ln>
        </p:spPr>
      </p:sp>
      <p:sp>
        <p:nvSpPr>
          <p:cNvPr id="13" name="Shape 10"/>
          <p:cNvSpPr/>
          <p:nvPr/>
        </p:nvSpPr>
        <p:spPr>
          <a:xfrm>
            <a:off x="6172200" y="1627632"/>
            <a:ext cx="5349240" cy="914400"/>
          </a:xfrm>
          <a:prstGeom prst="rect">
            <a:avLst/>
          </a:prstGeom>
          <a:solidFill>
            <a:srgbClr val="6E8F52"/>
          </a:solidFill>
          <a:ln/>
        </p:spPr>
      </p:sp>
      <p:sp>
        <p:nvSpPr>
          <p:cNvPr id="14" name="Shape 11"/>
          <p:cNvSpPr/>
          <p:nvPr/>
        </p:nvSpPr>
        <p:spPr>
          <a:xfrm>
            <a:off x="6441948" y="1787652"/>
            <a:ext cx="594360" cy="594360"/>
          </a:xfrm>
          <a:prstGeom prst="ellipse">
            <a:avLst/>
          </a:prstGeom>
          <a:solidFill>
            <a:srgbClr val="6E8F52"/>
          </a:solidFill>
          <a:ln/>
        </p:spPr>
      </p:sp>
      <p:pic>
        <p:nvPicPr>
          <p:cNvPr id="15" name="Image 1" descr="icons/camera_white.png"/>
          <p:cNvPicPr>
            <a:picLocks noChangeAspect="1"/>
          </p:cNvPicPr>
          <p:nvPr/>
        </p:nvPicPr>
        <p:blipFill>
          <a:blip r:embed="rId4"/>
          <a:stretch>
            <a:fillRect/>
          </a:stretch>
        </p:blipFill>
        <p:spPr>
          <a:xfrm>
            <a:off x="6584594" y="1930298"/>
            <a:ext cx="309067" cy="309067"/>
          </a:xfrm>
          <a:prstGeom prst="rect">
            <a:avLst/>
          </a:prstGeom>
        </p:spPr>
      </p:pic>
      <p:sp>
        <p:nvSpPr>
          <p:cNvPr id="16" name="Text 12"/>
          <p:cNvSpPr/>
          <p:nvPr/>
        </p:nvSpPr>
        <p:spPr>
          <a:xfrm>
            <a:off x="7178040" y="1719072"/>
            <a:ext cx="4160520" cy="502920"/>
          </a:xfrm>
          <a:prstGeom prst="rect">
            <a:avLst/>
          </a:prstGeom>
          <a:noFill/>
          <a:ln/>
        </p:spPr>
        <p:txBody>
          <a:bodyPr wrap="square" rtlCol="0" anchor="t"/>
          <a:lstStyle/>
          <a:p>
            <a:pPr marL="0" indent="0">
              <a:buNone/>
            </a:pPr>
            <a:r>
              <a:rPr lang="en-US" sz="1300" b="1" dirty="0">
                <a:solidFill>
                  <a:srgbClr val="FFFFFF"/>
                </a:solidFill>
                <a:latin typeface="Cambria" pitchFamily="34" charset="0"/>
                <a:ea typeface="Cambria" pitchFamily="34" charset="-122"/>
                <a:cs typeface="Cambria" pitchFamily="34" charset="-120"/>
              </a:rPr>
              <a:t>Red Palm Weevil Object Detection Dataset (Visual)</a:t>
            </a:r>
            <a:endParaRPr lang="en-US" sz="1300" dirty="0"/>
          </a:p>
        </p:txBody>
      </p:sp>
      <p:sp>
        <p:nvSpPr>
          <p:cNvPr id="17" name="Text 13"/>
          <p:cNvSpPr/>
          <p:nvPr/>
        </p:nvSpPr>
        <p:spPr>
          <a:xfrm>
            <a:off x="7178040" y="2194560"/>
            <a:ext cx="4160520" cy="274320"/>
          </a:xfrm>
          <a:prstGeom prst="rect">
            <a:avLst/>
          </a:prstGeom>
          <a:noFill/>
          <a:ln/>
        </p:spPr>
        <p:txBody>
          <a:bodyPr wrap="square" rtlCol="0" anchor="ctr"/>
          <a:lstStyle/>
          <a:p>
            <a:pPr marL="0" indent="0">
              <a:buNone/>
            </a:pPr>
            <a:r>
              <a:rPr lang="en-US" sz="950" i="1" dirty="0">
                <a:solidFill>
                  <a:srgbClr val="E4EBE0"/>
                </a:solidFill>
                <a:latin typeface="Calibri" pitchFamily="34" charset="0"/>
                <a:ea typeface="Calibri" pitchFamily="34" charset="-122"/>
                <a:cs typeface="Calibri" pitchFamily="34" charset="-120"/>
              </a:rPr>
              <a:t>Source: Roboflow Universe</a:t>
            </a:r>
            <a:endParaRPr lang="en-US" sz="950" dirty="0"/>
          </a:p>
        </p:txBody>
      </p:sp>
      <p:sp>
        <p:nvSpPr>
          <p:cNvPr id="18" name="Text 14"/>
          <p:cNvSpPr/>
          <p:nvPr/>
        </p:nvSpPr>
        <p:spPr>
          <a:xfrm>
            <a:off x="6428232" y="2724912"/>
            <a:ext cx="4837176" cy="2423160"/>
          </a:xfrm>
          <a:prstGeom prst="rect">
            <a:avLst/>
          </a:prstGeom>
          <a:noFill/>
          <a:ln/>
        </p:spPr>
        <p:txBody>
          <a:bodyPr wrap="square" rtlCol="0" anchor="t"/>
          <a:lstStyle/>
          <a:p>
            <a:pPr marL="0" indent="0">
              <a:lnSpc>
                <a:spcPct val="120000"/>
              </a:lnSpc>
              <a:buNone/>
            </a:pPr>
            <a:r>
              <a:rPr lang="en-US" sz="1060" dirty="0">
                <a:solidFill>
                  <a:srgbClr val="20261F"/>
                </a:solidFill>
                <a:latin typeface="Calibri" pitchFamily="34" charset="0"/>
                <a:ea typeface="Calibri" pitchFamily="34" charset="-122"/>
                <a:cs typeface="Calibri" pitchFamily="34" charset="-120"/>
              </a:rPr>
              <a:t>This is a community-maintained, bounding-box-annotated RGB image dataset of red palm weevils and infestation symptoms, exported in YOLO-compatible formats (YOLOv5 through YOLOv12, plus COCO / TFRecord / Darknet variants), making it directly usable to train the YOLO/RetinaNet-family visual detector proposed for this study. It is comparable in purpose to the purpose-built RGB datasets described in the literature, such as Wu et al.'s ~2,600-image set used to train an attention-enhanced YOLOv5 detector, and Nadeem et al.'s paired RGB-thermal set — both noted as alternative or supplementary visual sources should broader class coverage be required.</a:t>
            </a:r>
            <a:endParaRPr lang="en-US" sz="1060" dirty="0"/>
          </a:p>
        </p:txBody>
      </p:sp>
      <p:sp>
        <p:nvSpPr>
          <p:cNvPr id="19" name="Shape 15"/>
          <p:cNvSpPr/>
          <p:nvPr/>
        </p:nvSpPr>
        <p:spPr>
          <a:xfrm>
            <a:off x="640080" y="5486400"/>
            <a:ext cx="10881360" cy="868680"/>
          </a:xfrm>
          <a:prstGeom prst="roundRect">
            <a:avLst>
              <a:gd name="adj" fmla="val 8421"/>
            </a:avLst>
          </a:prstGeom>
          <a:solidFill>
            <a:srgbClr val="FFF2E9"/>
          </a:solidFill>
          <a:ln w="12700">
            <a:solidFill>
              <a:srgbClr val="C1440E"/>
            </a:solidFill>
            <a:prstDash val="solid"/>
          </a:ln>
        </p:spPr>
      </p:sp>
      <p:sp>
        <p:nvSpPr>
          <p:cNvPr id="20" name="Shape 16"/>
          <p:cNvSpPr/>
          <p:nvPr/>
        </p:nvSpPr>
        <p:spPr>
          <a:xfrm>
            <a:off x="982980" y="5673852"/>
            <a:ext cx="502920" cy="502920"/>
          </a:xfrm>
          <a:prstGeom prst="ellipse">
            <a:avLst/>
          </a:prstGeom>
          <a:solidFill>
            <a:srgbClr val="C1440E"/>
          </a:solidFill>
          <a:ln/>
        </p:spPr>
      </p:sp>
      <p:pic>
        <p:nvPicPr>
          <p:cNvPr id="21" name="Image 2" descr="icons/bug_white.png"/>
          <p:cNvPicPr>
            <a:picLocks noChangeAspect="1"/>
          </p:cNvPicPr>
          <p:nvPr/>
        </p:nvPicPr>
        <p:blipFill>
          <a:blip r:embed="rId5"/>
          <a:stretch>
            <a:fillRect/>
          </a:stretch>
        </p:blipFill>
        <p:spPr>
          <a:xfrm>
            <a:off x="1103681" y="5794553"/>
            <a:ext cx="261518" cy="261518"/>
          </a:xfrm>
          <a:prstGeom prst="rect">
            <a:avLst/>
          </a:prstGeom>
        </p:spPr>
      </p:pic>
      <p:sp>
        <p:nvSpPr>
          <p:cNvPr id="22" name="Text 17"/>
          <p:cNvSpPr/>
          <p:nvPr/>
        </p:nvSpPr>
        <p:spPr>
          <a:xfrm>
            <a:off x="1691640" y="5541264"/>
            <a:ext cx="9646920" cy="777240"/>
          </a:xfrm>
          <a:prstGeom prst="rect">
            <a:avLst/>
          </a:prstGeom>
          <a:noFill/>
          <a:ln/>
        </p:spPr>
        <p:txBody>
          <a:bodyPr wrap="square" rtlCol="0" anchor="ctr"/>
          <a:lstStyle/>
          <a:p>
            <a:pPr marL="0" indent="0">
              <a:buNone/>
            </a:pPr>
            <a:r>
              <a:rPr lang="en-US" sz="1080" i="1" dirty="0">
                <a:solidFill>
                  <a:srgbClr val="6B3400"/>
                </a:solidFill>
                <a:latin typeface="Calibri" pitchFamily="34" charset="0"/>
                <a:ea typeface="Calibri" pitchFamily="34" charset="-122"/>
                <a:cs typeface="Calibri" pitchFamily="34" charset="-120"/>
              </a:rPr>
              <a:t>Dataset gap: the two datasets are not collected on the same trees or under matched conditions, and are geographically narrow individually — so model-level fusion (not data-level pairing) is the appropriate integration strategy, with a purpose-built paired subset noted as future work.</a:t>
            </a:r>
            <a:endParaRPr lang="en-US" sz="1080" dirty="0"/>
          </a:p>
        </p:txBody>
      </p:sp>
      <p:sp>
        <p:nvSpPr>
          <p:cNvPr id="23" name="Text 18"/>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24" name="Text 19"/>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315200" cy="320040"/>
          </a:xfrm>
          <a:prstGeom prst="rect">
            <a:avLst/>
          </a:prstGeom>
          <a:noFill/>
          <a:ln/>
        </p:spPr>
        <p:txBody>
          <a:bodyPr wrap="square" rtlCol="0" anchor="ctr"/>
          <a:lstStyle/>
          <a:p>
            <a:pPr marL="0" indent="0" algn="l">
              <a:buNone/>
            </a:pPr>
            <a:r>
              <a:rPr lang="en-US" sz="1200" b="1" kern="0" spc="200" dirty="0">
                <a:solidFill>
                  <a:srgbClr val="1F4D36"/>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640080" y="603504"/>
            <a:ext cx="10058400" cy="457200"/>
          </a:xfrm>
          <a:prstGeom prst="rect">
            <a:avLst/>
          </a:prstGeom>
          <a:noFill/>
          <a:ln/>
        </p:spPr>
        <p:txBody>
          <a:bodyPr wrap="square" rtlCol="0" anchor="ctr"/>
          <a:lstStyle/>
          <a:p>
            <a:pPr marL="0" indent="0">
              <a:buNone/>
            </a:pPr>
            <a:r>
              <a:rPr lang="en-US" sz="2300" b="1" dirty="0">
                <a:solidFill>
                  <a:srgbClr val="1F4D36"/>
                </a:solidFill>
                <a:latin typeface="Cambria" pitchFamily="34" charset="0"/>
                <a:ea typeface="Cambria" pitchFamily="34" charset="-122"/>
                <a:cs typeface="Cambria" pitchFamily="34" charset="-120"/>
              </a:rPr>
              <a:t>Experiments &amp; Performance Metrics</a:t>
            </a:r>
            <a:endParaRPr lang="en-US" sz="2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170432"/>
          <a:ext cx="64922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7432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1F4D3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Formula</a:t>
                      </a:r>
                      <a:endParaRPr lang="en-US" sz="10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1F4D3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Used In</a:t>
                      </a:r>
                      <a:endParaRPr lang="en-US" sz="10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1F4D36"/>
                    </a:solidFill>
                  </a:tcPr>
                </a:tc>
                <a:extLst>
                  <a:ext uri="{0D108BD9-81ED-4DB2-BD59-A6C34878D82A}">
                    <a16:rowId xmlns:a16="http://schemas.microsoft.com/office/drawing/2014/main" val="10000"/>
                  </a:ext>
                </a:extLst>
              </a:tr>
              <a:tr h="365760">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Accuracy</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(TP+TN) / (TP+TN+FP+FN)</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Nearly all 18 papers studied</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Precision</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TP / (TP+FP)</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RED-BIYO, Kalman-fusion, LPC+BiLSTM, Wu et al.</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extLst>
                  <a:ext uri="{0D108BD9-81ED-4DB2-BD59-A6C34878D82A}">
                    <a16:rowId xmlns:a16="http://schemas.microsoft.com/office/drawing/2014/main" val="10002"/>
                  </a:ext>
                </a:extLst>
              </a:tr>
              <a:tr h="365760">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Recall / Sensitivity</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TP / (TP+FN)</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RED-BIYO, Kalman-fusion, LPC+BiLSTM, Wu et al.</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Specificity</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TN / (TN+FP)</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RED-BIYO, Kalman-fusion</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extLst>
                  <a:ext uri="{0D108BD9-81ED-4DB2-BD59-A6C34878D82A}">
                    <a16:rowId xmlns:a16="http://schemas.microsoft.com/office/drawing/2014/main" val="10004"/>
                  </a:ext>
                </a:extLst>
              </a:tr>
              <a:tr h="365760">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F1-score</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2×(Prec×Rec) / (Prec+Rec)</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RED-BIYO, Kalman-fusion, LPC+BiLSTM, Wu et al.</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MCC</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(TP·TN−FP·FN) / √[(TP+FP)(TP+FN)(TN+FP)(TN+FN)]</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RED-BIYO</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extLst>
                  <a:ext uri="{0D108BD9-81ED-4DB2-BD59-A6C34878D82A}">
                    <a16:rowId xmlns:a16="http://schemas.microsoft.com/office/drawing/2014/main" val="10006"/>
                  </a:ext>
                </a:extLst>
              </a:tr>
              <a:tr h="365760">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ROC-AUC</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Area under TPR vs. FPR curve</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Kalman-fusion paper</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mAP / IoU</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Mean AP over classes / overlap ratio</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tc>
                  <a:txBody>
                    <a:bodyPr/>
                    <a:lstStyle/>
                    <a:p>
                      <a:pPr marL="0" indent="0" algn="l">
                        <a:buNone/>
                      </a:pPr>
                      <a:r>
                        <a:rPr lang="en-US" sz="900" dirty="0">
                          <a:solidFill>
                            <a:srgbClr val="20261F"/>
                          </a:solidFill>
                          <a:latin typeface="Calibri" pitchFamily="34" charset="0"/>
                          <a:ea typeface="Calibri" pitchFamily="34" charset="-122"/>
                          <a:cs typeface="Calibri" pitchFamily="34" charset="-120"/>
                        </a:rPr>
                        <a:t>Wu, Deng, Yang (detection)</a:t>
                      </a:r>
                      <a:endParaRPr lang="en-US" sz="900" dirty="0">
                        <a:latin typeface="Calibri" charset="0"/>
                        <a:ea typeface="Calibri" charset="0"/>
                        <a:cs typeface="Calibri" charset="0"/>
                      </a:endParaRPr>
                    </a:p>
                  </a:txBody>
                  <a:tcPr anchor="ctr">
                    <a:lnL w="9525" cap="flat" cmpd="sng" algn="ctr">
                      <a:solidFill>
                        <a:srgbClr val="E1E6DA"/>
                      </a:solidFill>
                      <a:prstDash val="solid"/>
                      <a:round/>
                      <a:headEnd type="none" w="med" len="med"/>
                      <a:tailEnd type="none" w="med" len="med"/>
                    </a:lnL>
                    <a:lnR w="9525" cap="flat" cmpd="sng" algn="ctr">
                      <a:solidFill>
                        <a:srgbClr val="E1E6DA"/>
                      </a:solidFill>
                      <a:prstDash val="solid"/>
                      <a:round/>
                      <a:headEnd type="none" w="med" len="med"/>
                      <a:tailEnd type="none" w="med" len="med"/>
                    </a:lnR>
                    <a:lnT w="9525" cap="flat" cmpd="sng" algn="ctr">
                      <a:solidFill>
                        <a:srgbClr val="E1E6DA"/>
                      </a:solidFill>
                      <a:prstDash val="solid"/>
                      <a:round/>
                      <a:headEnd type="none" w="med" len="med"/>
                      <a:tailEnd type="none" w="med" len="med"/>
                    </a:lnT>
                    <a:lnB w="9525" cap="flat" cmpd="sng" algn="ctr">
                      <a:solidFill>
                        <a:srgbClr val="E1E6DA"/>
                      </a:solidFill>
                      <a:prstDash val="solid"/>
                      <a:round/>
                      <a:headEnd type="none" w="med" len="med"/>
                      <a:tailEnd type="none" w="med" len="med"/>
                    </a:lnB>
                    <a:solidFill>
                      <a:srgbClr val="F2F5EE"/>
                    </a:solidFill>
                  </a:tcPr>
                </a:tc>
                <a:extLst>
                  <a:ext uri="{0D108BD9-81ED-4DB2-BD59-A6C34878D82A}">
                    <a16:rowId xmlns:a16="http://schemas.microsoft.com/office/drawing/2014/main" val="10008"/>
                  </a:ext>
                </a:extLst>
              </a:tr>
            </a:tbl>
          </a:graphicData>
        </a:graphic>
      </p:graphicFrame>
      <p:sp>
        <p:nvSpPr>
          <p:cNvPr id="5" name="Text 2"/>
          <p:cNvSpPr/>
          <p:nvPr/>
        </p:nvSpPr>
        <p:spPr>
          <a:xfrm>
            <a:off x="7360920" y="1170432"/>
            <a:ext cx="4160520" cy="292608"/>
          </a:xfrm>
          <a:prstGeom prst="rect">
            <a:avLst/>
          </a:prstGeom>
          <a:noFill/>
          <a:ln/>
        </p:spPr>
        <p:txBody>
          <a:bodyPr wrap="square" rtlCol="0" anchor="ctr"/>
          <a:lstStyle/>
          <a:p>
            <a:pPr marL="0" indent="0">
              <a:buNone/>
            </a:pPr>
            <a:r>
              <a:rPr lang="en-US" sz="1050" b="1" dirty="0">
                <a:solidFill>
                  <a:srgbClr val="1F4D36"/>
                </a:solidFill>
                <a:latin typeface="Calibri" pitchFamily="34" charset="0"/>
                <a:ea typeface="Calibri" pitchFamily="34" charset="-122"/>
                <a:cs typeface="Calibri" pitchFamily="34" charset="-120"/>
              </a:rPr>
              <a:t>Reported Experimental Setups (Closest Benchmark Papers)</a:t>
            </a:r>
            <a:endParaRPr lang="en-US" sz="1050" dirty="0"/>
          </a:p>
        </p:txBody>
      </p:sp>
      <p:sp>
        <p:nvSpPr>
          <p:cNvPr id="6" name="Shape 3"/>
          <p:cNvSpPr/>
          <p:nvPr/>
        </p:nvSpPr>
        <p:spPr>
          <a:xfrm>
            <a:off x="7360920" y="1536192"/>
            <a:ext cx="4160520" cy="1298448"/>
          </a:xfrm>
          <a:prstGeom prst="roundRect">
            <a:avLst>
              <a:gd name="adj" fmla="val 4225"/>
            </a:avLst>
          </a:prstGeom>
          <a:solidFill>
            <a:srgbClr val="F2F5EE"/>
          </a:solidFill>
          <a:ln w="12700">
            <a:solidFill>
              <a:srgbClr val="DCE4D3"/>
            </a:solidFill>
            <a:prstDash val="solid"/>
          </a:ln>
        </p:spPr>
      </p:sp>
      <p:sp>
        <p:nvSpPr>
          <p:cNvPr id="7" name="Text 4"/>
          <p:cNvSpPr/>
          <p:nvPr/>
        </p:nvSpPr>
        <p:spPr>
          <a:xfrm>
            <a:off x="7525512" y="1600200"/>
            <a:ext cx="3831336" cy="256032"/>
          </a:xfrm>
          <a:prstGeom prst="rect">
            <a:avLst/>
          </a:prstGeom>
          <a:noFill/>
          <a:ln/>
        </p:spPr>
        <p:txBody>
          <a:bodyPr wrap="square" rtlCol="0" anchor="ctr"/>
          <a:lstStyle/>
          <a:p>
            <a:pPr marL="0" indent="0">
              <a:buNone/>
            </a:pPr>
            <a:r>
              <a:rPr lang="en-US" sz="1050" b="1" dirty="0">
                <a:solidFill>
                  <a:srgbClr val="6E8F52"/>
                </a:solidFill>
                <a:latin typeface="Calibri" pitchFamily="34" charset="0"/>
                <a:ea typeface="Calibri" pitchFamily="34" charset="-122"/>
                <a:cs typeface="Calibri" pitchFamily="34" charset="-120"/>
              </a:rPr>
              <a:t>RED-BIYO</a:t>
            </a:r>
            <a:endParaRPr lang="en-US" sz="1050" dirty="0"/>
          </a:p>
        </p:txBody>
      </p:sp>
      <p:sp>
        <p:nvSpPr>
          <p:cNvPr id="8" name="Text 5"/>
          <p:cNvSpPr/>
          <p:nvPr/>
        </p:nvSpPr>
        <p:spPr>
          <a:xfrm>
            <a:off x="7525512" y="1856232"/>
            <a:ext cx="3831336" cy="941832"/>
          </a:xfrm>
          <a:prstGeom prst="rect">
            <a:avLst/>
          </a:prstGeom>
          <a:noFill/>
          <a:ln/>
        </p:spPr>
        <p:txBody>
          <a:bodyPr wrap="square" rtlCol="0" anchor="t"/>
          <a:lstStyle/>
          <a:p>
            <a:pPr marL="0" indent="0">
              <a:lnSpc>
                <a:spcPct val="112000"/>
              </a:lnSpc>
              <a:buNone/>
            </a:pPr>
            <a:r>
              <a:rPr lang="en-US" sz="890" dirty="0">
                <a:solidFill>
                  <a:srgbClr val="20261F"/>
                </a:solidFill>
                <a:latin typeface="Calibri" pitchFamily="34" charset="0"/>
                <a:ea typeface="Calibri" pitchFamily="34" charset="-122"/>
                <a:cs typeface="Calibri" pitchFamily="34" charset="-120"/>
              </a:rPr>
              <a:t>3,000 stem images + 2,400 acoustic clips, split 80/10/10 per fold across 5-fold cross-validation with class balancing and a fixed seed. Run on an Intel i7, 16 GB RAM, NVIDIA RTX 3060. Reported accuracy 99.54%, MCC 97.93%, F1 94.87% — the closest prior bimodal fusion system to this project.</a:t>
            </a:r>
            <a:endParaRPr lang="en-US" sz="890" dirty="0"/>
          </a:p>
        </p:txBody>
      </p:sp>
      <p:sp>
        <p:nvSpPr>
          <p:cNvPr id="9" name="Shape 6"/>
          <p:cNvSpPr/>
          <p:nvPr/>
        </p:nvSpPr>
        <p:spPr>
          <a:xfrm>
            <a:off x="7360920" y="2935224"/>
            <a:ext cx="4160520" cy="1298448"/>
          </a:xfrm>
          <a:prstGeom prst="roundRect">
            <a:avLst>
              <a:gd name="adj" fmla="val 4225"/>
            </a:avLst>
          </a:prstGeom>
          <a:solidFill>
            <a:srgbClr val="F2F5EE"/>
          </a:solidFill>
          <a:ln w="12700">
            <a:solidFill>
              <a:srgbClr val="DCE4D3"/>
            </a:solidFill>
            <a:prstDash val="solid"/>
          </a:ln>
        </p:spPr>
      </p:sp>
      <p:sp>
        <p:nvSpPr>
          <p:cNvPr id="10" name="Text 7"/>
          <p:cNvSpPr/>
          <p:nvPr/>
        </p:nvSpPr>
        <p:spPr>
          <a:xfrm>
            <a:off x="7525512" y="2999232"/>
            <a:ext cx="3831336" cy="256032"/>
          </a:xfrm>
          <a:prstGeom prst="rect">
            <a:avLst/>
          </a:prstGeom>
          <a:noFill/>
          <a:ln/>
        </p:spPr>
        <p:txBody>
          <a:bodyPr wrap="square" rtlCol="0" anchor="ctr"/>
          <a:lstStyle/>
          <a:p>
            <a:pPr marL="0" indent="0">
              <a:buNone/>
            </a:pPr>
            <a:r>
              <a:rPr lang="en-US" sz="1050" b="1" dirty="0">
                <a:solidFill>
                  <a:srgbClr val="6E8F52"/>
                </a:solidFill>
                <a:latin typeface="Calibri" pitchFamily="34" charset="0"/>
                <a:ea typeface="Calibri" pitchFamily="34" charset="-122"/>
                <a:cs typeface="Calibri" pitchFamily="34" charset="-120"/>
              </a:rPr>
              <a:t>Acoustic–Microwave Fusion</a:t>
            </a:r>
            <a:endParaRPr lang="en-US" sz="1050" dirty="0"/>
          </a:p>
        </p:txBody>
      </p:sp>
      <p:sp>
        <p:nvSpPr>
          <p:cNvPr id="11" name="Text 8"/>
          <p:cNvSpPr/>
          <p:nvPr/>
        </p:nvSpPr>
        <p:spPr>
          <a:xfrm>
            <a:off x="7525512" y="3255264"/>
            <a:ext cx="3831336" cy="941832"/>
          </a:xfrm>
          <a:prstGeom prst="rect">
            <a:avLst/>
          </a:prstGeom>
          <a:noFill/>
          <a:ln/>
        </p:spPr>
        <p:txBody>
          <a:bodyPr wrap="square" rtlCol="0" anchor="t"/>
          <a:lstStyle/>
          <a:p>
            <a:pPr marL="0" indent="0">
              <a:lnSpc>
                <a:spcPct val="112000"/>
              </a:lnSpc>
              <a:buNone/>
            </a:pPr>
            <a:r>
              <a:rPr lang="en-US" sz="890" dirty="0">
                <a:solidFill>
                  <a:srgbClr val="20261F"/>
                </a:solidFill>
                <a:latin typeface="Calibri" pitchFamily="34" charset="0"/>
                <a:ea typeface="Calibri" pitchFamily="34" charset="-122"/>
                <a:cs typeface="Calibri" pitchFamily="34" charset="-120"/>
              </a:rPr>
              <a:t>3,077 acoustic clips (1,332 RPW / 1,745 non-RPW) plus 2,000 microwave samples, using an 80/10/10 stratified split (no k-fold) and comparing four fusion strategies. Acoustic-only reached 99%, microwave-only 50%, and adaptive Kalman-filter fusion 96.2% with AUC 0.98.</a:t>
            </a:r>
            <a:endParaRPr lang="en-US" sz="890" dirty="0"/>
          </a:p>
        </p:txBody>
      </p:sp>
      <p:sp>
        <p:nvSpPr>
          <p:cNvPr id="12" name="Shape 9"/>
          <p:cNvSpPr/>
          <p:nvPr/>
        </p:nvSpPr>
        <p:spPr>
          <a:xfrm>
            <a:off x="7360920" y="4334256"/>
            <a:ext cx="4160520" cy="1298448"/>
          </a:xfrm>
          <a:prstGeom prst="roundRect">
            <a:avLst>
              <a:gd name="adj" fmla="val 4225"/>
            </a:avLst>
          </a:prstGeom>
          <a:solidFill>
            <a:srgbClr val="F2F5EE"/>
          </a:solidFill>
          <a:ln w="12700">
            <a:solidFill>
              <a:srgbClr val="DCE4D3"/>
            </a:solidFill>
            <a:prstDash val="solid"/>
          </a:ln>
        </p:spPr>
      </p:sp>
      <p:sp>
        <p:nvSpPr>
          <p:cNvPr id="13" name="Text 10"/>
          <p:cNvSpPr/>
          <p:nvPr/>
        </p:nvSpPr>
        <p:spPr>
          <a:xfrm>
            <a:off x="7525512" y="4398264"/>
            <a:ext cx="3831336" cy="256032"/>
          </a:xfrm>
          <a:prstGeom prst="rect">
            <a:avLst/>
          </a:prstGeom>
          <a:noFill/>
          <a:ln/>
        </p:spPr>
        <p:txBody>
          <a:bodyPr wrap="square" rtlCol="0" anchor="ctr"/>
          <a:lstStyle/>
          <a:p>
            <a:pPr marL="0" indent="0">
              <a:buNone/>
            </a:pPr>
            <a:r>
              <a:rPr lang="en-US" sz="1050" b="1" dirty="0">
                <a:solidFill>
                  <a:srgbClr val="6E8F52"/>
                </a:solidFill>
                <a:latin typeface="Calibri" pitchFamily="34" charset="0"/>
                <a:ea typeface="Calibri" pitchFamily="34" charset="-122"/>
                <a:cs typeface="Calibri" pitchFamily="34" charset="-120"/>
              </a:rPr>
              <a:t>LPC + Bi-LSTM</a:t>
            </a:r>
            <a:endParaRPr lang="en-US" sz="1050" dirty="0"/>
          </a:p>
        </p:txBody>
      </p:sp>
      <p:sp>
        <p:nvSpPr>
          <p:cNvPr id="14" name="Text 11"/>
          <p:cNvSpPr/>
          <p:nvPr/>
        </p:nvSpPr>
        <p:spPr>
          <a:xfrm>
            <a:off x="7525512" y="4654296"/>
            <a:ext cx="3831336" cy="941832"/>
          </a:xfrm>
          <a:prstGeom prst="rect">
            <a:avLst/>
          </a:prstGeom>
          <a:noFill/>
          <a:ln/>
        </p:spPr>
        <p:txBody>
          <a:bodyPr wrap="square" rtlCol="0" anchor="t"/>
          <a:lstStyle/>
          <a:p>
            <a:pPr marL="0" indent="0">
              <a:lnSpc>
                <a:spcPct val="112000"/>
              </a:lnSpc>
              <a:buNone/>
            </a:pPr>
            <a:r>
              <a:rPr lang="en-US" sz="890" dirty="0">
                <a:solidFill>
                  <a:srgbClr val="20261F"/>
                </a:solidFill>
                <a:latin typeface="Calibri" pitchFamily="34" charset="0"/>
                <a:ea typeface="Calibri" pitchFamily="34" charset="-122"/>
                <a:cs typeface="Calibri" pitchFamily="34" charset="-120"/>
              </a:rPr>
              <a:t>3,000 acoustic segments (1,500 RPW / 1,500 non-RPW), split 2,400 train / 600 test, trained for 3,050 iterations with validation every 10 iterations in MATLAB using band-pass filtering and LPC order 14. Reported accuracy 98.02%, precision 0.972, recall 96.65%, F1 97%.</a:t>
            </a:r>
            <a:endParaRPr lang="en-US" sz="890" dirty="0"/>
          </a:p>
        </p:txBody>
      </p:sp>
      <p:sp>
        <p:nvSpPr>
          <p:cNvPr id="15" name="Shape 12"/>
          <p:cNvSpPr/>
          <p:nvPr/>
        </p:nvSpPr>
        <p:spPr>
          <a:xfrm>
            <a:off x="640080" y="5623560"/>
            <a:ext cx="10881360" cy="777240"/>
          </a:xfrm>
          <a:prstGeom prst="roundRect">
            <a:avLst>
              <a:gd name="adj" fmla="val 8235"/>
            </a:avLst>
          </a:prstGeom>
          <a:solidFill>
            <a:srgbClr val="12291D"/>
          </a:solidFill>
          <a:ln/>
        </p:spPr>
      </p:sp>
      <p:sp>
        <p:nvSpPr>
          <p:cNvPr id="16" name="Text 13"/>
          <p:cNvSpPr/>
          <p:nvPr/>
        </p:nvSpPr>
        <p:spPr>
          <a:xfrm>
            <a:off x="914400" y="5687568"/>
            <a:ext cx="10332720" cy="658368"/>
          </a:xfrm>
          <a:prstGeom prst="rect">
            <a:avLst/>
          </a:prstGeom>
          <a:noFill/>
          <a:ln/>
        </p:spPr>
        <p:txBody>
          <a:bodyPr wrap="square" rtlCol="0" anchor="ctr"/>
          <a:lstStyle/>
          <a:p>
            <a:pPr marL="0" indent="0">
              <a:buNone/>
            </a:pPr>
            <a:r>
              <a:rPr lang="en-US" sz="1000" i="1" dirty="0">
                <a:solidFill>
                  <a:srgbClr val="E4EBE0"/>
                </a:solidFill>
                <a:latin typeface="Calibri" pitchFamily="34" charset="0"/>
                <a:ea typeface="Calibri" pitchFamily="34" charset="-122"/>
                <a:cs typeface="Calibri" pitchFamily="34" charset="-120"/>
              </a:rPr>
              <a:t>Proposed evaluation protocol: tree-level train/val/test separation to prevent leakage; compare audio-only, RGB-only and fused models; report accuracy, precision, recall, specificity, F1, MCC &amp; ROC-AUC (plus IoU/mAP for detection); record model size and inference latency on edge hardware.</a:t>
            </a:r>
            <a:endParaRPr lang="en-US" sz="1000" dirty="0"/>
          </a:p>
        </p:txBody>
      </p:sp>
      <p:sp>
        <p:nvSpPr>
          <p:cNvPr id="17" name="Text 14"/>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5B6B5B"/>
                </a:solidFill>
                <a:latin typeface="Calibri" pitchFamily="34" charset="0"/>
                <a:ea typeface="Calibri" pitchFamily="34" charset="-122"/>
                <a:cs typeface="Calibri" pitchFamily="34" charset="-120"/>
              </a:rPr>
              <a:t>RPW Infestation Detection – AI Framework</a:t>
            </a:r>
            <a:endParaRPr lang="en-US" sz="900" dirty="0"/>
          </a:p>
        </p:txBody>
      </p:sp>
      <p:sp>
        <p:nvSpPr>
          <p:cNvPr id="18" name="Text 15"/>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5B6B5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8991295" y="-1828800"/>
            <a:ext cx="5486400" cy="5486400"/>
          </a:xfrm>
          <a:prstGeom prst="ellipse">
            <a:avLst/>
          </a:prstGeom>
          <a:solidFill>
            <a:srgbClr val="1F4D36"/>
          </a:solidFill>
          <a:ln/>
        </p:spPr>
      </p:sp>
      <p:sp>
        <p:nvSpPr>
          <p:cNvPr id="3" name="Text 1"/>
          <p:cNvSpPr/>
          <p:nvPr/>
        </p:nvSpPr>
        <p:spPr>
          <a:xfrm>
            <a:off x="822960" y="548640"/>
            <a:ext cx="7315200" cy="320040"/>
          </a:xfrm>
          <a:prstGeom prst="rect">
            <a:avLst/>
          </a:prstGeom>
          <a:noFill/>
          <a:ln/>
        </p:spPr>
        <p:txBody>
          <a:bodyPr wrap="square" rtlCol="0" anchor="ctr"/>
          <a:lstStyle/>
          <a:p>
            <a:pPr marL="0" indent="0" algn="l">
              <a:buNone/>
            </a:pPr>
            <a:r>
              <a:rPr lang="en-US" sz="1200" b="1" kern="0" spc="200" dirty="0">
                <a:solidFill>
                  <a:srgbClr val="9FD6A8"/>
                </a:solidFill>
                <a:latin typeface="Calibri" pitchFamily="34" charset="0"/>
                <a:ea typeface="Calibri" pitchFamily="34" charset="-122"/>
                <a:cs typeface="Calibri" pitchFamily="34" charset="-120"/>
              </a:rPr>
              <a:t>IMPACT</a:t>
            </a:r>
            <a:endParaRPr lang="en-US" sz="1200" dirty="0"/>
          </a:p>
        </p:txBody>
      </p:sp>
      <p:sp>
        <p:nvSpPr>
          <p:cNvPr id="4" name="Text 2"/>
          <p:cNvSpPr/>
          <p:nvPr/>
        </p:nvSpPr>
        <p:spPr>
          <a:xfrm>
            <a:off x="822960" y="868680"/>
            <a:ext cx="82296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SDG Justification</a:t>
            </a:r>
            <a:endParaRPr lang="en-US" sz="2800" dirty="0"/>
          </a:p>
        </p:txBody>
      </p:sp>
      <p:sp>
        <p:nvSpPr>
          <p:cNvPr id="5" name="Shape 3"/>
          <p:cNvSpPr/>
          <p:nvPr/>
        </p:nvSpPr>
        <p:spPr>
          <a:xfrm>
            <a:off x="822960" y="1737360"/>
            <a:ext cx="5257800" cy="4526280"/>
          </a:xfrm>
          <a:prstGeom prst="roundRect">
            <a:avLst>
              <a:gd name="adj" fmla="val 1818"/>
            </a:avLst>
          </a:prstGeom>
          <a:solidFill>
            <a:srgbClr val="1F4D36"/>
          </a:solidFill>
          <a:ln w="12700">
            <a:solidFill>
              <a:srgbClr val="3C6B4E"/>
            </a:solidFill>
            <a:prstDash val="solid"/>
          </a:ln>
        </p:spPr>
      </p:sp>
      <p:sp>
        <p:nvSpPr>
          <p:cNvPr id="6" name="Shape 4"/>
          <p:cNvSpPr/>
          <p:nvPr/>
        </p:nvSpPr>
        <p:spPr>
          <a:xfrm>
            <a:off x="1257300" y="2034540"/>
            <a:ext cx="868680" cy="868680"/>
          </a:xfrm>
          <a:prstGeom prst="ellipse">
            <a:avLst/>
          </a:prstGeom>
          <a:solidFill>
            <a:srgbClr val="C1440E"/>
          </a:solidFill>
          <a:ln/>
        </p:spPr>
      </p:sp>
      <p:pic>
        <p:nvPicPr>
          <p:cNvPr id="7" name="Image 0" descr="icons/leaf_white.png"/>
          <p:cNvPicPr>
            <a:picLocks noChangeAspect="1"/>
          </p:cNvPicPr>
          <p:nvPr/>
        </p:nvPicPr>
        <p:blipFill>
          <a:blip r:embed="rId3"/>
          <a:stretch>
            <a:fillRect/>
          </a:stretch>
        </p:blipFill>
        <p:spPr>
          <a:xfrm>
            <a:off x="1465783" y="2243023"/>
            <a:ext cx="451714" cy="451714"/>
          </a:xfrm>
          <a:prstGeom prst="rect">
            <a:avLst/>
          </a:prstGeom>
        </p:spPr>
      </p:pic>
      <p:sp>
        <p:nvSpPr>
          <p:cNvPr id="8" name="Text 5"/>
          <p:cNvSpPr/>
          <p:nvPr/>
        </p:nvSpPr>
        <p:spPr>
          <a:xfrm>
            <a:off x="2377440" y="2103120"/>
            <a:ext cx="347472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SDG 15</a:t>
            </a:r>
            <a:endParaRPr lang="en-US" sz="1800" dirty="0"/>
          </a:p>
        </p:txBody>
      </p:sp>
      <p:sp>
        <p:nvSpPr>
          <p:cNvPr id="9" name="Text 6"/>
          <p:cNvSpPr/>
          <p:nvPr/>
        </p:nvSpPr>
        <p:spPr>
          <a:xfrm>
            <a:off x="2377440" y="2487168"/>
            <a:ext cx="3474720" cy="502920"/>
          </a:xfrm>
          <a:prstGeom prst="rect">
            <a:avLst/>
          </a:prstGeom>
          <a:noFill/>
          <a:ln/>
        </p:spPr>
        <p:txBody>
          <a:bodyPr wrap="square" rtlCol="0" anchor="t"/>
          <a:lstStyle/>
          <a:p>
            <a:pPr marL="0" indent="0">
              <a:buNone/>
            </a:pPr>
            <a:r>
              <a:rPr lang="en-US" sz="1200" b="1" dirty="0">
                <a:solidFill>
                  <a:srgbClr val="9FD6A8"/>
                </a:solidFill>
                <a:latin typeface="Calibri" pitchFamily="34" charset="0"/>
                <a:ea typeface="Calibri" pitchFamily="34" charset="-122"/>
                <a:cs typeface="Calibri" pitchFamily="34" charset="-120"/>
              </a:rPr>
              <a:t>Life on Land</a:t>
            </a:r>
            <a:endParaRPr lang="en-US" sz="1200" dirty="0"/>
          </a:p>
        </p:txBody>
      </p:sp>
      <p:sp>
        <p:nvSpPr>
          <p:cNvPr id="10" name="Text 7"/>
          <p:cNvSpPr/>
          <p:nvPr/>
        </p:nvSpPr>
        <p:spPr>
          <a:xfrm>
            <a:off x="1143000" y="3108960"/>
            <a:ext cx="4617720" cy="274320"/>
          </a:xfrm>
          <a:prstGeom prst="rect">
            <a:avLst/>
          </a:prstGeom>
          <a:noFill/>
          <a:ln/>
        </p:spPr>
        <p:txBody>
          <a:bodyPr wrap="square" rtlCol="0" anchor="ctr"/>
          <a:lstStyle/>
          <a:p>
            <a:pPr marL="0" indent="0">
              <a:buNone/>
            </a:pPr>
            <a:r>
              <a:rPr lang="en-US" sz="1000" i="1" dirty="0">
                <a:solidFill>
                  <a:srgbClr val="C9D6BE"/>
                </a:solidFill>
                <a:latin typeface="Calibri" pitchFamily="34" charset="0"/>
                <a:ea typeface="Calibri" pitchFamily="34" charset="-122"/>
                <a:cs typeface="Calibri" pitchFamily="34" charset="-120"/>
              </a:rPr>
              <a:t>Targets 15.3 &amp; 15.8</a:t>
            </a:r>
            <a:endParaRPr lang="en-US" sz="1000" dirty="0"/>
          </a:p>
        </p:txBody>
      </p:sp>
      <p:sp>
        <p:nvSpPr>
          <p:cNvPr id="11" name="Text 8"/>
          <p:cNvSpPr/>
          <p:nvPr/>
        </p:nvSpPr>
        <p:spPr>
          <a:xfrm>
            <a:off x="1143000" y="3456432"/>
            <a:ext cx="4617720" cy="2606040"/>
          </a:xfrm>
          <a:prstGeom prst="rect">
            <a:avLst/>
          </a:prstGeom>
          <a:noFill/>
          <a:ln/>
        </p:spPr>
        <p:txBody>
          <a:bodyPr wrap="square" rtlCol="0" anchor="t"/>
          <a:lstStyle/>
          <a:p>
            <a:pPr marL="0" indent="0">
              <a:lnSpc>
                <a:spcPct val="120000"/>
              </a:lnSpc>
              <a:buNone/>
            </a:pPr>
            <a:r>
              <a:rPr lang="en-US" sz="1100" dirty="0">
                <a:solidFill>
                  <a:srgbClr val="E4EBE0"/>
                </a:solidFill>
                <a:latin typeface="Calibri" pitchFamily="34" charset="0"/>
                <a:ea typeface="Calibri" pitchFamily="34" charset="-122"/>
                <a:cs typeface="Calibri" pitchFamily="34" charset="-120"/>
              </a:rPr>
              <a:t>RPW is a globally invasive species causing severe, often irreversible damage to coconut, date and ornamental palms, degrading terrestrial plantation ecosystems and — in urban settings — the landscape and biodiversity value of palm populations more broadly, echoing the landscape-scale monitoring motivation of Kagan et al. SDG 15 explicitly targets prevention and control of invasive alien species (15.8) and restoration of degraded land and ecosystems (15.3). By enabling non-invasive, early-stage detection before internal larval damage becomes externally visible and irreversible, the proposed system supports timely intervention that reduces tree mortality, limits spread to neighbouring palms, and reduces reliance on blanket chemical treatment.</a:t>
            </a:r>
            <a:endParaRPr lang="en-US" sz="1100" dirty="0"/>
          </a:p>
        </p:txBody>
      </p:sp>
      <p:sp>
        <p:nvSpPr>
          <p:cNvPr id="12" name="Shape 9"/>
          <p:cNvSpPr/>
          <p:nvPr/>
        </p:nvSpPr>
        <p:spPr>
          <a:xfrm>
            <a:off x="6400800" y="1737360"/>
            <a:ext cx="5257800" cy="4526280"/>
          </a:xfrm>
          <a:prstGeom prst="roundRect">
            <a:avLst>
              <a:gd name="adj" fmla="val 1818"/>
            </a:avLst>
          </a:prstGeom>
          <a:solidFill>
            <a:srgbClr val="1F4D36"/>
          </a:solidFill>
          <a:ln w="12700">
            <a:solidFill>
              <a:srgbClr val="3C6B4E"/>
            </a:solidFill>
            <a:prstDash val="solid"/>
          </a:ln>
        </p:spPr>
      </p:sp>
      <p:sp>
        <p:nvSpPr>
          <p:cNvPr id="13" name="Shape 10"/>
          <p:cNvSpPr/>
          <p:nvPr/>
        </p:nvSpPr>
        <p:spPr>
          <a:xfrm>
            <a:off x="6835140" y="2034540"/>
            <a:ext cx="868680" cy="868680"/>
          </a:xfrm>
          <a:prstGeom prst="ellipse">
            <a:avLst/>
          </a:prstGeom>
          <a:solidFill>
            <a:srgbClr val="C1440E"/>
          </a:solidFill>
          <a:ln/>
        </p:spPr>
      </p:sp>
      <p:pic>
        <p:nvPicPr>
          <p:cNvPr id="14" name="Image 1" descr="icons/industry_white.png"/>
          <p:cNvPicPr>
            <a:picLocks noChangeAspect="1"/>
          </p:cNvPicPr>
          <p:nvPr/>
        </p:nvPicPr>
        <p:blipFill>
          <a:blip r:embed="rId4"/>
          <a:stretch>
            <a:fillRect/>
          </a:stretch>
        </p:blipFill>
        <p:spPr>
          <a:xfrm>
            <a:off x="7043623" y="2243023"/>
            <a:ext cx="451714" cy="451714"/>
          </a:xfrm>
          <a:prstGeom prst="rect">
            <a:avLst/>
          </a:prstGeom>
        </p:spPr>
      </p:pic>
      <p:sp>
        <p:nvSpPr>
          <p:cNvPr id="15" name="Text 11"/>
          <p:cNvSpPr/>
          <p:nvPr/>
        </p:nvSpPr>
        <p:spPr>
          <a:xfrm>
            <a:off x="7955280" y="2103120"/>
            <a:ext cx="347472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SDG 9</a:t>
            </a:r>
            <a:endParaRPr lang="en-US" sz="1800" dirty="0"/>
          </a:p>
        </p:txBody>
      </p:sp>
      <p:sp>
        <p:nvSpPr>
          <p:cNvPr id="16" name="Text 12"/>
          <p:cNvSpPr/>
          <p:nvPr/>
        </p:nvSpPr>
        <p:spPr>
          <a:xfrm>
            <a:off x="7955280" y="2487168"/>
            <a:ext cx="3474720" cy="502920"/>
          </a:xfrm>
          <a:prstGeom prst="rect">
            <a:avLst/>
          </a:prstGeom>
          <a:noFill/>
          <a:ln/>
        </p:spPr>
        <p:txBody>
          <a:bodyPr wrap="square" rtlCol="0" anchor="t"/>
          <a:lstStyle/>
          <a:p>
            <a:pPr marL="0" indent="0">
              <a:buNone/>
            </a:pPr>
            <a:r>
              <a:rPr lang="en-US" sz="1200" b="1" dirty="0">
                <a:solidFill>
                  <a:srgbClr val="9FD6A8"/>
                </a:solidFill>
                <a:latin typeface="Calibri" pitchFamily="34" charset="0"/>
                <a:ea typeface="Calibri" pitchFamily="34" charset="-122"/>
                <a:cs typeface="Calibri" pitchFamily="34" charset="-120"/>
              </a:rPr>
              <a:t>Industry, Innovation &amp; Infrastructure</a:t>
            </a:r>
            <a:endParaRPr lang="en-US" sz="1200" dirty="0"/>
          </a:p>
        </p:txBody>
      </p:sp>
      <p:sp>
        <p:nvSpPr>
          <p:cNvPr id="17" name="Text 13"/>
          <p:cNvSpPr/>
          <p:nvPr/>
        </p:nvSpPr>
        <p:spPr>
          <a:xfrm>
            <a:off x="6720840" y="3108960"/>
            <a:ext cx="4617720" cy="274320"/>
          </a:xfrm>
          <a:prstGeom prst="rect">
            <a:avLst/>
          </a:prstGeom>
          <a:noFill/>
          <a:ln/>
        </p:spPr>
        <p:txBody>
          <a:bodyPr wrap="square" rtlCol="0" anchor="ctr"/>
          <a:lstStyle/>
          <a:p>
            <a:pPr marL="0" indent="0">
              <a:buNone/>
            </a:pPr>
            <a:r>
              <a:rPr lang="en-US" sz="1000" i="1" dirty="0">
                <a:solidFill>
                  <a:srgbClr val="C9D6BE"/>
                </a:solidFill>
                <a:latin typeface="Calibri" pitchFamily="34" charset="0"/>
                <a:ea typeface="Calibri" pitchFamily="34" charset="-122"/>
                <a:cs typeface="Calibri" pitchFamily="34" charset="-120"/>
              </a:rPr>
              <a:t>Targets 9.1 &amp; 9.5</a:t>
            </a:r>
            <a:endParaRPr lang="en-US" sz="1000" dirty="0"/>
          </a:p>
        </p:txBody>
      </p:sp>
      <p:sp>
        <p:nvSpPr>
          <p:cNvPr id="18" name="Text 14"/>
          <p:cNvSpPr/>
          <p:nvPr/>
        </p:nvSpPr>
        <p:spPr>
          <a:xfrm>
            <a:off x="6720840" y="3456432"/>
            <a:ext cx="4617720" cy="2606040"/>
          </a:xfrm>
          <a:prstGeom prst="rect">
            <a:avLst/>
          </a:prstGeom>
          <a:noFill/>
          <a:ln/>
        </p:spPr>
        <p:txBody>
          <a:bodyPr wrap="square" rtlCol="0" anchor="t"/>
          <a:lstStyle/>
          <a:p>
            <a:pPr marL="0" indent="0">
              <a:lnSpc>
                <a:spcPct val="120000"/>
              </a:lnSpc>
              <a:buNone/>
            </a:pPr>
            <a:r>
              <a:rPr lang="en-US" sz="1100" dirty="0">
                <a:solidFill>
                  <a:srgbClr val="E4EBE0"/>
                </a:solidFill>
                <a:latin typeface="Calibri" pitchFamily="34" charset="0"/>
                <a:ea typeface="Calibri" pitchFamily="34" charset="-122"/>
                <a:cs typeface="Calibri" pitchFamily="34" charset="-120"/>
              </a:rPr>
              <a:t>The proposed system is itself a piece of innovative digital agricultural infrastructure — a bimodal AI detection pipeline built on lightweight, field-deployable sensing and inference hardware, in the spirit of the IoT-enabled architectures reviewed in this study (Martin et al.'s Raspberry-Pi thermal-CNN pipeline, RED-BIYO's IoT-Blynk alerting). SDG 9 targets enhanced scientific research and upgraded technological capabilities in industrial sectors (9.5) and reliable, resilient infrastructure for economic development (9.1). By translating attention-augmented deep learning, spectrogram-based audio classification, and sensor fusion into an accessible, low-cost monitoring tool, the proposed system builds technology-driven agricultural infrastructure for smallholder and mid-size plantations.</a:t>
            </a:r>
            <a:endParaRPr lang="en-US" sz="1100" dirty="0"/>
          </a:p>
        </p:txBody>
      </p:sp>
      <p:sp>
        <p:nvSpPr>
          <p:cNvPr id="19" name="Text 15"/>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20" name="Text 16"/>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291D"/>
        </a:solidFill>
        <a:effectLst/>
      </p:bgPr>
    </p:bg>
    <p:spTree>
      <p:nvGrpSpPr>
        <p:cNvPr id="1" name=""/>
        <p:cNvGrpSpPr/>
        <p:nvPr/>
      </p:nvGrpSpPr>
      <p:grpSpPr>
        <a:xfrm>
          <a:off x="0" y="0"/>
          <a:ext cx="0" cy="0"/>
          <a:chOff x="0" y="0"/>
          <a:chExt cx="0" cy="0"/>
        </a:xfrm>
      </p:grpSpPr>
      <p:sp>
        <p:nvSpPr>
          <p:cNvPr id="2" name="Shape 0"/>
          <p:cNvSpPr/>
          <p:nvPr/>
        </p:nvSpPr>
        <p:spPr>
          <a:xfrm>
            <a:off x="-2286000" y="3200400"/>
            <a:ext cx="6400800" cy="6400800"/>
          </a:xfrm>
          <a:prstGeom prst="ellipse">
            <a:avLst/>
          </a:prstGeom>
          <a:solidFill>
            <a:srgbClr val="1F4D36"/>
          </a:solidFill>
          <a:ln/>
        </p:spPr>
      </p:sp>
      <p:sp>
        <p:nvSpPr>
          <p:cNvPr id="3" name="Shape 1"/>
          <p:cNvSpPr/>
          <p:nvPr/>
        </p:nvSpPr>
        <p:spPr>
          <a:xfrm>
            <a:off x="8686800" y="-2743200"/>
            <a:ext cx="5486400" cy="5486400"/>
          </a:xfrm>
          <a:prstGeom prst="ellipse">
            <a:avLst/>
          </a:prstGeom>
          <a:solidFill>
            <a:srgbClr val="6E8F52"/>
          </a:solidFill>
          <a:ln/>
        </p:spPr>
      </p:sp>
      <p:sp>
        <p:nvSpPr>
          <p:cNvPr id="4" name="Shape 2"/>
          <p:cNvSpPr/>
          <p:nvPr/>
        </p:nvSpPr>
        <p:spPr>
          <a:xfrm>
            <a:off x="5547208" y="1554480"/>
            <a:ext cx="1097280" cy="1097280"/>
          </a:xfrm>
          <a:prstGeom prst="ellipse">
            <a:avLst/>
          </a:prstGeom>
          <a:solidFill>
            <a:srgbClr val="C1440E"/>
          </a:solidFill>
          <a:ln/>
        </p:spPr>
      </p:sp>
      <p:pic>
        <p:nvPicPr>
          <p:cNvPr id="5" name="Image 0" descr="icons/bug_white.png"/>
          <p:cNvPicPr>
            <a:picLocks noChangeAspect="1"/>
          </p:cNvPicPr>
          <p:nvPr/>
        </p:nvPicPr>
        <p:blipFill>
          <a:blip r:embed="rId3"/>
          <a:stretch>
            <a:fillRect/>
          </a:stretch>
        </p:blipFill>
        <p:spPr>
          <a:xfrm>
            <a:off x="5810555" y="1817827"/>
            <a:ext cx="570586" cy="570586"/>
          </a:xfrm>
          <a:prstGeom prst="rect">
            <a:avLst/>
          </a:prstGeom>
        </p:spPr>
      </p:pic>
      <p:sp>
        <p:nvSpPr>
          <p:cNvPr id="6" name="Text 3"/>
          <p:cNvSpPr/>
          <p:nvPr/>
        </p:nvSpPr>
        <p:spPr>
          <a:xfrm>
            <a:off x="0" y="2880360"/>
            <a:ext cx="12191695" cy="82296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4"/>
          <p:cNvSpPr/>
          <p:nvPr/>
        </p:nvSpPr>
        <p:spPr>
          <a:xfrm>
            <a:off x="0" y="3611880"/>
            <a:ext cx="12191695" cy="457200"/>
          </a:xfrm>
          <a:prstGeom prst="rect">
            <a:avLst/>
          </a:prstGeom>
          <a:noFill/>
          <a:ln/>
        </p:spPr>
        <p:txBody>
          <a:bodyPr wrap="square" rtlCol="0" anchor="ctr"/>
          <a:lstStyle/>
          <a:p>
            <a:pPr marL="0" indent="0" algn="ctr">
              <a:buNone/>
            </a:pPr>
            <a:r>
              <a:rPr lang="en-US" sz="1500" i="1" dirty="0">
                <a:solidFill>
                  <a:srgbClr val="C9D6BE"/>
                </a:solidFill>
                <a:latin typeface="Calibri" pitchFamily="34" charset="0"/>
                <a:ea typeface="Calibri" pitchFamily="34" charset="-122"/>
                <a:cs typeface="Calibri" pitchFamily="34" charset="-120"/>
              </a:rPr>
              <a:t>Questions &amp; Discussion</a:t>
            </a:r>
            <a:endParaRPr lang="en-US" sz="1500" dirty="0"/>
          </a:p>
        </p:txBody>
      </p:sp>
      <p:sp>
        <p:nvSpPr>
          <p:cNvPr id="8" name="Text 5"/>
          <p:cNvSpPr/>
          <p:nvPr/>
        </p:nvSpPr>
        <p:spPr>
          <a:xfrm>
            <a:off x="1340968" y="4434840"/>
            <a:ext cx="2926080" cy="3657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Vikram</a:t>
            </a:r>
            <a:endParaRPr lang="en-US" sz="1500" dirty="0"/>
          </a:p>
        </p:txBody>
      </p:sp>
      <p:sp>
        <p:nvSpPr>
          <p:cNvPr id="9" name="Text 6"/>
          <p:cNvSpPr/>
          <p:nvPr/>
        </p:nvSpPr>
        <p:spPr>
          <a:xfrm>
            <a:off x="1340968" y="4754880"/>
            <a:ext cx="2926080" cy="274320"/>
          </a:xfrm>
          <a:prstGeom prst="rect">
            <a:avLst/>
          </a:prstGeom>
          <a:noFill/>
          <a:ln/>
        </p:spPr>
        <p:txBody>
          <a:bodyPr wrap="square" rtlCol="0" anchor="ctr"/>
          <a:lstStyle/>
          <a:p>
            <a:pPr marL="0" indent="0" algn="ctr">
              <a:buNone/>
            </a:pPr>
            <a:r>
              <a:rPr lang="en-US" sz="1100" dirty="0">
                <a:solidFill>
                  <a:srgbClr val="C9D6BE"/>
                </a:solidFill>
                <a:latin typeface="Calibri" pitchFamily="34" charset="0"/>
                <a:ea typeface="Calibri" pitchFamily="34" charset="-122"/>
                <a:cs typeface="Calibri" pitchFamily="34" charset="-120"/>
              </a:rPr>
              <a:t>CB.SC.P2CSE26031</a:t>
            </a:r>
            <a:endParaRPr lang="en-US" sz="1100" dirty="0"/>
          </a:p>
        </p:txBody>
      </p:sp>
      <p:sp>
        <p:nvSpPr>
          <p:cNvPr id="10" name="Text 7"/>
          <p:cNvSpPr/>
          <p:nvPr/>
        </p:nvSpPr>
        <p:spPr>
          <a:xfrm>
            <a:off x="4632808" y="4434840"/>
            <a:ext cx="2926080" cy="3657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Akshath</a:t>
            </a:r>
            <a:endParaRPr lang="en-US" sz="1500" dirty="0"/>
          </a:p>
        </p:txBody>
      </p:sp>
      <p:sp>
        <p:nvSpPr>
          <p:cNvPr id="11" name="Text 8"/>
          <p:cNvSpPr/>
          <p:nvPr/>
        </p:nvSpPr>
        <p:spPr>
          <a:xfrm>
            <a:off x="4632808" y="4754880"/>
            <a:ext cx="2926080" cy="274320"/>
          </a:xfrm>
          <a:prstGeom prst="rect">
            <a:avLst/>
          </a:prstGeom>
          <a:noFill/>
          <a:ln/>
        </p:spPr>
        <p:txBody>
          <a:bodyPr wrap="square" rtlCol="0" anchor="ctr"/>
          <a:lstStyle/>
          <a:p>
            <a:pPr marL="0" indent="0" algn="ctr">
              <a:buNone/>
            </a:pPr>
            <a:r>
              <a:rPr lang="en-US" sz="1100" dirty="0">
                <a:solidFill>
                  <a:srgbClr val="C9D6BE"/>
                </a:solidFill>
                <a:latin typeface="Calibri" pitchFamily="34" charset="0"/>
                <a:ea typeface="Calibri" pitchFamily="34" charset="-122"/>
                <a:cs typeface="Calibri" pitchFamily="34" charset="-120"/>
              </a:rPr>
              <a:t>CB.SC.P2AIE26004</a:t>
            </a:r>
            <a:endParaRPr lang="en-US" sz="1100" dirty="0"/>
          </a:p>
        </p:txBody>
      </p:sp>
      <p:sp>
        <p:nvSpPr>
          <p:cNvPr id="12" name="Text 9"/>
          <p:cNvSpPr/>
          <p:nvPr/>
        </p:nvSpPr>
        <p:spPr>
          <a:xfrm>
            <a:off x="7924648" y="4434840"/>
            <a:ext cx="2926080" cy="3657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Abinaya</a:t>
            </a:r>
            <a:endParaRPr lang="en-US" sz="1500" dirty="0"/>
          </a:p>
        </p:txBody>
      </p:sp>
      <p:sp>
        <p:nvSpPr>
          <p:cNvPr id="13" name="Text 10"/>
          <p:cNvSpPr/>
          <p:nvPr/>
        </p:nvSpPr>
        <p:spPr>
          <a:xfrm>
            <a:off x="7924648" y="4754880"/>
            <a:ext cx="2926080" cy="274320"/>
          </a:xfrm>
          <a:prstGeom prst="rect">
            <a:avLst/>
          </a:prstGeom>
          <a:noFill/>
          <a:ln/>
        </p:spPr>
        <p:txBody>
          <a:bodyPr wrap="square" rtlCol="0" anchor="ctr"/>
          <a:lstStyle/>
          <a:p>
            <a:pPr marL="0" indent="0" algn="ctr">
              <a:buNone/>
            </a:pPr>
            <a:r>
              <a:rPr lang="en-US" sz="1100" dirty="0">
                <a:solidFill>
                  <a:srgbClr val="C9D6BE"/>
                </a:solidFill>
                <a:latin typeface="Calibri" pitchFamily="34" charset="0"/>
                <a:ea typeface="Calibri" pitchFamily="34" charset="-122"/>
                <a:cs typeface="Calibri" pitchFamily="34" charset="-120"/>
              </a:rPr>
              <a:t>CB.SC.P2AIE26002</a:t>
            </a:r>
            <a:endParaRPr lang="en-US" sz="1100" dirty="0"/>
          </a:p>
        </p:txBody>
      </p:sp>
      <p:sp>
        <p:nvSpPr>
          <p:cNvPr id="14" name="Text 11"/>
          <p:cNvSpPr/>
          <p:nvPr/>
        </p:nvSpPr>
        <p:spPr>
          <a:xfrm>
            <a:off x="0" y="6400800"/>
            <a:ext cx="12191695" cy="320040"/>
          </a:xfrm>
          <a:prstGeom prst="rect">
            <a:avLst/>
          </a:prstGeom>
          <a:noFill/>
          <a:ln/>
        </p:spPr>
        <p:txBody>
          <a:bodyPr wrap="square" rtlCol="0" anchor="ctr"/>
          <a:lstStyle/>
          <a:p>
            <a:pPr marL="0" indent="0" algn="ctr">
              <a:buNone/>
            </a:pPr>
            <a:r>
              <a:rPr lang="en-US" sz="1050" dirty="0">
                <a:solidFill>
                  <a:srgbClr val="8FA98C"/>
                </a:solidFill>
                <a:latin typeface="Calibri" pitchFamily="34" charset="0"/>
                <a:ea typeface="Calibri" pitchFamily="34" charset="-122"/>
                <a:cs typeface="Calibri" pitchFamily="34" charset="-120"/>
              </a:rPr>
              <a:t>Department of Computer Science and Engineering  |  Amrita Vishwa Vidyapeetham, Coimbatore</a:t>
            </a:r>
            <a:endParaRPr lang="en-US" sz="1050" dirty="0"/>
          </a:p>
        </p:txBody>
      </p:sp>
      <p:sp>
        <p:nvSpPr>
          <p:cNvPr id="15" name="Text 12"/>
          <p:cNvSpPr/>
          <p:nvPr/>
        </p:nvSpPr>
        <p:spPr>
          <a:xfrm>
            <a:off x="457200" y="6510528"/>
            <a:ext cx="6400800" cy="274320"/>
          </a:xfrm>
          <a:prstGeom prst="rect">
            <a:avLst/>
          </a:prstGeom>
          <a:noFill/>
          <a:ln/>
        </p:spPr>
        <p:txBody>
          <a:bodyPr wrap="square" rtlCol="0" anchor="ctr"/>
          <a:lstStyle/>
          <a:p>
            <a:pPr marL="0" indent="0" algn="l">
              <a:buNone/>
            </a:pPr>
            <a:r>
              <a:rPr lang="en-US" sz="900" dirty="0">
                <a:solidFill>
                  <a:srgbClr val="B9C6B4"/>
                </a:solidFill>
                <a:latin typeface="Calibri" pitchFamily="34" charset="0"/>
                <a:ea typeface="Calibri" pitchFamily="34" charset="-122"/>
                <a:cs typeface="Calibri" pitchFamily="34" charset="-120"/>
              </a:rPr>
              <a:t>RPW Infestation Detection – AI Framework</a:t>
            </a:r>
            <a:endParaRPr lang="en-US" sz="900" dirty="0"/>
          </a:p>
        </p:txBody>
      </p:sp>
      <p:sp>
        <p:nvSpPr>
          <p:cNvPr id="16" name="Text 13"/>
          <p:cNvSpPr/>
          <p:nvPr/>
        </p:nvSpPr>
        <p:spPr>
          <a:xfrm>
            <a:off x="11277295" y="6510528"/>
            <a:ext cx="457200" cy="274320"/>
          </a:xfrm>
          <a:prstGeom prst="rect">
            <a:avLst/>
          </a:prstGeom>
          <a:noFill/>
          <a:ln/>
        </p:spPr>
        <p:txBody>
          <a:bodyPr wrap="square" rtlCol="0" anchor="ctr"/>
          <a:lstStyle/>
          <a:p>
            <a:pPr marL="0" indent="0" algn="r">
              <a:buNone/>
            </a:pPr>
            <a:r>
              <a:rPr lang="en-US" sz="900" dirty="0">
                <a:solidFill>
                  <a:srgbClr val="B9C6B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6180</Words>
  <Application>Microsoft Office PowerPoint</Application>
  <PresentationFormat>Widescreen</PresentationFormat>
  <Paragraphs>499</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Abinaya Senthil</cp:lastModifiedBy>
  <cp:revision>6</cp:revision>
  <dcterms:created xsi:type="dcterms:W3CDTF">2026-09-18T18:17:07Z</dcterms:created>
  <dcterms:modified xsi:type="dcterms:W3CDTF">2026-09-18T18:36:06Z</dcterms:modified>
</cp:coreProperties>
</file>