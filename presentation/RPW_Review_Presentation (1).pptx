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65" r:id="rId2"/>
    <p:sldMasterId id="2147483677" r:id="rId3"/>
    <p:sldMasterId id="2147483679" r:id="rId4"/>
    <p:sldMasterId id="2147483682" r:id="rId5"/>
  </p:sldMasterIdLst>
  <p:notesMasterIdLst>
    <p:notesMasterId r:id="rId11"/>
  </p:notesMasterIdLst>
  <p:sldIdLst>
    <p:sldId id="257" r:id="rId6"/>
    <p:sldId id="258" r:id="rId7"/>
    <p:sldId id="259" r:id="rId8"/>
    <p:sldId id="260" r:id="rId9"/>
    <p:sldId id="261" r:id="rId10"/>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219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637251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9767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5072848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975817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2780649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740140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36265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2" name="Google Shape;812;p10"/>
          <p:cNvSpPr>
            <a:spLocks noGrp="1"/>
          </p:cNvSpPr>
          <p:nvPr>
            <p:ph type="pic" idx="2"/>
          </p:nvPr>
        </p:nvSpPr>
        <p:spPr>
          <a:xfrm>
            <a:off x="5183188" y="987427"/>
            <a:ext cx="6172200" cy="4873500"/>
          </a:xfrm>
          <a:prstGeom prst="rect">
            <a:avLst/>
          </a:prstGeom>
          <a:noFill/>
          <a:ln>
            <a:noFill/>
          </a:ln>
        </p:spPr>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852233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264369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171147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194100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extLst>
      <p:ext uri="{BB962C8B-B14F-4D97-AF65-F5344CB8AC3E}">
        <p14:creationId xmlns:p14="http://schemas.microsoft.com/office/powerpoint/2010/main" val="18243775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68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841"/>
        <p:cNvGrpSpPr/>
        <p:nvPr/>
      </p:nvGrpSpPr>
      <p:grpSpPr>
        <a:xfrm>
          <a:off x="0" y="0"/>
          <a:ext cx="0" cy="0"/>
          <a:chOff x="0" y="0"/>
          <a:chExt cx="0" cy="0"/>
        </a:xfrm>
      </p:grpSpPr>
      <p:sp>
        <p:nvSpPr>
          <p:cNvPr id="842" name="Google Shape;842;p1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3" name="Google Shape;84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44" name="Google Shape;844;p1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5" name="Google Shape;845;p1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6" name="Google Shape;846;p1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512714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47"/>
        <p:cNvGrpSpPr/>
        <p:nvPr/>
      </p:nvGrpSpPr>
      <p:grpSpPr>
        <a:xfrm>
          <a:off x="0" y="0"/>
          <a:ext cx="0" cy="0"/>
          <a:chOff x="0" y="0"/>
          <a:chExt cx="0" cy="0"/>
        </a:xfrm>
      </p:grpSpPr>
      <p:sp>
        <p:nvSpPr>
          <p:cNvPr id="848" name="Google Shape;848;p1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9" name="Google Shape;849;p1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850" name="Google Shape;850;p1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1" name="Google Shape;851;p1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2" name="Google Shape;852;p1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67253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853"/>
        <p:cNvGrpSpPr/>
        <p:nvPr/>
      </p:nvGrpSpPr>
      <p:grpSpPr>
        <a:xfrm>
          <a:off x="0" y="0"/>
          <a:ext cx="0" cy="0"/>
          <a:chOff x="0" y="0"/>
          <a:chExt cx="0" cy="0"/>
        </a:xfrm>
      </p:grpSpPr>
      <p:sp>
        <p:nvSpPr>
          <p:cNvPr id="854" name="Google Shape;854;p18"/>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55" name="Google Shape;855;p18"/>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856" name="Google Shape;856;p1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7" name="Google Shape;857;p1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8" name="Google Shape;858;p1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904825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859"/>
        <p:cNvGrpSpPr/>
        <p:nvPr/>
      </p:nvGrpSpPr>
      <p:grpSpPr>
        <a:xfrm>
          <a:off x="0" y="0"/>
          <a:ext cx="0" cy="0"/>
          <a:chOff x="0" y="0"/>
          <a:chExt cx="0" cy="0"/>
        </a:xfrm>
      </p:grpSpPr>
      <p:sp>
        <p:nvSpPr>
          <p:cNvPr id="860" name="Google Shape;860;p1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1" name="Google Shape;861;p1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2" name="Google Shape;862;p1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3" name="Google Shape;863;p1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4" name="Google Shape;864;p1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5" name="Google Shape;865;p1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981068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866"/>
        <p:cNvGrpSpPr/>
        <p:nvPr/>
      </p:nvGrpSpPr>
      <p:grpSpPr>
        <a:xfrm>
          <a:off x="0" y="0"/>
          <a:ext cx="0" cy="0"/>
          <a:chOff x="0" y="0"/>
          <a:chExt cx="0" cy="0"/>
        </a:xfrm>
      </p:grpSpPr>
      <p:sp>
        <p:nvSpPr>
          <p:cNvPr id="867" name="Google Shape;867;p20"/>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8" name="Google Shape;868;p20"/>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69" name="Google Shape;869;p20"/>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0" name="Google Shape;870;p20"/>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71" name="Google Shape;871;p20"/>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2" name="Google Shape;872;p2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3" name="Google Shape;873;p2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4" name="Google Shape;874;p2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4335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875"/>
        <p:cNvGrpSpPr/>
        <p:nvPr/>
      </p:nvGrpSpPr>
      <p:grpSpPr>
        <a:xfrm>
          <a:off x="0" y="0"/>
          <a:ext cx="0" cy="0"/>
          <a:chOff x="0" y="0"/>
          <a:chExt cx="0" cy="0"/>
        </a:xfrm>
      </p:grpSpPr>
      <p:sp>
        <p:nvSpPr>
          <p:cNvPr id="876" name="Google Shape;876;p2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77" name="Google Shape;877;p2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8" name="Google Shape;878;p2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9" name="Google Shape;879;p2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58763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880"/>
        <p:cNvGrpSpPr/>
        <p:nvPr/>
      </p:nvGrpSpPr>
      <p:grpSpPr>
        <a:xfrm>
          <a:off x="0" y="0"/>
          <a:ext cx="0" cy="0"/>
          <a:chOff x="0" y="0"/>
          <a:chExt cx="0" cy="0"/>
        </a:xfrm>
      </p:grpSpPr>
      <p:sp>
        <p:nvSpPr>
          <p:cNvPr id="881" name="Google Shape;881;p2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2" name="Google Shape;882;p2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3" name="Google Shape;883;p2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41394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884"/>
        <p:cNvGrpSpPr/>
        <p:nvPr/>
      </p:nvGrpSpPr>
      <p:grpSpPr>
        <a:xfrm>
          <a:off x="0" y="0"/>
          <a:ext cx="0" cy="0"/>
          <a:chOff x="0" y="0"/>
          <a:chExt cx="0" cy="0"/>
        </a:xfrm>
      </p:grpSpPr>
      <p:sp>
        <p:nvSpPr>
          <p:cNvPr id="885" name="Google Shape;885;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86" name="Google Shape;886;p23"/>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87" name="Google Shape;887;p2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88" name="Google Shape;888;p2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9" name="Google Shape;889;p2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0" name="Google Shape;890;p2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6080456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891"/>
        <p:cNvGrpSpPr/>
        <p:nvPr/>
      </p:nvGrpSpPr>
      <p:grpSpPr>
        <a:xfrm>
          <a:off x="0" y="0"/>
          <a:ext cx="0" cy="0"/>
          <a:chOff x="0" y="0"/>
          <a:chExt cx="0" cy="0"/>
        </a:xfrm>
      </p:grpSpPr>
      <p:sp>
        <p:nvSpPr>
          <p:cNvPr id="892" name="Google Shape;892;p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93" name="Google Shape;893;p24"/>
          <p:cNvSpPr>
            <a:spLocks noGrp="1"/>
          </p:cNvSpPr>
          <p:nvPr>
            <p:ph type="pic" idx="2"/>
          </p:nvPr>
        </p:nvSpPr>
        <p:spPr>
          <a:xfrm>
            <a:off x="5183188" y="987427"/>
            <a:ext cx="6172200" cy="4873500"/>
          </a:xfrm>
          <a:prstGeom prst="rect">
            <a:avLst/>
          </a:prstGeom>
          <a:noFill/>
          <a:ln>
            <a:noFill/>
          </a:ln>
        </p:spPr>
      </p:sp>
      <p:sp>
        <p:nvSpPr>
          <p:cNvPr id="894" name="Google Shape;894;p24"/>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95" name="Google Shape;895;p2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6" name="Google Shape;896;p2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7" name="Google Shape;897;p2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618649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898"/>
        <p:cNvGrpSpPr/>
        <p:nvPr/>
      </p:nvGrpSpPr>
      <p:grpSpPr>
        <a:xfrm>
          <a:off x="0" y="0"/>
          <a:ext cx="0" cy="0"/>
          <a:chOff x="0" y="0"/>
          <a:chExt cx="0" cy="0"/>
        </a:xfrm>
      </p:grpSpPr>
      <p:sp>
        <p:nvSpPr>
          <p:cNvPr id="899" name="Google Shape;899;p2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0" name="Google Shape;900;p2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1" name="Google Shape;901;p2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2" name="Google Shape;902;p2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3" name="Google Shape;903;p2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69851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904"/>
        <p:cNvGrpSpPr/>
        <p:nvPr/>
      </p:nvGrpSpPr>
      <p:grpSpPr>
        <a:xfrm>
          <a:off x="0" y="0"/>
          <a:ext cx="0" cy="0"/>
          <a:chOff x="0" y="0"/>
          <a:chExt cx="0" cy="0"/>
        </a:xfrm>
      </p:grpSpPr>
      <p:sp>
        <p:nvSpPr>
          <p:cNvPr id="905" name="Google Shape;905;p26"/>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6" name="Google Shape;906;p26"/>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7" name="Google Shape;907;p2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8" name="Google Shape;908;p2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9" name="Google Shape;909;p2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81538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9374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19"/>
        <p:cNvGrpSpPr/>
        <p:nvPr/>
      </p:nvGrpSpPr>
      <p:grpSpPr>
        <a:xfrm>
          <a:off x="0" y="0"/>
          <a:ext cx="0" cy="0"/>
          <a:chOff x="0" y="0"/>
          <a:chExt cx="0" cy="0"/>
        </a:xfrm>
      </p:grpSpPr>
      <p:sp>
        <p:nvSpPr>
          <p:cNvPr id="920" name="Google Shape;920;p28"/>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29153147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396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33"/>
        <p:cNvGrpSpPr/>
        <p:nvPr/>
      </p:nvGrpSpPr>
      <p:grpSpPr>
        <a:xfrm>
          <a:off x="0" y="0"/>
          <a:ext cx="0" cy="0"/>
          <a:chOff x="0" y="0"/>
          <a:chExt cx="0" cy="0"/>
        </a:xfrm>
      </p:grpSpPr>
      <p:sp>
        <p:nvSpPr>
          <p:cNvPr id="934" name="Google Shape;934;p30"/>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3302390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Slide" type="title" preserve="1">
  <p:cSld name="1_Title Slide">
    <p:spTree>
      <p:nvGrpSpPr>
        <p:cNvPr id="1" name="Shape 935"/>
        <p:cNvGrpSpPr/>
        <p:nvPr/>
      </p:nvGrpSpPr>
      <p:grpSpPr>
        <a:xfrm>
          <a:off x="0" y="0"/>
          <a:ext cx="0" cy="0"/>
          <a:chOff x="0" y="0"/>
          <a:chExt cx="0" cy="0"/>
        </a:xfrm>
      </p:grpSpPr>
      <p:sp>
        <p:nvSpPr>
          <p:cNvPr id="936" name="Google Shape;936;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37" name="Google Shape;937;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38" name="Google Shape;938;p3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9" name="Google Shape;939;p3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0" name="Google Shape;940;p3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3608258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950"/>
        <p:cNvGrpSpPr/>
        <p:nvPr/>
      </p:nvGrpSpPr>
      <p:grpSpPr>
        <a:xfrm>
          <a:off x="0" y="0"/>
          <a:ext cx="0" cy="0"/>
          <a:chOff x="0" y="0"/>
          <a:chExt cx="0" cy="0"/>
        </a:xfrm>
      </p:grpSpPr>
      <p:sp>
        <p:nvSpPr>
          <p:cNvPr id="951" name="Google Shape;951;p3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2" name="Google Shape;952;p3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53" name="Google Shape;953;p3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4" name="Google Shape;954;p3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5" name="Google Shape;955;p3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0055264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956"/>
        <p:cNvGrpSpPr/>
        <p:nvPr/>
      </p:nvGrpSpPr>
      <p:grpSpPr>
        <a:xfrm>
          <a:off x="0" y="0"/>
          <a:ext cx="0" cy="0"/>
          <a:chOff x="0" y="0"/>
          <a:chExt cx="0" cy="0"/>
        </a:xfrm>
      </p:grpSpPr>
      <p:sp>
        <p:nvSpPr>
          <p:cNvPr id="957" name="Google Shape;957;p3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8" name="Google Shape;958;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59" name="Google Shape;959;p3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0" name="Google Shape;960;p3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1" name="Google Shape;961;p3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51764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962"/>
        <p:cNvGrpSpPr/>
        <p:nvPr/>
      </p:nvGrpSpPr>
      <p:grpSpPr>
        <a:xfrm>
          <a:off x="0" y="0"/>
          <a:ext cx="0" cy="0"/>
          <a:chOff x="0" y="0"/>
          <a:chExt cx="0" cy="0"/>
        </a:xfrm>
      </p:grpSpPr>
      <p:sp>
        <p:nvSpPr>
          <p:cNvPr id="963" name="Google Shape;963;p35"/>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64" name="Google Shape;964;p35"/>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965" name="Google Shape;965;p3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6" name="Google Shape;966;p3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7" name="Google Shape;967;p3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3658766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968"/>
        <p:cNvGrpSpPr/>
        <p:nvPr/>
      </p:nvGrpSpPr>
      <p:grpSpPr>
        <a:xfrm>
          <a:off x="0" y="0"/>
          <a:ext cx="0" cy="0"/>
          <a:chOff x="0" y="0"/>
          <a:chExt cx="0" cy="0"/>
        </a:xfrm>
      </p:grpSpPr>
      <p:sp>
        <p:nvSpPr>
          <p:cNvPr id="969" name="Google Shape;969;p3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0" name="Google Shape;970;p3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1" name="Google Shape;971;p3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2" name="Google Shape;972;p3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3" name="Google Shape;973;p3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4" name="Google Shape;974;p3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6501923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975"/>
        <p:cNvGrpSpPr/>
        <p:nvPr/>
      </p:nvGrpSpPr>
      <p:grpSpPr>
        <a:xfrm>
          <a:off x="0" y="0"/>
          <a:ext cx="0" cy="0"/>
          <a:chOff x="0" y="0"/>
          <a:chExt cx="0" cy="0"/>
        </a:xfrm>
      </p:grpSpPr>
      <p:sp>
        <p:nvSpPr>
          <p:cNvPr id="976" name="Google Shape;976;p37"/>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7" name="Google Shape;977;p37"/>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78" name="Google Shape;978;p37"/>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9" name="Google Shape;979;p37"/>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80" name="Google Shape;980;p37"/>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81" name="Google Shape;981;p3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2" name="Google Shape;982;p3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3" name="Google Shape;983;p3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1622930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984"/>
        <p:cNvGrpSpPr/>
        <p:nvPr/>
      </p:nvGrpSpPr>
      <p:grpSpPr>
        <a:xfrm>
          <a:off x="0" y="0"/>
          <a:ext cx="0" cy="0"/>
          <a:chOff x="0" y="0"/>
          <a:chExt cx="0" cy="0"/>
        </a:xfrm>
      </p:grpSpPr>
      <p:sp>
        <p:nvSpPr>
          <p:cNvPr id="985" name="Google Shape;985;p38"/>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86" name="Google Shape;986;p3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7" name="Google Shape;987;p3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8" name="Google Shape;988;p3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89484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989"/>
        <p:cNvGrpSpPr/>
        <p:nvPr/>
      </p:nvGrpSpPr>
      <p:grpSpPr>
        <a:xfrm>
          <a:off x="0" y="0"/>
          <a:ext cx="0" cy="0"/>
          <a:chOff x="0" y="0"/>
          <a:chExt cx="0" cy="0"/>
        </a:xfrm>
      </p:grpSpPr>
      <p:sp>
        <p:nvSpPr>
          <p:cNvPr id="990" name="Google Shape;990;p3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1" name="Google Shape;991;p3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2" name="Google Shape;992;p3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4131561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993"/>
        <p:cNvGrpSpPr/>
        <p:nvPr/>
      </p:nvGrpSpPr>
      <p:grpSpPr>
        <a:xfrm>
          <a:off x="0" y="0"/>
          <a:ext cx="0" cy="0"/>
          <a:chOff x="0" y="0"/>
          <a:chExt cx="0" cy="0"/>
        </a:xfrm>
      </p:grpSpPr>
      <p:sp>
        <p:nvSpPr>
          <p:cNvPr id="994" name="Google Shape;994;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95" name="Google Shape;995;p40"/>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996" name="Google Shape;996;p4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997" name="Google Shape;997;p4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8" name="Google Shape;998;p4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9" name="Google Shape;999;p4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1926633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1000"/>
        <p:cNvGrpSpPr/>
        <p:nvPr/>
      </p:nvGrpSpPr>
      <p:grpSpPr>
        <a:xfrm>
          <a:off x="0" y="0"/>
          <a:ext cx="0" cy="0"/>
          <a:chOff x="0" y="0"/>
          <a:chExt cx="0" cy="0"/>
        </a:xfrm>
      </p:grpSpPr>
      <p:sp>
        <p:nvSpPr>
          <p:cNvPr id="1001" name="Google Shape;1001;p4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2" name="Google Shape;1002;p41"/>
          <p:cNvSpPr>
            <a:spLocks noGrp="1"/>
          </p:cNvSpPr>
          <p:nvPr>
            <p:ph type="pic" idx="2"/>
          </p:nvPr>
        </p:nvSpPr>
        <p:spPr>
          <a:xfrm>
            <a:off x="5183188" y="987427"/>
            <a:ext cx="6172200" cy="4873500"/>
          </a:xfrm>
          <a:prstGeom prst="rect">
            <a:avLst/>
          </a:prstGeom>
          <a:noFill/>
          <a:ln>
            <a:noFill/>
          </a:ln>
        </p:spPr>
      </p:sp>
      <p:sp>
        <p:nvSpPr>
          <p:cNvPr id="1003" name="Google Shape;1003;p4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1004" name="Google Shape;1004;p4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5" name="Google Shape;1005;p4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6" name="Google Shape;1006;p4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707244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1007"/>
        <p:cNvGrpSpPr/>
        <p:nvPr/>
      </p:nvGrpSpPr>
      <p:grpSpPr>
        <a:xfrm>
          <a:off x="0" y="0"/>
          <a:ext cx="0" cy="0"/>
          <a:chOff x="0" y="0"/>
          <a:chExt cx="0" cy="0"/>
        </a:xfrm>
      </p:grpSpPr>
      <p:sp>
        <p:nvSpPr>
          <p:cNvPr id="1008" name="Google Shape;1008;p4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9" name="Google Shape;1009;p4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0" name="Google Shape;1010;p4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1" name="Google Shape;1011;p4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2" name="Google Shape;1012;p4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4537162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1013"/>
        <p:cNvGrpSpPr/>
        <p:nvPr/>
      </p:nvGrpSpPr>
      <p:grpSpPr>
        <a:xfrm>
          <a:off x="0" y="0"/>
          <a:ext cx="0" cy="0"/>
          <a:chOff x="0" y="0"/>
          <a:chExt cx="0" cy="0"/>
        </a:xfrm>
      </p:grpSpPr>
      <p:sp>
        <p:nvSpPr>
          <p:cNvPr id="1014" name="Google Shape;1014;p43"/>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15" name="Google Shape;1015;p43"/>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6" name="Google Shape;1016;p4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7" name="Google Shape;1017;p4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8" name="Google Shape;1018;p4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04129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1019"/>
        <p:cNvGrpSpPr/>
        <p:nvPr/>
      </p:nvGrpSpPr>
      <p:grpSpPr>
        <a:xfrm>
          <a:off x="0" y="0"/>
          <a:ext cx="0" cy="0"/>
          <a:chOff x="0" y="0"/>
          <a:chExt cx="0" cy="0"/>
        </a:xfrm>
      </p:grpSpPr>
      <p:sp>
        <p:nvSpPr>
          <p:cNvPr id="1020" name="Google Shape;1020;p44"/>
          <p:cNvSpPr txBox="1">
            <a:spLocks noGrp="1"/>
          </p:cNvSpPr>
          <p:nvPr>
            <p:ph type="title"/>
          </p:nvPr>
        </p:nvSpPr>
        <p:spPr>
          <a:xfrm>
            <a:off x="415600" y="593367"/>
            <a:ext cx="11360700" cy="763500"/>
          </a:xfrm>
          <a:prstGeom prst="rect">
            <a:avLst/>
          </a:prstGeom>
          <a:noFill/>
          <a:ln>
            <a:noFill/>
          </a:ln>
        </p:spPr>
        <p:txBody>
          <a:bodyPr spcFirstLastPara="1" wrap="square" lIns="90000" tIns="46800" rIns="90000" bIns="46800" anchor="b" anchorCtr="0">
            <a:noAutofit/>
          </a:bodyPr>
          <a:lstStyle>
            <a:lvl1pPr lvl="0" algn="l" rtl="0">
              <a:lnSpc>
                <a:spcPct val="90000"/>
              </a:lnSpc>
              <a:spcBef>
                <a:spcPts val="0"/>
              </a:spcBef>
              <a:spcAft>
                <a:spcPts val="0"/>
              </a:spcAft>
              <a:buClr>
                <a:schemeClr val="dk1"/>
              </a:buClr>
              <a:buSzPts val="1400"/>
              <a:buFont typeface="Poppin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21" name="Google Shape;1021;p44"/>
          <p:cNvSpPr txBox="1">
            <a:spLocks noGrp="1"/>
          </p:cNvSpPr>
          <p:nvPr>
            <p:ph type="body" idx="1"/>
          </p:nvPr>
        </p:nvSpPr>
        <p:spPr>
          <a:xfrm>
            <a:off x="415600" y="1536633"/>
            <a:ext cx="11360700" cy="4555200"/>
          </a:xfrm>
          <a:prstGeom prst="rect">
            <a:avLst/>
          </a:prstGeom>
          <a:noFill/>
          <a:ln>
            <a:noFill/>
          </a:ln>
        </p:spPr>
        <p:txBody>
          <a:bodyPr spcFirstLastPara="1" wrap="square" lIns="90000" tIns="46800" rIns="90000" bIns="46800" anchor="t" anchorCtr="0">
            <a:noAutofit/>
          </a:bodyPr>
          <a:lstStyle>
            <a:lvl1pPr marL="457200" lvl="0" indent="-337883" algn="l" rtl="0">
              <a:lnSpc>
                <a:spcPct val="90000"/>
              </a:lnSpc>
              <a:spcBef>
                <a:spcPts val="675"/>
              </a:spcBef>
              <a:spcAft>
                <a:spcPts val="0"/>
              </a:spcAft>
              <a:buClr>
                <a:schemeClr val="dk1"/>
              </a:buClr>
              <a:buSzPts val="1721"/>
              <a:buChar char="⚫"/>
              <a:defRPr/>
            </a:lvl1pPr>
            <a:lvl2pPr marL="914400" lvl="1" indent="-301942" algn="l" rtl="0">
              <a:lnSpc>
                <a:spcPct val="90000"/>
              </a:lnSpc>
              <a:spcBef>
                <a:spcPts val="551"/>
              </a:spcBef>
              <a:spcAft>
                <a:spcPts val="0"/>
              </a:spcAft>
              <a:buClr>
                <a:schemeClr val="dk1"/>
              </a:buClr>
              <a:buSzPts val="1155"/>
              <a:buChar char="⚪"/>
              <a:defRPr/>
            </a:lvl2pPr>
            <a:lvl3pPr marL="1371600" lvl="2" indent="-300037" algn="l" rtl="0">
              <a:lnSpc>
                <a:spcPct val="90000"/>
              </a:lnSpc>
              <a:spcBef>
                <a:spcPts val="500"/>
              </a:spcBef>
              <a:spcAft>
                <a:spcPts val="0"/>
              </a:spcAft>
              <a:buClr>
                <a:schemeClr val="dk1"/>
              </a:buClr>
              <a:buSzPts val="1125"/>
              <a:buChar char="⯍"/>
              <a:defRPr/>
            </a:lvl3pPr>
            <a:lvl4pPr marL="1828800" lvl="3" indent="-295275" algn="l" rtl="0">
              <a:lnSpc>
                <a:spcPct val="90000"/>
              </a:lnSpc>
              <a:spcBef>
                <a:spcPts val="500"/>
              </a:spcBef>
              <a:spcAft>
                <a:spcPts val="0"/>
              </a:spcAft>
              <a:buClr>
                <a:schemeClr val="dk1"/>
              </a:buClr>
              <a:buSzPts val="105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pPr lvl="0"/>
            <a:r>
              <a:rPr lang="en-US"/>
              <a:t>Click to edit Master text styles</a:t>
            </a:r>
          </a:p>
        </p:txBody>
      </p:sp>
      <p:sp>
        <p:nvSpPr>
          <p:cNvPr id="1022" name="Google Shape;1022;p44"/>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Autofit/>
          </a:bodyPr>
          <a:lstStyle>
            <a:lvl1pPr marL="0" marR="0" lvl="0"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3824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theme" Target="../theme/theme5.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1276674073"/>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32"/>
        <p:cNvGrpSpPr/>
        <p:nvPr/>
      </p:nvGrpSpPr>
      <p:grpSpPr>
        <a:xfrm>
          <a:off x="0" y="0"/>
          <a:ext cx="0" cy="0"/>
          <a:chOff x="0" y="0"/>
          <a:chExt cx="0" cy="0"/>
        </a:xfrm>
      </p:grpSpPr>
      <p:sp>
        <p:nvSpPr>
          <p:cNvPr id="833" name="Google Shape;833;p15"/>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4" name="Google Shape;834;p1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35" name="Google Shape;835;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6" name="Google Shape;836;p1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7" name="Google Shape;837;p1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8" name="Google Shape;838;p1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839" name="Google Shape;839;p15"/>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40" name="Google Shape;840;p15"/>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3428607"/>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96"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10"/>
        <p:cNvGrpSpPr/>
        <p:nvPr/>
      </p:nvGrpSpPr>
      <p:grpSpPr>
        <a:xfrm>
          <a:off x="0" y="0"/>
          <a:ext cx="0" cy="0"/>
          <a:chOff x="0" y="0"/>
          <a:chExt cx="0" cy="0"/>
        </a:xfrm>
      </p:grpSpPr>
      <p:sp>
        <p:nvSpPr>
          <p:cNvPr id="911" name="Google Shape;911;p2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2" name="Google Shape;91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3" name="Google Shape;913;p2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4" name="Google Shape;914;p2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5" name="Google Shape;915;p2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16" name="Google Shape;916;p27"/>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17" name="Google Shape;917;p27"/>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18" name="Google Shape;918;p27"/>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1044743740"/>
      </p:ext>
    </p:extLst>
  </p:cSld>
  <p:clrMap bg1="lt1" tx1="dk1" bg2="dk2" tx2="lt2" accent1="accent1" accent2="accent2" accent3="accent3" accent4="accent4" accent5="accent5" accent6="accent6" hlink="hlink" folHlink="folHlink"/>
  <p:sldLayoutIdLst>
    <p:sldLayoutId id="2147483678" r:id="rId1"/>
    <p:sldLayoutId id="2147483695"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21"/>
        <p:cNvGrpSpPr/>
        <p:nvPr/>
      </p:nvGrpSpPr>
      <p:grpSpPr>
        <a:xfrm>
          <a:off x="0" y="0"/>
          <a:ext cx="0" cy="0"/>
          <a:chOff x="0" y="0"/>
          <a:chExt cx="0" cy="0"/>
        </a:xfrm>
      </p:grpSpPr>
      <p:sp>
        <p:nvSpPr>
          <p:cNvPr id="922" name="Google Shape;922;p2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23" name="Google Shape;9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4" name="Google Shape;924;p2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5" name="Google Shape;925;p2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6" name="Google Shape;926;p2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27" name="Google Shape;927;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28" name="Google Shape;928;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29" name="Google Shape;929;p29"/>
          <p:cNvPicPr preferRelativeResize="0"/>
          <p:nvPr/>
        </p:nvPicPr>
        <p:blipFill rotWithShape="1">
          <a:blip r:embed="rId4">
            <a:alphaModFix/>
          </a:blip>
          <a:srcRect/>
          <a:stretch/>
        </p:blipFill>
        <p:spPr>
          <a:xfrm>
            <a:off x="3451862" y="2544174"/>
            <a:ext cx="4801940" cy="1533432"/>
          </a:xfrm>
          <a:prstGeom prst="rect">
            <a:avLst/>
          </a:prstGeom>
          <a:noFill/>
          <a:ln>
            <a:noFill/>
          </a:ln>
        </p:spPr>
      </p:pic>
      <p:sp>
        <p:nvSpPr>
          <p:cNvPr id="930" name="Google Shape;930;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31" name="Google Shape;931;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32" name="Google Shape;932;p29"/>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3106833427"/>
      </p:ext>
    </p:extLst>
  </p:cSld>
  <p:clrMap bg1="lt1" tx1="dk1" bg2="dk2" tx2="lt2" accent1="accent1" accent2="accent2" accent3="accent3" accent4="accent4" accent5="accent5" accent6="accent6" hlink="hlink" folHlink="folHlink"/>
  <p:sldLayoutIdLst>
    <p:sldLayoutId id="2147483680" r:id="rId1"/>
    <p:sldLayoutId id="2147483681"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3" name="Google Shape;943;p3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44" name="Google Shape;9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5" name="Google Shape;945;p3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6" name="Google Shape;946;p3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7" name="Google Shape;947;p3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48" name="Google Shape;948;p32"/>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9" name="Google Shape;949;p32"/>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521568297"/>
      </p:ext>
    </p:extLst>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57200" y="201168"/>
            <a:ext cx="64008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5" name="Text 3"/>
          <p:cNvSpPr/>
          <p:nvPr/>
        </p:nvSpPr>
        <p:spPr>
          <a:xfrm>
            <a:off x="1096000" y="1120000"/>
            <a:ext cx="10000000" cy="620000"/>
          </a:xfrm>
          <a:prstGeom prst="rect">
            <a:avLst/>
          </a:prstGeom>
          <a:noFill/>
          <a:ln/>
        </p:spPr>
        <p:txBody>
          <a:bodyPr wrap="square" rtlCol="0" anchor="ctr"/>
          <a:lstStyle/>
          <a:p>
            <a:pPr marL="0" indent="0">
              <a:buNone/>
            </a:pPr>
            <a:r>
              <a:rPr lang="en-US" sz="2000" b="1" dirty="0">
                <a:solidFill>
                  <a:srgbClr val="FF0000"/>
                </a:solidFill>
                <a:latin typeface="Cambria" pitchFamily="34" charset="0"/>
                <a:ea typeface="Cambria" pitchFamily="34" charset="-122"/>
                <a:cs typeface="Cambria" pitchFamily="34" charset="-120"/>
              </a:rPr>
              <a:t>AI-Enabled Acoustic Detection &amp; Early Warning System for Red Palm Weevil Infestation in Coconut Trees</a:t>
            </a:r>
            <a:endParaRPr lang="en-US" sz="2000" dirty="0">
              <a:solidFill>
                <a:srgbClr val="FF0000"/>
              </a:solidFill>
            </a:endParaRPr>
          </a:p>
        </p:txBody>
      </p:sp>
      <p:sp>
        <p:nvSpPr>
          <p:cNvPr id="6" name="Text 4"/>
          <p:cNvSpPr/>
          <p:nvPr/>
        </p:nvSpPr>
        <p:spPr>
          <a:xfrm>
            <a:off x="640080" y="1923809"/>
            <a:ext cx="10588752" cy="198882"/>
          </a:xfrm>
          <a:prstGeom prst="rect">
            <a:avLst/>
          </a:prstGeom>
          <a:noFill/>
          <a:ln/>
        </p:spPr>
        <p:txBody>
          <a:bodyPr wrap="square" rtlCol="0" anchor="ctr"/>
          <a:lstStyle/>
          <a:p>
            <a:pPr marL="0" indent="0">
              <a:buNone/>
            </a:pPr>
            <a:r>
              <a:rPr lang="en-US" b="1" dirty="0">
                <a:solidFill>
                  <a:srgbClr val="FF0000"/>
                </a:solidFill>
                <a:latin typeface="Calibri" pitchFamily="34" charset="0"/>
                <a:ea typeface="Calibri" pitchFamily="34" charset="-122"/>
                <a:cs typeface="Calibri" pitchFamily="34" charset="-120"/>
              </a:rPr>
              <a:t xml:space="preserve">Group No: Team 13                                                                                Category: </a:t>
            </a:r>
            <a:r>
              <a:rPr lang="en-US" dirty="0">
                <a:solidFill>
                  <a:schemeClr val="tx1"/>
                </a:solidFill>
                <a:latin typeface="Calibri" pitchFamily="34" charset="0"/>
                <a:ea typeface="Calibri" pitchFamily="34" charset="-122"/>
                <a:cs typeface="Calibri" pitchFamily="34" charset="-120"/>
              </a:rPr>
              <a:t>Research-Product-Software</a:t>
            </a:r>
            <a:endParaRPr lang="en-US" dirty="0">
              <a:solidFill>
                <a:schemeClr val="tx1"/>
              </a:solidFill>
            </a:endParaRPr>
          </a:p>
        </p:txBody>
      </p:sp>
      <p:sp>
        <p:nvSpPr>
          <p:cNvPr id="8" name="Text 6"/>
          <p:cNvSpPr/>
          <p:nvPr/>
        </p:nvSpPr>
        <p:spPr>
          <a:xfrm>
            <a:off x="640080" y="2216065"/>
            <a:ext cx="5120640" cy="228600"/>
          </a:xfrm>
          <a:prstGeom prst="rect">
            <a:avLst/>
          </a:prstGeom>
          <a:noFill/>
          <a:ln/>
        </p:spPr>
        <p:txBody>
          <a:bodyPr wrap="square" rtlCol="0" anchor="ctr"/>
          <a:lstStyle/>
          <a:p>
            <a:pPr marL="0" indent="0">
              <a:buNone/>
            </a:pPr>
            <a:r>
              <a:rPr lang="en-US" b="1" dirty="0">
                <a:solidFill>
                  <a:srgbClr val="FF0000"/>
                </a:solidFill>
                <a:latin typeface="Calibri" pitchFamily="34" charset="0"/>
                <a:ea typeface="Calibri" pitchFamily="34" charset="-122"/>
                <a:cs typeface="Calibri" pitchFamily="34" charset="-120"/>
              </a:rPr>
              <a:t>COLLABORATOR</a:t>
            </a:r>
            <a:endParaRPr lang="en-US" dirty="0">
              <a:solidFill>
                <a:srgbClr val="FF0000"/>
              </a:solidFill>
            </a:endParaRPr>
          </a:p>
        </p:txBody>
      </p:sp>
      <p:sp>
        <p:nvSpPr>
          <p:cNvPr id="9" name="Text 7"/>
          <p:cNvSpPr/>
          <p:nvPr/>
        </p:nvSpPr>
        <p:spPr>
          <a:xfrm>
            <a:off x="640080" y="2503170"/>
            <a:ext cx="5120640" cy="457200"/>
          </a:xfrm>
          <a:prstGeom prst="rect">
            <a:avLst/>
          </a:prstGeom>
          <a:noFill/>
          <a:ln/>
        </p:spPr>
        <p:txBody>
          <a:bodyPr wrap="square" rtlCol="0" anchor="t"/>
          <a:lstStyle/>
          <a:p>
            <a:pPr marL="0" indent="0">
              <a:buNone/>
            </a:pPr>
            <a:r>
              <a:rPr lang="en-US" sz="1600" dirty="0">
                <a:solidFill>
                  <a:schemeClr val="tx1"/>
                </a:solidFill>
                <a:latin typeface="Calibri" pitchFamily="34" charset="0"/>
                <a:ea typeface="Calibri" pitchFamily="34" charset="-122"/>
                <a:cs typeface="Calibri" pitchFamily="34" charset="-120"/>
              </a:rPr>
              <a:t>[ Collaborator Name ], [ Affiliation ]</a:t>
            </a:r>
            <a:endParaRPr lang="en-US" sz="1600" dirty="0">
              <a:solidFill>
                <a:schemeClr val="tx1"/>
              </a:solidFill>
            </a:endParaRPr>
          </a:p>
        </p:txBody>
      </p:sp>
      <p:sp>
        <p:nvSpPr>
          <p:cNvPr id="11" name="Text 9"/>
          <p:cNvSpPr/>
          <p:nvPr/>
        </p:nvSpPr>
        <p:spPr>
          <a:xfrm>
            <a:off x="6183086" y="2276127"/>
            <a:ext cx="5212080" cy="228600"/>
          </a:xfrm>
          <a:prstGeom prst="rect">
            <a:avLst/>
          </a:prstGeom>
          <a:noFill/>
          <a:ln/>
        </p:spPr>
        <p:txBody>
          <a:bodyPr wrap="square" rtlCol="0" anchor="ctr"/>
          <a:lstStyle/>
          <a:p>
            <a:pPr marL="0" indent="0">
              <a:buNone/>
            </a:pPr>
            <a:r>
              <a:rPr lang="en-US" b="1" dirty="0">
                <a:solidFill>
                  <a:srgbClr val="FF0000"/>
                </a:solidFill>
                <a:latin typeface="Calibri" pitchFamily="34" charset="0"/>
                <a:ea typeface="Calibri" pitchFamily="34" charset="-122"/>
                <a:cs typeface="Calibri" pitchFamily="34" charset="-120"/>
              </a:rPr>
              <a:t>FACULTY GUIDE</a:t>
            </a:r>
            <a:endParaRPr lang="en-US" dirty="0">
              <a:solidFill>
                <a:srgbClr val="FF0000"/>
              </a:solidFill>
            </a:endParaRPr>
          </a:p>
        </p:txBody>
      </p:sp>
      <p:sp>
        <p:nvSpPr>
          <p:cNvPr id="12" name="Text 10"/>
          <p:cNvSpPr/>
          <p:nvPr/>
        </p:nvSpPr>
        <p:spPr>
          <a:xfrm>
            <a:off x="6183086" y="2471897"/>
            <a:ext cx="5212080" cy="457200"/>
          </a:xfrm>
          <a:prstGeom prst="rect">
            <a:avLst/>
          </a:prstGeom>
          <a:noFill/>
          <a:ln/>
        </p:spPr>
        <p:txBody>
          <a:bodyPr wrap="square" rtlCol="0" anchor="t"/>
          <a:lstStyle/>
          <a:p>
            <a:pPr marL="0" indent="0">
              <a:buNone/>
            </a:pPr>
            <a:r>
              <a:rPr lang="en-US" sz="1600" dirty="0">
                <a:solidFill>
                  <a:schemeClr val="tx1"/>
                </a:solidFill>
                <a:latin typeface="Calibri" pitchFamily="34" charset="0"/>
                <a:ea typeface="Calibri" pitchFamily="34" charset="-122"/>
                <a:cs typeface="Calibri" pitchFamily="34" charset="-120"/>
              </a:rPr>
              <a:t>Dr. T. Senthil Kumar, Professor, CSE Department</a:t>
            </a:r>
            <a:endParaRPr lang="en-US" sz="1600" dirty="0">
              <a:solidFill>
                <a:schemeClr val="tx1"/>
              </a:solidFill>
            </a:endParaRPr>
          </a:p>
        </p:txBody>
      </p:sp>
      <p:sp>
        <p:nvSpPr>
          <p:cNvPr id="13" name="Text 11"/>
          <p:cNvSpPr/>
          <p:nvPr/>
        </p:nvSpPr>
        <p:spPr>
          <a:xfrm>
            <a:off x="640080" y="2884932"/>
            <a:ext cx="4572000" cy="274320"/>
          </a:xfrm>
          <a:prstGeom prst="rect">
            <a:avLst/>
          </a:prstGeom>
          <a:noFill/>
          <a:ln/>
        </p:spPr>
        <p:txBody>
          <a:bodyPr wrap="square" rtlCol="0" anchor="ctr"/>
          <a:lstStyle/>
          <a:p>
            <a:pPr marL="0" indent="0">
              <a:buNone/>
            </a:pPr>
            <a:r>
              <a:rPr lang="en-US" sz="1600" b="1" dirty="0">
                <a:solidFill>
                  <a:srgbClr val="FF0000"/>
                </a:solidFill>
                <a:latin typeface="Calibri" pitchFamily="34" charset="0"/>
                <a:ea typeface="Calibri" pitchFamily="34" charset="-122"/>
                <a:cs typeface="Calibri" pitchFamily="34" charset="-120"/>
              </a:rPr>
              <a:t>TEAM MEMBERS</a:t>
            </a:r>
            <a:endParaRPr lang="en-US" sz="1600" dirty="0">
              <a:solidFill>
                <a:srgbClr val="FF0000"/>
              </a:solidFill>
            </a:endParaRPr>
          </a:p>
        </p:txBody>
      </p:sp>
      <p:graphicFrame>
        <p:nvGraphicFramePr>
          <p:cNvPr id="14" name="Table 0"/>
          <p:cNvGraphicFramePr>
            <a:graphicFrameLocks noGrp="1"/>
          </p:cNvGraphicFramePr>
          <p:nvPr>
            <p:extLst>
              <p:ext uri="{D42A27DB-BD31-4B8C-83A1-F6EECF244321}">
                <p14:modId xmlns:p14="http://schemas.microsoft.com/office/powerpoint/2010/main" val="1991943137"/>
              </p:ext>
            </p:extLst>
          </p:nvPr>
        </p:nvGraphicFramePr>
        <p:xfrm>
          <a:off x="640080" y="3274708"/>
          <a:ext cx="11274552" cy="1828800"/>
        </p:xfrm>
        <a:graphic>
          <a:graphicData uri="http://schemas.openxmlformats.org/drawingml/2006/table">
            <a:tbl>
              <a:tblPr/>
              <a:tblGrid>
                <a:gridCol w="11887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862072">
                  <a:extLst>
                    <a:ext uri="{9D8B030D-6E8A-4147-A177-3AD203B41FA5}">
                      <a16:colId xmlns:a16="http://schemas.microsoft.com/office/drawing/2014/main" val="20005"/>
                    </a:ext>
                  </a:extLst>
                </a:gridCol>
              </a:tblGrid>
              <a:tr h="45720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Roll No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Name</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Photo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Email ID</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Mobile No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GitHub URL</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457200">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000" dirty="0">
                          <a:solidFill>
                            <a:schemeClr val="tx1">
                              <a:lumMod val="95000"/>
                              <a:lumOff val="5000"/>
                            </a:schemeClr>
                          </a:solidFill>
                          <a:latin typeface="Calibri" pitchFamily="34" charset="0"/>
                          <a:ea typeface="Calibri" pitchFamily="34" charset="-122"/>
                          <a:cs typeface="Calibri" pitchFamily="34" charset="-120"/>
                        </a:rPr>
                        <a:t>[ Member Name ]</a:t>
                      </a:r>
                      <a:endParaRPr lang="en-US" sz="1000" dirty="0">
                        <a:solidFill>
                          <a:schemeClr val="tx1">
                            <a:lumMod val="95000"/>
                            <a:lumOff val="5000"/>
                          </a:schemeClr>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Text 13"/>
          <p:cNvSpPr/>
          <p:nvPr/>
        </p:nvSpPr>
        <p:spPr>
          <a:xfrm>
            <a:off x="640080" y="5166360"/>
            <a:ext cx="10972800" cy="502920"/>
          </a:xfrm>
          <a:prstGeom prst="rect">
            <a:avLst/>
          </a:prstGeom>
          <a:noFill/>
          <a:ln/>
        </p:spPr>
        <p:txBody>
          <a:bodyPr wrap="square" rtlCol="0" anchor="ctr"/>
          <a:lstStyle/>
          <a:p>
            <a:pPr marL="0" indent="0">
              <a:buNone/>
            </a:pPr>
            <a:r>
              <a:rPr lang="en-US" b="1" dirty="0">
                <a:solidFill>
                  <a:srgbClr val="FF0000"/>
                </a:solidFill>
                <a:latin typeface="Calibri" pitchFamily="34" charset="0"/>
                <a:ea typeface="Calibri" pitchFamily="34" charset="-122"/>
                <a:cs typeface="Calibri" pitchFamily="34" charset="-120"/>
              </a:rPr>
              <a:t>LinkedIn Product Demo: </a:t>
            </a:r>
            <a:r>
              <a:rPr lang="en-US" b="1" dirty="0">
                <a:solidFill>
                  <a:schemeClr val="tx1"/>
                </a:solidFill>
                <a:latin typeface="Calibri" pitchFamily="34" charset="0"/>
                <a:ea typeface="Calibri" pitchFamily="34" charset="-122"/>
                <a:cs typeface="Calibri" pitchFamily="34" charset="-120"/>
              </a:rPr>
              <a:t> [URL]    </a:t>
            </a:r>
            <a:r>
              <a:rPr lang="en-US" b="1" dirty="0">
                <a:solidFill>
                  <a:srgbClr val="FF0000"/>
                </a:solidFill>
                <a:latin typeface="Calibri" pitchFamily="34" charset="0"/>
                <a:ea typeface="Calibri" pitchFamily="34" charset="-122"/>
                <a:cs typeface="Calibri" pitchFamily="34" charset="-120"/>
              </a:rPr>
              <a:t>					   GitHub Repository: </a:t>
            </a:r>
            <a:r>
              <a:rPr lang="en-US" b="1" dirty="0">
                <a:solidFill>
                  <a:schemeClr val="tx1"/>
                </a:solidFill>
                <a:latin typeface="Calibri" pitchFamily="34" charset="0"/>
                <a:ea typeface="Calibri" pitchFamily="34" charset="-122"/>
                <a:cs typeface="Calibri" pitchFamily="34" charset="-120"/>
              </a:rPr>
              <a:t>[URL]</a:t>
            </a:r>
            <a:r>
              <a:rPr lang="en-US" b="1" dirty="0">
                <a:solidFill>
                  <a:srgbClr val="FF0000"/>
                </a:solidFill>
                <a:latin typeface="Calibri" pitchFamily="34" charset="0"/>
                <a:ea typeface="Calibri" pitchFamily="34" charset="-122"/>
                <a:cs typeface="Calibri" pitchFamily="34" charset="-120"/>
              </a:rPr>
              <a:t> </a:t>
            </a:r>
            <a:endParaRPr lang="en-US" dirty="0">
              <a:solidFill>
                <a:srgbClr val="FF0000"/>
              </a:solidFill>
            </a:endParaRPr>
          </a:p>
        </p:txBody>
      </p:sp>
      <p:sp>
        <p:nvSpPr>
          <p:cNvPr id="17" name="Text 14"/>
          <p:cNvSpPr/>
          <p:nvPr/>
        </p:nvSpPr>
        <p:spPr>
          <a:xfrm>
            <a:off x="11548872" y="6446520"/>
            <a:ext cx="365760" cy="274320"/>
          </a:xfrm>
          <a:prstGeom prst="rect">
            <a:avLst/>
          </a:prstGeom>
          <a:noFill/>
          <a:ln/>
        </p:spPr>
        <p:txBody>
          <a:bodyPr wrap="square"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2</a:t>
            </a:r>
            <a:endParaRPr lang="en-US" sz="1100" dirty="0">
              <a:solidFill>
                <a:srgbClr val="FF0000"/>
              </a:solidFill>
            </a:endParaRPr>
          </a:p>
        </p:txBody>
      </p:sp>
      <p:sp>
        <p:nvSpPr>
          <p:cNvPr id="18" name="Text 15"/>
          <p:cNvSpPr/>
          <p:nvPr/>
        </p:nvSpPr>
        <p:spPr>
          <a:xfrm>
            <a:off x="457200" y="6446520"/>
            <a:ext cx="4572000" cy="274320"/>
          </a:xfrm>
          <a:prstGeom prst="rect">
            <a:avLst/>
          </a:prstGeom>
          <a:noFill/>
          <a:ln/>
        </p:spPr>
        <p:txBody>
          <a:bodyPr wrap="square" rtlCol="0" anchor="ctr"/>
          <a:lstStyle/>
          <a:p>
            <a:pPr marL="0" indent="0">
              <a:buNone/>
            </a:pPr>
            <a:endParaRPr lang="en-US" sz="1050" dirty="0">
              <a:solidFill>
                <a:srgbClr val="FF0000"/>
              </a:solidFill>
            </a:endParaRPr>
          </a:p>
        </p:txBody>
      </p:sp>
      <p:sp>
        <p:nvSpPr>
          <p:cNvPr id="20" name="TextBox 19">
            <a:extLst>
              <a:ext uri="{FF2B5EF4-FFF2-40B4-BE49-F238E27FC236}">
                <a16:creationId xmlns:a16="http://schemas.microsoft.com/office/drawing/2014/main" id="{82363E79-8852-E211-BCE6-3E9C3F640AA7}"/>
              </a:ext>
            </a:extLst>
          </p:cNvPr>
          <p:cNvSpPr txBox="1"/>
          <p:nvPr/>
        </p:nvSpPr>
        <p:spPr>
          <a:xfrm>
            <a:off x="640080" y="5605492"/>
            <a:ext cx="9940834" cy="584775"/>
          </a:xfrm>
          <a:prstGeom prst="rect">
            <a:avLst/>
          </a:prstGeom>
          <a:noFill/>
        </p:spPr>
        <p:txBody>
          <a:bodyPr wrap="square">
            <a:spAutoFit/>
          </a:bodyPr>
          <a:lstStyle/>
          <a:p>
            <a:pPr marL="0" indent="0">
              <a:buNone/>
            </a:pPr>
            <a:r>
              <a:rPr lang="en-US" sz="1600" i="1" dirty="0">
                <a:solidFill>
                  <a:srgbClr val="FF0000"/>
                </a:solidFill>
                <a:latin typeface="Calibri" pitchFamily="34" charset="0"/>
                <a:ea typeface="Calibri" pitchFamily="34" charset="-122"/>
                <a:cs typeface="Calibri" pitchFamily="34" charset="-120"/>
              </a:rPr>
              <a:t>This presentation is prepared for </a:t>
            </a:r>
            <a:r>
              <a:rPr lang="en-US" sz="1600" b="1" i="1" dirty="0">
                <a:solidFill>
                  <a:srgbClr val="FF0000"/>
                </a:solidFill>
                <a:latin typeface="Calibri" pitchFamily="34" charset="0"/>
                <a:ea typeface="Calibri" pitchFamily="34" charset="-122"/>
                <a:cs typeface="Calibri" pitchFamily="34" charset="-120"/>
              </a:rPr>
              <a:t>Course / Project / Hackathon / Industry </a:t>
            </a:r>
            <a:r>
              <a:rPr lang="en-US" sz="1600" b="1" i="1" dirty="0" smtClean="0">
                <a:solidFill>
                  <a:srgbClr val="FF0000"/>
                </a:solidFill>
                <a:latin typeface="Calibri" pitchFamily="34" charset="0"/>
                <a:ea typeface="Calibri" pitchFamily="34" charset="-122"/>
                <a:cs typeface="Calibri" pitchFamily="34" charset="-120"/>
              </a:rPr>
              <a:t>Demo</a:t>
            </a:r>
          </a:p>
          <a:p>
            <a:pPr marL="0" indent="0">
              <a:buNone/>
            </a:pPr>
            <a:r>
              <a:rPr lang="en-US" sz="1600" b="1" i="1" dirty="0" smtClean="0">
                <a:solidFill>
                  <a:srgbClr val="FF0000"/>
                </a:solidFill>
                <a:latin typeface="Calibri" pitchFamily="34" charset="0"/>
                <a:cs typeface="Calibri" pitchFamily="34" charset="-120"/>
              </a:rPr>
              <a:t>If course specify the course code-Name</a:t>
            </a:r>
            <a:endParaRPr lang="en-US" sz="1600" dirty="0">
              <a:solidFill>
                <a:srgbClr val="FF0000"/>
              </a:solidFill>
            </a:endParaRPr>
          </a:p>
        </p:txBody>
      </p:sp>
      <p:pic>
        <p:nvPicPr>
          <p:cNvPr id="22" name="Picture 2" descr="Amrita Vishwa Vidyapeetham, Coimbatore: Courses, Fees ...">
            <a:extLst>
              <a:ext uri="{FF2B5EF4-FFF2-40B4-BE49-F238E27FC236}">
                <a16:creationId xmlns:a16="http://schemas.microsoft.com/office/drawing/2014/main" id="{8F23BC69-80AD-8BA8-BC5B-CEF206E32DE4}"/>
              </a:ext>
            </a:extLst>
          </p:cNvPr>
          <p:cNvPicPr>
            <a:picLocks noChangeAspect="1" noChangeArrowheads="1"/>
          </p:cNvPicPr>
          <p:nvPr/>
        </p:nvPicPr>
        <p:blipFill>
          <a:blip r:embed="rId3"/>
          <a:srcRect/>
          <a:stretch>
            <a:fillRect/>
          </a:stretch>
        </p:blipFill>
        <p:spPr bwMode="auto">
          <a:xfrm>
            <a:off x="5825989" y="133557"/>
            <a:ext cx="965000" cy="943069"/>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7315200" cy="50292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cs typeface="Cambria" pitchFamily="34" charset="-120"/>
              </a:rPr>
              <a:t>Problem Statement:</a:t>
            </a:r>
            <a:endParaRPr lang="en-US" sz="3000" dirty="0">
              <a:solidFill>
                <a:srgbClr val="FF0000"/>
              </a:solidFill>
            </a:endParaRPr>
          </a:p>
        </p:txBody>
      </p:sp>
      <p:sp>
        <p:nvSpPr>
          <p:cNvPr id="3" name="Text 1"/>
          <p:cNvSpPr/>
          <p:nvPr/>
        </p:nvSpPr>
        <p:spPr>
          <a:xfrm>
            <a:off x="457200" y="960120"/>
            <a:ext cx="5486400" cy="914400"/>
          </a:xfrm>
          <a:prstGeom prst="rect">
            <a:avLst/>
          </a:prstGeom>
          <a:noFill/>
          <a:ln/>
        </p:spPr>
        <p:txBody>
          <a:bodyPr wrap="square" rtlCol="0" anchor="ctr"/>
          <a:lstStyle/>
          <a:p>
            <a:pPr marL="0" indent="0">
              <a:buNone/>
            </a:pPr>
            <a:r>
              <a:rPr lang="en-US" sz="1100" dirty="0">
                <a:solidFill>
                  <a:srgbClr val="1A1A1A"/>
                </a:solidFill>
              </a:rPr>
              <a:t xml:space="preserve">The Red Palm Weevil (Rhynchophorus ferrugineus) is the most destructive pest of coconut and palm trees worldwide. Its larvae feed hidden inside the trunk, so early damage is invisible and symptoms such as yellowing fronds and crown collapse appear too late. Manual inspection is slow and unreliable across large plantations — yet curative treatment works only if the weevil is caught early.</a:t>
            </a:r>
          </a:p>
        </p:txBody>
      </p:sp>
      <p:sp>
        <p:nvSpPr>
          <p:cNvPr id="5" name="Text 3"/>
          <p:cNvSpPr/>
          <p:nvPr/>
        </p:nvSpPr>
        <p:spPr>
          <a:xfrm>
            <a:off x="457200" y="201168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6" name="Text 4"/>
          <p:cNvSpPr/>
          <p:nvPr/>
        </p:nvSpPr>
        <p:spPr>
          <a:xfrm>
            <a:off x="457200" y="1988820"/>
            <a:ext cx="4572000" cy="411480"/>
          </a:xfrm>
          <a:prstGeom prst="rect">
            <a:avLst/>
          </a:prstGeom>
          <a:noFill/>
          <a:ln/>
        </p:spPr>
        <p:txBody>
          <a:bodyPr wrap="square" rtlCol="0" anchor="ctr"/>
          <a:lstStyle/>
          <a:p>
            <a:r>
              <a:rPr lang="en-US" sz="3000" b="1" dirty="0">
                <a:solidFill>
                  <a:srgbClr val="FF0000"/>
                </a:solidFill>
                <a:latin typeface="Cambria" pitchFamily="34" charset="0"/>
                <a:ea typeface="Cambria" pitchFamily="34" charset="-122"/>
              </a:rPr>
              <a:t>Objective:</a:t>
            </a:r>
          </a:p>
        </p:txBody>
      </p:sp>
      <p:sp>
        <p:nvSpPr>
          <p:cNvPr id="7" name="Text 5"/>
          <p:cNvSpPr/>
          <p:nvPr/>
        </p:nvSpPr>
        <p:spPr>
          <a:xfrm>
            <a:off x="1005840" y="2468880"/>
            <a:ext cx="4846320" cy="640080"/>
          </a:xfrm>
          <a:prstGeom prst="rect">
            <a:avLst/>
          </a:prstGeom>
          <a:noFill/>
          <a:ln/>
        </p:spPr>
        <p:txBody>
          <a:bodyPr wrap="square" rtlCol="0" anchor="ctr"/>
          <a:lstStyle/>
          <a:p>
            <a:pPr marL="0" indent="0">
              <a:buNone/>
            </a:pPr>
            <a:r>
              <a:rPr lang="en-US" sz="1100" dirty="0">
                <a:solidFill>
                  <a:srgbClr val="1A1A1A"/>
                </a:solidFill>
              </a:rPr>
              <a:t xml:space="preserve">Detect Red Palm Weevil infestation early and non-invasively by capturing the faint acoustic / vibrational signals of larvae feeding inside the trunk and classifying them with a lightweight neural network.</a:t>
            </a:r>
          </a:p>
        </p:txBody>
      </p:sp>
      <p:sp>
        <p:nvSpPr>
          <p:cNvPr id="9" name="Text 7"/>
          <p:cNvSpPr/>
          <p:nvPr/>
        </p:nvSpPr>
        <p:spPr>
          <a:xfrm>
            <a:off x="457200" y="329184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10" name="Text 8"/>
          <p:cNvSpPr/>
          <p:nvPr/>
        </p:nvSpPr>
        <p:spPr>
          <a:xfrm>
            <a:off x="457200" y="4046221"/>
            <a:ext cx="4572000" cy="41148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rPr>
              <a:t>Sub-Objectives:</a:t>
            </a:r>
          </a:p>
        </p:txBody>
      </p:sp>
      <p:sp>
        <p:nvSpPr>
          <p:cNvPr id="11" name="Text 9"/>
          <p:cNvSpPr/>
          <p:nvPr/>
        </p:nvSpPr>
        <p:spPr>
          <a:xfrm>
            <a:off x="1005840" y="4526281"/>
            <a:ext cx="4846320" cy="1600000"/>
          </a:xfrm>
          <a:prstGeom prst="rect">
            <a:avLst/>
          </a:prstGeom>
          <a:noFill/>
          <a:ln/>
        </p:spPr>
        <p:txBody>
          <a:bodyPr wrap="square" rtlCol="0" anchor="t"/>
          <a:lstStyle/>
          <a:p>
            <a:pPr marL="285750" indent="-285750">
              <a:spcAft>
                <a:spcPts val="400"/>
              </a:spcAft>
              <a:buSzPct val="90000"/>
              <a:buFont typeface="Arial"/>
              <a:buChar char="•"/>
            </a:pPr>
            <a:r>
              <a:rPr lang="en-US" sz="1100" dirty="0">
                <a:solidFill>
                  <a:srgbClr val="1A1A1A"/>
                </a:solidFill>
              </a:rPr>
              <a:t xml:space="preserve">Capture larval feeding sound using an acoustic / vibration sensor</a:t>
            </a:r>
          </a:p>
          <a:p>
            <a:pPr marL="285750" indent="-285750">
              <a:spcAft>
                <a:spcPts val="400"/>
              </a:spcAft>
              <a:buSzPct val="90000"/>
              <a:buFont typeface="Arial"/>
              <a:buChar char="•"/>
            </a:pPr>
            <a:r>
              <a:rPr lang="en-US" sz="1100" dirty="0">
                <a:solidFill>
                  <a:srgbClr val="1A1A1A"/>
                </a:solidFill>
              </a:rPr>
              <a:t xml:space="preserve">Preprocess and segment the signal — noise removal, 1–8 kHz band-pass, RMS event isolation</a:t>
            </a:r>
          </a:p>
          <a:p>
            <a:pPr marL="285750" indent="-285750">
              <a:spcAft>
                <a:spcPts val="400"/>
              </a:spcAft>
              <a:buSzPct val="90000"/>
              <a:buFont typeface="Arial"/>
              <a:buChar char="•"/>
            </a:pPr>
            <a:r>
              <a:rPr lang="en-US" sz="1100" dirty="0">
                <a:solidFill>
                  <a:srgbClr val="1A1A1A"/>
                </a:solidFill>
              </a:rPr>
              <a:t xml:space="preserve">Extract features: 13 MFCC + 7 spectral-contrast → 20-value vector</a:t>
            </a:r>
          </a:p>
          <a:p>
            <a:pPr marL="285750" indent="-285750">
              <a:spcAft>
                <a:spcPts val="400"/>
              </a:spcAft>
              <a:buSzPct val="90000"/>
              <a:buFont typeface="Arial"/>
              <a:buChar char="•"/>
            </a:pPr>
            <a:r>
              <a:rPr lang="en-US" sz="1100" dirty="0">
                <a:solidFill>
                  <a:srgbClr val="1A1A1A"/>
                </a:solidFill>
              </a:rPr>
              <a:t xml:space="preserve">Classify with a lightweight FFNN (512→256→128→1) against a 0.5 threshold</a:t>
            </a:r>
          </a:p>
          <a:p>
            <a:pPr marL="285750" indent="-285750">
              <a:spcAft>
                <a:spcPts val="400"/>
              </a:spcAft>
              <a:buSzPct val="90000"/>
              <a:buFont typeface="Arial"/>
              <a:buChar char="•"/>
            </a:pPr>
            <a:r>
              <a:rPr lang="en-US" sz="1100" dirty="0">
                <a:solidFill>
                  <a:srgbClr val="1A1A1A"/>
                </a:solidFill>
              </a:rPr>
              <a:t xml:space="preserve">Trigger alerts and continuous monitoring for field operators</a:t>
            </a:r>
          </a:p>
        </p:txBody>
      </p:sp>
      <p:sp>
        <p:nvSpPr>
          <p:cNvPr id="13" name="Text 11"/>
          <p:cNvSpPr/>
          <p:nvPr/>
        </p:nvSpPr>
        <p:spPr>
          <a:xfrm>
            <a:off x="5989320" y="480060"/>
            <a:ext cx="5577840" cy="27432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rPr>
              <a:t>Architecture diagram:</a:t>
            </a:r>
          </a:p>
        </p:txBody>
      </p:sp>
      <p:sp>
        <p:nvSpPr>
          <p:cNvPr id="15" name="Text 13"/>
          <p:cNvSpPr/>
          <p:nvPr/>
        </p:nvSpPr>
        <p:spPr>
          <a:xfrm>
            <a:off x="61950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18" name="Text 16"/>
          <p:cNvSpPr/>
          <p:nvPr/>
        </p:nvSpPr>
        <p:spPr>
          <a:xfrm>
            <a:off x="75666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1" name="Text 19"/>
          <p:cNvSpPr/>
          <p:nvPr/>
        </p:nvSpPr>
        <p:spPr>
          <a:xfrm>
            <a:off x="89382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5" name="Text 23"/>
          <p:cNvSpPr/>
          <p:nvPr/>
        </p:nvSpPr>
        <p:spPr>
          <a:xfrm>
            <a:off x="5989320" y="5394960"/>
            <a:ext cx="5577840" cy="54864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6" name="Text 2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3</a:t>
            </a:r>
            <a:endParaRPr lang="en-US" sz="1000" dirty="0">
              <a:solidFill>
                <a:srgbClr val="FF0000"/>
              </a:solidFill>
            </a:endParaRPr>
          </a:p>
        </p:txBody>
      </p:sp>
      <p:pic xmlns:p="http://schemas.openxmlformats.org/presentationml/2006/main" xmlns:a="http://schemas.openxmlformats.org/drawingml/2006/main" xmlns:r="http://schemas.openxmlformats.org/officeDocument/2006/relationships">
        <p:nvPicPr>
          <p:cNvPr id="60" name="Architecture Diagram"/>
          <p:cNvPicPr>
            <a:picLocks noChangeAspect="1"/>
          </p:cNvPicPr>
          <p:nvPr/>
        </p:nvPicPr>
        <p:blipFill>
          <a:blip r:embed="rId3"/>
          <a:stretch>
            <a:fillRect/>
          </a:stretch>
        </p:blipFill>
        <p:spPr>
          <a:xfrm>
            <a:off x="5989320" y="1500000"/>
            <a:ext cx="5577840" cy="31126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058400" cy="502920"/>
          </a:xfrm>
          <a:prstGeom prst="rect">
            <a:avLst/>
          </a:prstGeom>
          <a:noFill/>
          <a:ln/>
        </p:spPr>
        <p:txBody>
          <a:bodyPr wrap="square" rtlCol="0" anchor="ctr"/>
          <a:lstStyle/>
          <a:p>
            <a:pPr marL="0" indent="0">
              <a:buNone/>
            </a:pPr>
            <a:r>
              <a:rPr lang="en-US" sz="2800" b="1" dirty="0">
                <a:solidFill>
                  <a:srgbClr val="FF0000"/>
                </a:solidFill>
                <a:latin typeface="Cambria" pitchFamily="34" charset="0"/>
                <a:ea typeface="Cambria" pitchFamily="34" charset="-122"/>
                <a:cs typeface="Cambria" pitchFamily="34" charset="-120"/>
              </a:rPr>
              <a:t>Similar Products in the Same Area:</a:t>
            </a:r>
            <a:endParaRPr lang="en-US" sz="2800" dirty="0">
              <a:solidFill>
                <a:srgbClr val="FF0000"/>
              </a:solidFill>
            </a:endParaRPr>
          </a:p>
        </p:txBody>
      </p:sp>
      <p:sp>
        <p:nvSpPr>
          <p:cNvPr id="3" name="Text 1"/>
          <p:cNvSpPr/>
          <p:nvPr/>
        </p:nvSpPr>
        <p:spPr>
          <a:xfrm>
            <a:off x="457200" y="896112"/>
            <a:ext cx="9144000" cy="320040"/>
          </a:xfrm>
          <a:prstGeom prst="rect">
            <a:avLst/>
          </a:prstGeom>
          <a:noFill/>
          <a:ln/>
        </p:spPr>
        <p:txBody>
          <a:bodyPr wrap="square" rtlCol="0" anchor="ctr"/>
          <a:lstStyle/>
          <a:p>
            <a:pPr marL="0" indent="0">
              <a:buNone/>
            </a:pPr>
            <a:endParaRPr lang="en-US" sz="1200" dirty="0">
              <a:solidFill>
                <a:srgbClr val="FF0000"/>
              </a:solidFill>
            </a:endParaRPr>
          </a:p>
        </p:txBody>
      </p:sp>
      <p:graphicFrame>
        <p:nvGraphicFramePr>
          <p:cNvPr id="5" name="Table 0"/>
          <p:cNvGraphicFramePr>
            <a:graphicFrameLocks noGrp="1"/>
          </p:cNvGraphicFramePr>
          <p:nvPr>
            <p:extLst>
              <p:ext uri="{D42A27DB-BD31-4B8C-83A1-F6EECF244321}">
                <p14:modId xmlns:p14="http://schemas.microsoft.com/office/powerpoint/2010/main" val="2745995237"/>
              </p:ext>
            </p:extLst>
          </p:nvPr>
        </p:nvGraphicFramePr>
        <p:xfrm>
          <a:off x="263236" y="1417320"/>
          <a:ext cx="11285635" cy="3688080"/>
        </p:xfrm>
        <a:graphic>
          <a:graphicData uri="http://schemas.openxmlformats.org/drawingml/2006/table">
            <a:tbl>
              <a:tblPr/>
              <a:tblGrid>
                <a:gridCol w="1584893">
                  <a:extLst>
                    <a:ext uri="{9D8B030D-6E8A-4147-A177-3AD203B41FA5}">
                      <a16:colId xmlns:a16="http://schemas.microsoft.com/office/drawing/2014/main" val="20000"/>
                    </a:ext>
                  </a:extLst>
                </a:gridCol>
                <a:gridCol w="1584893">
                  <a:extLst>
                    <a:ext uri="{9D8B030D-6E8A-4147-A177-3AD203B41FA5}">
                      <a16:colId xmlns:a16="http://schemas.microsoft.com/office/drawing/2014/main" val="2081401370"/>
                    </a:ext>
                  </a:extLst>
                </a:gridCol>
                <a:gridCol w="3489412">
                  <a:extLst>
                    <a:ext uri="{9D8B030D-6E8A-4147-A177-3AD203B41FA5}">
                      <a16:colId xmlns:a16="http://schemas.microsoft.com/office/drawing/2014/main" val="20001"/>
                    </a:ext>
                  </a:extLst>
                </a:gridCol>
                <a:gridCol w="4626437">
                  <a:extLst>
                    <a:ext uri="{9D8B030D-6E8A-4147-A177-3AD203B41FA5}">
                      <a16:colId xmlns:a16="http://schemas.microsoft.com/office/drawing/2014/main" val="20002"/>
                    </a:ext>
                  </a:extLst>
                </a:gridCol>
              </a:tblGrid>
              <a:tr h="914400">
                <a:tc>
                  <a:txBody>
                    <a:bodyPr/>
                    <a:lstStyle/>
                    <a:p>
                      <a:pPr marL="0" indent="0" algn="ctr">
                        <a:buNone/>
                      </a:pPr>
                      <a:r>
                        <a:rPr lang="en-US" sz="2800" b="1" dirty="0">
                          <a:solidFill>
                            <a:schemeClr val="bg1"/>
                          </a:solidFill>
                          <a:latin typeface="Calibri" pitchFamily="34" charset="0"/>
                          <a:ea typeface="Calibri" pitchFamily="34" charset="-122"/>
                          <a:cs typeface="Calibri" pitchFamily="34" charset="-120"/>
                        </a:rPr>
                        <a:t>Product Name </a:t>
                      </a:r>
                      <a:endParaRPr lang="en-US" sz="28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2800" b="1" i="0" u="none" strike="noStrike" cap="none" dirty="0">
                          <a:solidFill>
                            <a:schemeClr val="bg1"/>
                          </a:solidFill>
                          <a:latin typeface="Calibri" pitchFamily="34" charset="0"/>
                          <a:ea typeface="Calibri" pitchFamily="34" charset="-122"/>
                          <a:cs typeface="Calibri" pitchFamily="34" charset="-120"/>
                          <a:sym typeface="Arial"/>
                        </a:rPr>
                        <a:t>URL</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2800" b="1" dirty="0">
                          <a:solidFill>
                            <a:schemeClr val="bg1"/>
                          </a:solidFill>
                          <a:latin typeface="Calibri" pitchFamily="34" charset="0"/>
                          <a:ea typeface="Calibri" pitchFamily="34" charset="-122"/>
                          <a:cs typeface="Calibri" pitchFamily="34" charset="-120"/>
                        </a:rPr>
                        <a:t>Features</a:t>
                      </a:r>
                      <a:endParaRPr lang="en-US" sz="28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2800" b="1" dirty="0">
                          <a:solidFill>
                            <a:schemeClr val="bg1"/>
                          </a:solidFill>
                          <a:latin typeface="Calibri" pitchFamily="34" charset="0"/>
                          <a:ea typeface="Calibri" pitchFamily="34" charset="-122"/>
                          <a:cs typeface="Calibri" pitchFamily="34" charset="-120"/>
                        </a:rPr>
                        <a:t>Limitation</a:t>
                      </a:r>
                      <a:endParaRPr lang="en-US" sz="28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914400">
                <a:tc>
                  <a:txBody>
                    <a:bodyPr/>
                    <a:lstStyle/>
                    <a:p>
                      <a:pPr marL="0" indent="0">
                        <a:buNone/>
                      </a:pPr>
                      <a:r>
                        <a:rPr lang="en-US" sz="1100" dirty="0" b="1">
                          <a:solidFill>
                            <a:srgbClr val="1A1A1A"/>
                          </a:solidFill>
                        </a:rPr>
                        <a:t xml:space="preserve">Agrint IoTree</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buNone/>
                      </a:p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rPr>
                        <a:t xml:space="preserve">Seismic sensor placed per tree; automated signature detection with false-alarm filtering (IoT + mobile app).</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rPr>
                        <a:t xml:space="preserve">One sensor per tree — hardware cost scales with plantation size; primarily date-palm oriented.</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buNone/>
                      </a:pPr>
                      <a:r>
                        <a:rPr lang="en-US" sz="1100" dirty="0" b="1">
                          <a:solidFill>
                            <a:srgbClr val="1A1A1A"/>
                          </a:solidFill>
                        </a:rPr>
                        <a:t xml:space="preserve">AED2000 / LAAR WD-60</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buNone/>
                      </a:p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rPr>
                        <a:t xml:space="preserve">Handheld piezoelectric acoustic probe; larval activity interpreted by a human listener via headphones.</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rPr>
                        <a:t xml:space="preserve">Manual and expertise-dependent; not continuous, not automated, impractical at scale.</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100" dirty="0" b="1">
                          <a:solidFill>
                            <a:srgbClr val="1A1A1A"/>
                          </a:solidFill>
                        </a:rPr>
                        <a:t xml:space="preserve">KAUST Fiber-Optic DAS</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buNone/>
                      </a:p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rPr>
                        <a:t xml:space="preserve">Distributed fiber-optic acoustic sensing across trees with a CNN classifier (~97% reported accuracy).</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rPr>
                        <a:t xml:space="preserve">Research-stage; needs specialised fiber-optic infrastructure — not low-cost or field-simple.</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Text 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4</a:t>
            </a:r>
            <a:endParaRPr lang="en-US" sz="1000" dirty="0">
              <a:solidFill>
                <a:srgbClr val="FF0000"/>
              </a:solidFill>
            </a:endParaRPr>
          </a:p>
        </p:txBody>
      </p:sp>
      <p:sp>
        <p:nvSpPr>
          <p:cNvPr id="6" name="Text 3"/>
          <p:cNvSpPr/>
          <p:nvPr/>
        </p:nvSpPr>
        <p:spPr>
          <a:xfrm>
            <a:off x="457200" y="6446520"/>
            <a:ext cx="4572000" cy="274320"/>
          </a:xfrm>
          <a:prstGeom prst="rect">
            <a:avLst/>
          </a:prstGeom>
          <a:noFill/>
          <a:ln/>
        </p:spPr>
        <p:txBody>
          <a:bodyPr wrap="square" rtlCol="0" anchor="ctr"/>
          <a:lstStyle/>
          <a:p>
            <a:pPr marL="0" indent="0">
              <a:buNone/>
            </a:pPr>
            <a:endParaRPr lang="en-US" sz="900"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7315200" cy="502920"/>
          </a:xfrm>
          <a:prstGeom prst="rect">
            <a:avLst/>
          </a:prstGeom>
          <a:noFill/>
          <a:ln/>
        </p:spPr>
        <p:txBody>
          <a:bodyPr wrap="square" rtlCol="0" anchor="ctr"/>
          <a:lstStyle/>
          <a:p>
            <a:pPr marL="0" indent="0">
              <a:buNone/>
            </a:pPr>
            <a:r>
              <a:rPr lang="en-US" sz="3200" b="1" dirty="0">
                <a:solidFill>
                  <a:srgbClr val="FF0000"/>
                </a:solidFill>
                <a:latin typeface="Cambria" pitchFamily="34" charset="0"/>
                <a:ea typeface="Cambria" pitchFamily="34" charset="-122"/>
                <a:cs typeface="Cambria" pitchFamily="34" charset="-120"/>
              </a:rPr>
              <a:t>Abstract of Product:</a:t>
            </a:r>
            <a:endParaRPr lang="en-US" sz="3200" dirty="0">
              <a:solidFill>
                <a:srgbClr val="FF0000"/>
              </a:solidFill>
            </a:endParaRPr>
          </a:p>
        </p:txBody>
      </p:sp>
      <p:sp>
        <p:nvSpPr>
          <p:cNvPr id="4" name="Text 2"/>
          <p:cNvSpPr/>
          <p:nvPr/>
        </p:nvSpPr>
        <p:spPr>
          <a:xfrm>
            <a:off x="640080" y="914400"/>
            <a:ext cx="10881360" cy="1051560"/>
          </a:xfrm>
          <a:prstGeom prst="rect">
            <a:avLst/>
          </a:prstGeom>
          <a:noFill/>
          <a:ln/>
        </p:spPr>
        <p:txBody>
          <a:bodyPr wrap="square" rtlCol="0" anchor="ctr"/>
          <a:lstStyle/>
          <a:p>
            <a:pPr marL="0" indent="0">
              <a:buNone/>
            </a:pPr>
            <a:r>
              <a:rPr lang="en-US" sz="1400" dirty="0">
                <a:solidFill>
                  <a:srgbClr val="1A1A1A"/>
                </a:solidFill>
              </a:rPr>
              <a:t xml:space="preserve">A non-invasive acoustic early-warning system that detects Red Palm Weevil larvae feeding hidden inside coconut trunks — capturing their faint feeding sounds and classifying them with a lightweight feed-forward neural network to flag infestation early, before damage becomes visible, and continuously across a plantation.</a:t>
            </a:r>
          </a:p>
        </p:txBody>
      </p:sp>
      <p:sp>
        <p:nvSpPr>
          <p:cNvPr id="5" name="Text 3"/>
          <p:cNvSpPr/>
          <p:nvPr/>
        </p:nvSpPr>
        <p:spPr>
          <a:xfrm>
            <a:off x="457200" y="2194560"/>
            <a:ext cx="5486400" cy="411480"/>
          </a:xfrm>
          <a:prstGeom prst="rect">
            <a:avLst/>
          </a:prstGeom>
          <a:noFill/>
          <a:ln/>
        </p:spPr>
        <p:txBody>
          <a:bodyPr wrap="square" rtlCol="0" anchor="ctr"/>
          <a:lstStyle/>
          <a:p>
            <a:pPr marL="0" indent="0">
              <a:buNone/>
            </a:pPr>
            <a:r>
              <a:rPr lang="en-US" sz="2800" b="1" dirty="0">
                <a:solidFill>
                  <a:srgbClr val="FF0000"/>
                </a:solidFill>
                <a:latin typeface="Cambria" pitchFamily="34" charset="0"/>
                <a:ea typeface="Cambria" pitchFamily="34" charset="-122"/>
                <a:cs typeface="Cambria" pitchFamily="34" charset="-120"/>
              </a:rPr>
              <a:t>Novelty:</a:t>
            </a:r>
            <a:endParaRPr lang="en-US" sz="2800" dirty="0">
              <a:solidFill>
                <a:srgbClr val="FF0000"/>
              </a:solidFill>
            </a:endParaRPr>
          </a:p>
        </p:txBody>
      </p:sp>
      <p:sp>
        <p:nvSpPr>
          <p:cNvPr id="6" name="Shape 4"/>
          <p:cNvSpPr/>
          <p:nvPr/>
        </p:nvSpPr>
        <p:spPr>
          <a:xfrm>
            <a:off x="457200" y="2743200"/>
            <a:ext cx="2724912" cy="3703320"/>
          </a:xfrm>
          <a:prstGeom prst="rect">
            <a:avLst/>
          </a:prstGeom>
          <a:solidFill>
            <a:srgbClr val="F4F6FC"/>
          </a:solidFill>
          <a:ln/>
        </p:spPr>
      </p:sp>
      <p:sp>
        <p:nvSpPr>
          <p:cNvPr id="8" name="Text 6"/>
          <p:cNvSpPr/>
          <p:nvPr/>
        </p:nvSpPr>
        <p:spPr>
          <a:xfrm>
            <a:off x="640080"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1</a:t>
            </a:r>
            <a:endParaRPr lang="en-US" sz="2400" dirty="0">
              <a:solidFill>
                <a:srgbClr val="FF0000"/>
              </a:solidFill>
            </a:endParaRPr>
          </a:p>
        </p:txBody>
      </p:sp>
      <p:sp>
        <p:nvSpPr>
          <p:cNvPr id="9" name="Text 7"/>
          <p:cNvSpPr/>
          <p:nvPr/>
        </p:nvSpPr>
        <p:spPr>
          <a:xfrm>
            <a:off x="1234440" y="2971800"/>
            <a:ext cx="1810512" cy="457200"/>
          </a:xfrm>
          <a:prstGeom prst="rect">
            <a:avLst/>
          </a:prstGeom>
          <a:noFill/>
          <a:ln/>
        </p:spPr>
        <p:txBody>
          <a:bodyPr wrap="square" rtlCol="0" anchor="ctr"/>
          <a:lstStyle/>
          <a:p>
            <a:pPr marL="0" indent="0">
              <a:buNone/>
            </a:pPr>
            <a:r>
              <a:rPr lang="en-US" sz="1800" b="1" dirty="0">
                <a:solidFill>
                  <a:srgbClr val="FF0000"/>
                </a:solidFill>
                <a:latin typeface="Calibri" pitchFamily="34" charset="0"/>
                <a:ea typeface="Calibri" pitchFamily="34" charset="-122"/>
                <a:cs typeface="Calibri" pitchFamily="34" charset="-120"/>
              </a:rPr>
              <a:t>State of the Art</a:t>
            </a:r>
            <a:endParaRPr lang="en-US" sz="1800" dirty="0">
              <a:solidFill>
                <a:srgbClr val="FF0000"/>
              </a:solidFill>
            </a:endParaRPr>
          </a:p>
        </p:txBody>
      </p:sp>
      <p:sp>
        <p:nvSpPr>
          <p:cNvPr id="10" name="Text 8"/>
          <p:cNvSpPr/>
          <p:nvPr/>
        </p:nvSpPr>
        <p:spPr>
          <a:xfrm>
            <a:off x="640080" y="3611880"/>
            <a:ext cx="2359152" cy="2651760"/>
          </a:xfrm>
          <a:prstGeom prst="rect">
            <a:avLst/>
          </a:prstGeom>
          <a:noFill/>
          <a:ln/>
        </p:spPr>
        <p:txBody>
          <a:bodyPr wrap="square" rtlCol="0" anchor="ctr"/>
          <a:lstStyle/>
          <a:p>
            <a:pPr marL="285750" indent="-285750">
              <a:spcAft>
                <a:spcPts val="300"/>
              </a:spcAft>
              <a:buSzPct val="90000"/>
              <a:buFont typeface="Arial"/>
              <a:buChar char="•"/>
            </a:pPr>
            <a:r>
              <a:rPr lang="en-US" sz="1100" dirty="0">
                <a:solidFill>
                  <a:srgbClr val="1A1A1A"/>
                </a:solidFill>
              </a:rPr>
              <a:t xml:space="preserve">Acoustic RPW detection established in literature since ~2010</a:t>
            </a:r>
          </a:p>
          <a:p>
            <a:pPr marL="285750" indent="-285750">
              <a:spcAft>
                <a:spcPts val="300"/>
              </a:spcAft>
              <a:buSzPct val="90000"/>
              <a:buFont typeface="Arial"/>
              <a:buChar char="•"/>
            </a:pPr>
            <a:r>
              <a:rPr lang="en-US" sz="1100" dirty="0">
                <a:solidFill>
                  <a:srgbClr val="1A1A1A"/>
                </a:solidFill>
              </a:rPr>
              <a:t xml:space="preserve">Baseline MFCC + spectral-contrast + FFNN pipeline: 85.6% accuracy, F1 = 0.72</a:t>
            </a:r>
          </a:p>
          <a:p>
            <a:pPr marL="285750" indent="-285750">
              <a:spcAft>
                <a:spcPts val="300"/>
              </a:spcAft>
              <a:buSzPct val="90000"/>
              <a:buFont typeface="Arial"/>
              <a:buChar char="•"/>
            </a:pPr>
            <a:r>
              <a:rPr lang="en-US" sz="1100" dirty="0">
                <a:solidFill>
                  <a:srgbClr val="1A1A1A"/>
                </a:solidFill>
              </a:rPr>
              <a:t xml:space="preserve">Commercial systems exist (e.g. Agrint IoTree) — mostly date-palm focused</a:t>
            </a:r>
          </a:p>
        </p:txBody>
      </p:sp>
      <p:sp>
        <p:nvSpPr>
          <p:cNvPr id="11" name="Shape 9"/>
          <p:cNvSpPr/>
          <p:nvPr/>
        </p:nvSpPr>
        <p:spPr>
          <a:xfrm>
            <a:off x="3319272" y="2743200"/>
            <a:ext cx="2724912" cy="3703320"/>
          </a:xfrm>
          <a:prstGeom prst="rect">
            <a:avLst/>
          </a:prstGeom>
          <a:solidFill>
            <a:srgbClr val="F4F6FC"/>
          </a:solidFill>
          <a:ln/>
        </p:spPr>
      </p:sp>
      <p:sp>
        <p:nvSpPr>
          <p:cNvPr id="13" name="Text 11"/>
          <p:cNvSpPr/>
          <p:nvPr/>
        </p:nvSpPr>
        <p:spPr>
          <a:xfrm>
            <a:off x="3502152"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2</a:t>
            </a:r>
            <a:endParaRPr lang="en-US" sz="2400" dirty="0">
              <a:solidFill>
                <a:srgbClr val="FF0000"/>
              </a:solidFill>
            </a:endParaRPr>
          </a:p>
        </p:txBody>
      </p:sp>
      <p:sp>
        <p:nvSpPr>
          <p:cNvPr id="14" name="Text 12"/>
          <p:cNvSpPr/>
          <p:nvPr/>
        </p:nvSpPr>
        <p:spPr>
          <a:xfrm>
            <a:off x="4096512" y="2971800"/>
            <a:ext cx="1810512" cy="457200"/>
          </a:xfrm>
          <a:prstGeom prst="rect">
            <a:avLst/>
          </a:prstGeom>
          <a:noFill/>
          <a:ln/>
        </p:spPr>
        <p:txBody>
          <a:bodyPr wrap="square" rtlCol="0" anchor="ctr"/>
          <a:lstStyle/>
          <a:p>
            <a:pPr marL="0" indent="0">
              <a:buNone/>
            </a:pPr>
            <a:r>
              <a:rPr lang="en-US" sz="1800" b="1" dirty="0">
                <a:solidFill>
                  <a:srgbClr val="FF0000"/>
                </a:solidFill>
                <a:latin typeface="Calibri" pitchFamily="34" charset="0"/>
                <a:ea typeface="Calibri" pitchFamily="34" charset="-122"/>
                <a:cs typeface="Calibri" pitchFamily="34" charset="-120"/>
              </a:rPr>
              <a:t>Product</a:t>
            </a:r>
            <a:endParaRPr lang="en-US" sz="1800" dirty="0">
              <a:solidFill>
                <a:srgbClr val="FF0000"/>
              </a:solidFill>
            </a:endParaRPr>
          </a:p>
        </p:txBody>
      </p:sp>
      <p:sp>
        <p:nvSpPr>
          <p:cNvPr id="15" name="Text 13"/>
          <p:cNvSpPr/>
          <p:nvPr/>
        </p:nvSpPr>
        <p:spPr>
          <a:xfrm>
            <a:off x="3502152" y="3611880"/>
            <a:ext cx="2359152" cy="2651760"/>
          </a:xfrm>
          <a:prstGeom prst="rect">
            <a:avLst/>
          </a:prstGeom>
          <a:noFill/>
          <a:ln/>
        </p:spPr>
        <p:txBody>
          <a:bodyPr wrap="square" rtlCol="0" anchor="ctr"/>
          <a:lstStyle/>
          <a:p>
            <a:pPr marL="285750" indent="-285750">
              <a:spcAft>
                <a:spcPts val="300"/>
              </a:spcAft>
              <a:buSzPct val="90000"/>
              <a:buFont typeface="Arial"/>
              <a:buChar char="•"/>
            </a:pPr>
            <a:r>
              <a:rPr lang="en-US" sz="1100" dirty="0">
                <a:solidFill>
                  <a:srgbClr val="1A1A1A"/>
                </a:solidFill>
              </a:rPr>
              <a:t xml:space="preserve">Reproducible acoustic-FFNN detector validated on our own coconut field data</a:t>
            </a:r>
          </a:p>
          <a:p>
            <a:pPr marL="285750" indent="-285750">
              <a:spcAft>
                <a:spcPts val="300"/>
              </a:spcAft>
              <a:buSzPct val="90000"/>
              <a:buFont typeface="Arial"/>
              <a:buChar char="•"/>
            </a:pPr>
            <a:r>
              <a:rPr lang="en-US" sz="1100" dirty="0">
                <a:solidFill>
                  <a:srgbClr val="1A1A1A"/>
                </a:solidFill>
              </a:rPr>
              <a:t xml:space="preserve">Extended into an edge / IoT early-warning system with dashboard and alerts</a:t>
            </a:r>
          </a:p>
          <a:p>
            <a:pPr marL="285750" indent="-285750">
              <a:spcAft>
                <a:spcPts val="300"/>
              </a:spcAft>
              <a:buSzPct val="90000"/>
              <a:buFont typeface="Arial"/>
              <a:buChar char="•"/>
            </a:pPr>
            <a:r>
              <a:rPr lang="en-US" sz="1100" dirty="0">
                <a:solidFill>
                  <a:srgbClr val="1A1A1A"/>
                </a:solidFill>
              </a:rPr>
              <a:t xml:space="preserve">Proposed agentic orchestration layer around the trained detector</a:t>
            </a:r>
          </a:p>
        </p:txBody>
      </p:sp>
      <p:sp>
        <p:nvSpPr>
          <p:cNvPr id="16" name="Shape 14"/>
          <p:cNvSpPr/>
          <p:nvPr/>
        </p:nvSpPr>
        <p:spPr>
          <a:xfrm>
            <a:off x="6181344" y="2743200"/>
            <a:ext cx="2724912" cy="3703320"/>
          </a:xfrm>
          <a:prstGeom prst="rect">
            <a:avLst/>
          </a:prstGeom>
          <a:solidFill>
            <a:srgbClr val="F4F6FC"/>
          </a:solidFill>
          <a:ln/>
        </p:spPr>
      </p:sp>
      <p:sp>
        <p:nvSpPr>
          <p:cNvPr id="18" name="Text 16"/>
          <p:cNvSpPr/>
          <p:nvPr/>
        </p:nvSpPr>
        <p:spPr>
          <a:xfrm>
            <a:off x="6364224"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3</a:t>
            </a:r>
            <a:endParaRPr lang="en-US" sz="2400" dirty="0">
              <a:solidFill>
                <a:srgbClr val="FF0000"/>
              </a:solidFill>
            </a:endParaRPr>
          </a:p>
        </p:txBody>
      </p:sp>
      <p:sp>
        <p:nvSpPr>
          <p:cNvPr id="19" name="Text 17"/>
          <p:cNvSpPr/>
          <p:nvPr/>
        </p:nvSpPr>
        <p:spPr>
          <a:xfrm>
            <a:off x="6958584" y="2971800"/>
            <a:ext cx="1810512" cy="457200"/>
          </a:xfrm>
          <a:prstGeom prst="rect">
            <a:avLst/>
          </a:prstGeom>
          <a:noFill/>
          <a:ln/>
        </p:spPr>
        <p:txBody>
          <a:bodyPr wrap="square" rtlCol="0" anchor="ctr"/>
          <a:lstStyle/>
          <a:p>
            <a:pPr marL="0" indent="0">
              <a:buNone/>
            </a:pPr>
            <a:r>
              <a:rPr lang="en-US" sz="1800" b="1" dirty="0">
                <a:solidFill>
                  <a:srgbClr val="FF0000"/>
                </a:solidFill>
                <a:latin typeface="Calibri" pitchFamily="34" charset="0"/>
                <a:ea typeface="Calibri" pitchFamily="34" charset="-122"/>
                <a:cs typeface="Calibri" pitchFamily="34" charset="-120"/>
              </a:rPr>
              <a:t>Product Features</a:t>
            </a:r>
            <a:endParaRPr lang="en-US" sz="1800" dirty="0">
              <a:solidFill>
                <a:srgbClr val="FF0000"/>
              </a:solidFill>
            </a:endParaRPr>
          </a:p>
        </p:txBody>
      </p:sp>
      <p:sp>
        <p:nvSpPr>
          <p:cNvPr id="20" name="Text 18"/>
          <p:cNvSpPr/>
          <p:nvPr/>
        </p:nvSpPr>
        <p:spPr>
          <a:xfrm>
            <a:off x="6364224" y="3611880"/>
            <a:ext cx="2359152" cy="2651760"/>
          </a:xfrm>
          <a:prstGeom prst="rect">
            <a:avLst/>
          </a:prstGeom>
          <a:noFill/>
          <a:ln/>
        </p:spPr>
        <p:txBody>
          <a:bodyPr wrap="square" rtlCol="0" anchor="ctr"/>
          <a:lstStyle/>
          <a:p>
            <a:pPr marL="285750" indent="-285750">
              <a:spcAft>
                <a:spcPts val="300"/>
              </a:spcAft>
              <a:buSzPct val="90000"/>
              <a:buFont typeface="Arial"/>
              <a:buChar char="•"/>
            </a:pPr>
            <a:r>
              <a:rPr lang="en-US" sz="1100" dirty="0">
                <a:solidFill>
                  <a:srgbClr val="1A1A1A"/>
                </a:solidFill>
              </a:rPr>
              <a:t xml:space="preserve">Non-invasive and early</a:t>
            </a:r>
          </a:p>
          <a:p>
            <a:pPr marL="285750" indent="-285750">
              <a:spcAft>
                <a:spcPts val="300"/>
              </a:spcAft>
              <a:buSzPct val="90000"/>
              <a:buFont typeface="Arial"/>
              <a:buChar char="•"/>
            </a:pPr>
            <a:r>
              <a:rPr lang="en-US" sz="1100" dirty="0">
                <a:solidFill>
                  <a:srgbClr val="1A1A1A"/>
                </a:solidFill>
              </a:rPr>
              <a:t xml:space="preserve">Lightweight FFNN: 176k params, 1.51 MB, 29.4 ms inference</a:t>
            </a:r>
          </a:p>
          <a:p>
            <a:pPr marL="285750" indent="-285750">
              <a:spcAft>
                <a:spcPts val="300"/>
              </a:spcAft>
              <a:buSzPct val="90000"/>
              <a:buFont typeface="Arial"/>
              <a:buChar char="•"/>
            </a:pPr>
            <a:r>
              <a:rPr lang="en-US" sz="1100" dirty="0">
                <a:solidFill>
                  <a:srgbClr val="1A1A1A"/>
                </a:solidFill>
              </a:rPr>
              <a:t xml:space="preserve">Continuous monitoring and field alerts</a:t>
            </a:r>
          </a:p>
          <a:p>
            <a:pPr marL="285750" indent="-285750">
              <a:spcAft>
                <a:spcPts val="300"/>
              </a:spcAft>
              <a:buSzPct val="90000"/>
              <a:buFont typeface="Arial"/>
              <a:buChar char="•"/>
            </a:pPr>
            <a:r>
              <a:rPr lang="en-US" sz="1100" dirty="0">
                <a:solidFill>
                  <a:srgbClr val="1A1A1A"/>
                </a:solidFill>
              </a:rPr>
              <a:t xml:space="preserve">Confidence-aware decision output</a:t>
            </a:r>
          </a:p>
          <a:p>
            <a:pPr marL="285750" indent="-285750">
              <a:spcAft>
                <a:spcPts val="300"/>
              </a:spcAft>
              <a:buSzPct val="90000"/>
              <a:buFont typeface="Arial"/>
              <a:buChar char="•"/>
            </a:pPr>
            <a:r>
              <a:rPr lang="en-US" sz="1100" dirty="0">
                <a:solidFill>
                  <a:srgbClr val="1A1A1A"/>
                </a:solidFill>
              </a:rPr>
              <a:t xml:space="preserve">Reduces targeted pesticide use</a:t>
            </a:r>
          </a:p>
        </p:txBody>
      </p:sp>
      <p:sp>
        <p:nvSpPr>
          <p:cNvPr id="21" name="Shape 19"/>
          <p:cNvSpPr/>
          <p:nvPr/>
        </p:nvSpPr>
        <p:spPr>
          <a:xfrm>
            <a:off x="9043416" y="2743200"/>
            <a:ext cx="2724912" cy="3703320"/>
          </a:xfrm>
          <a:prstGeom prst="rect">
            <a:avLst/>
          </a:prstGeom>
          <a:solidFill>
            <a:srgbClr val="F4F6FC"/>
          </a:solidFill>
          <a:ln/>
        </p:spPr>
      </p:sp>
      <p:sp>
        <p:nvSpPr>
          <p:cNvPr id="23" name="Text 21"/>
          <p:cNvSpPr/>
          <p:nvPr/>
        </p:nvSpPr>
        <p:spPr>
          <a:xfrm>
            <a:off x="9226296"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4</a:t>
            </a:r>
            <a:endParaRPr lang="en-US" sz="2400" dirty="0">
              <a:solidFill>
                <a:srgbClr val="FF0000"/>
              </a:solidFill>
            </a:endParaRPr>
          </a:p>
        </p:txBody>
      </p:sp>
      <p:sp>
        <p:nvSpPr>
          <p:cNvPr id="24" name="Text 22"/>
          <p:cNvSpPr/>
          <p:nvPr/>
        </p:nvSpPr>
        <p:spPr>
          <a:xfrm>
            <a:off x="9820656" y="2971800"/>
            <a:ext cx="1810512" cy="457200"/>
          </a:xfrm>
          <a:prstGeom prst="rect">
            <a:avLst/>
          </a:prstGeom>
          <a:noFill/>
          <a:ln/>
        </p:spPr>
        <p:txBody>
          <a:bodyPr wrap="square" rtlCol="0" anchor="ctr"/>
          <a:lstStyle/>
          <a:p>
            <a:pPr marL="0" indent="0">
              <a:buNone/>
            </a:pPr>
            <a:r>
              <a:rPr lang="en-US" sz="1800" b="1" dirty="0">
                <a:solidFill>
                  <a:srgbClr val="FF0000"/>
                </a:solidFill>
                <a:latin typeface="Calibri" pitchFamily="34" charset="0"/>
                <a:ea typeface="Calibri" pitchFamily="34" charset="-122"/>
                <a:cs typeface="Calibri" pitchFamily="34" charset="-120"/>
              </a:rPr>
              <a:t>Research Gap Focused</a:t>
            </a:r>
            <a:endParaRPr lang="en-US" sz="1800" dirty="0">
              <a:solidFill>
                <a:srgbClr val="FF0000"/>
              </a:solidFill>
            </a:endParaRPr>
          </a:p>
        </p:txBody>
      </p:sp>
      <p:sp>
        <p:nvSpPr>
          <p:cNvPr id="25" name="Text 23"/>
          <p:cNvSpPr/>
          <p:nvPr/>
        </p:nvSpPr>
        <p:spPr>
          <a:xfrm>
            <a:off x="9226296" y="3611880"/>
            <a:ext cx="2359152" cy="2651760"/>
          </a:xfrm>
          <a:prstGeom prst="rect">
            <a:avLst/>
          </a:prstGeom>
          <a:noFill/>
          <a:ln/>
        </p:spPr>
        <p:txBody>
          <a:bodyPr wrap="square" rtlCol="0" anchor="ctr"/>
          <a:lstStyle/>
          <a:p>
            <a:pPr marL="285750" indent="-285750">
              <a:spcAft>
                <a:spcPts val="300"/>
              </a:spcAft>
              <a:buSzPct val="90000"/>
              <a:buFont typeface="Arial"/>
              <a:buChar char="•"/>
            </a:pPr>
            <a:r>
              <a:rPr lang="en-US" sz="1100" dirty="0">
                <a:solidFill>
                  <a:srgbClr val="1A1A1A"/>
                </a:solidFill>
              </a:rPr>
              <a:t xml:space="preserve">Robustness to environmental noise (wind, rain, birds)</a:t>
            </a:r>
          </a:p>
          <a:p>
            <a:pPr marL="285750" indent="-285750">
              <a:spcAft>
                <a:spcPts val="300"/>
              </a:spcAft>
              <a:buSzPct val="90000"/>
              <a:buFont typeface="Arial"/>
              <a:buChar char="•"/>
            </a:pPr>
            <a:r>
              <a:rPr lang="en-US" sz="1100" dirty="0">
                <a:solidFill>
                  <a:srgbClr val="1A1A1A"/>
                </a:solidFill>
              </a:rPr>
              <a:t xml:space="preserve">Continuous monitoring absent in the baseline</a:t>
            </a:r>
          </a:p>
          <a:p>
            <a:pPr marL="285750" indent="-285750">
              <a:spcAft>
                <a:spcPts val="300"/>
              </a:spcAft>
              <a:buSzPct val="90000"/>
              <a:buFont typeface="Arial"/>
              <a:buChar char="•"/>
            </a:pPr>
            <a:r>
              <a:rPr lang="en-US" sz="1100" dirty="0">
                <a:solidFill>
                  <a:srgbClr val="1A1A1A"/>
                </a:solidFill>
              </a:rPr>
              <a:t xml:space="preserve">Real-time, low-power edge deployment</a:t>
            </a:r>
          </a:p>
          <a:p>
            <a:pPr marL="285750" indent="-285750">
              <a:spcAft>
                <a:spcPts val="300"/>
              </a:spcAft>
              <a:buSzPct val="90000"/>
              <a:buFont typeface="Arial"/>
              <a:buChar char="•"/>
            </a:pPr>
            <a:r>
              <a:rPr lang="en-US" sz="1100" dirty="0">
                <a:solidFill>
                  <a:srgbClr val="1A1A1A"/>
                </a:solidFill>
              </a:rPr>
              <a:t xml:space="preserve">Actionable output for field operators</a:t>
            </a:r>
          </a:p>
          <a:p>
            <a:pPr marL="285750" indent="-285750">
              <a:spcAft>
                <a:spcPts val="300"/>
              </a:spcAft>
              <a:buSzPct val="90000"/>
              <a:buFont typeface="Arial"/>
              <a:buChar char="•"/>
            </a:pPr>
            <a:r>
              <a:rPr lang="en-US" sz="1100" dirty="0">
                <a:solidFill>
                  <a:srgbClr val="1A1A1A"/>
                </a:solidFill>
              </a:rPr>
              <a:t xml:space="preserve">Confidence-aware 3-class decision + feedback loop</a:t>
            </a:r>
          </a:p>
        </p:txBody>
      </p:sp>
      <p:sp>
        <p:nvSpPr>
          <p:cNvPr id="26" name="Text 24"/>
          <p:cNvSpPr/>
          <p:nvPr/>
        </p:nvSpPr>
        <p:spPr>
          <a:xfrm>
            <a:off x="11548872" y="6446520"/>
            <a:ext cx="365760" cy="274320"/>
          </a:xfrm>
          <a:prstGeom prst="rect">
            <a:avLst/>
          </a:prstGeom>
          <a:noFill/>
          <a:ln/>
        </p:spPr>
        <p:txBody>
          <a:bodyPr wrap="square" rtlCol="0" anchor="ctr"/>
          <a:lstStyle/>
          <a:p>
            <a:pPr marL="0" indent="0" algn="r">
              <a:buNone/>
            </a:pPr>
            <a:r>
              <a:rPr lang="en-US" sz="1200" dirty="0">
                <a:solidFill>
                  <a:srgbClr val="FF0000"/>
                </a:solidFill>
                <a:latin typeface="Calibri" pitchFamily="34" charset="0"/>
                <a:ea typeface="Calibri" pitchFamily="34" charset="-122"/>
                <a:cs typeface="Calibri" pitchFamily="34" charset="-120"/>
              </a:rPr>
              <a:t>5</a:t>
            </a:r>
            <a:endParaRPr lang="en-US" sz="1200" dirty="0">
              <a:solidFill>
                <a:srgbClr val="FF0000"/>
              </a:solidFill>
            </a:endParaRPr>
          </a:p>
        </p:txBody>
      </p:sp>
      <p:sp>
        <p:nvSpPr>
          <p:cNvPr id="27" name="Text 25"/>
          <p:cNvSpPr/>
          <p:nvPr/>
        </p:nvSpPr>
        <p:spPr>
          <a:xfrm>
            <a:off x="457200" y="6446520"/>
            <a:ext cx="4572000" cy="274320"/>
          </a:xfrm>
          <a:prstGeom prst="rect">
            <a:avLst/>
          </a:prstGeom>
          <a:noFill/>
          <a:ln/>
        </p:spPr>
        <p:txBody>
          <a:bodyPr wrap="square" rtlCol="0" anchor="ctr"/>
          <a:lstStyle/>
          <a:p>
            <a:pPr marL="0" indent="0">
              <a:buNone/>
            </a:pPr>
            <a:endParaRPr lang="en-US" sz="11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02920"/>
          </a:xfrm>
          <a:prstGeom prst="rect">
            <a:avLst/>
          </a:prstGeom>
          <a:noFill/>
          <a:ln/>
        </p:spPr>
        <p:txBody>
          <a:bodyPr wrap="square" rtlCol="0" anchor="ctr"/>
          <a:lstStyle/>
          <a:p>
            <a:pPr marL="0" indent="0">
              <a:buNone/>
            </a:pPr>
            <a:r>
              <a:rPr lang="en-US" sz="2800" b="1" dirty="0">
                <a:solidFill>
                  <a:srgbClr val="FF0000"/>
                </a:solidFill>
                <a:latin typeface="Cambria" pitchFamily="34" charset="0"/>
                <a:ea typeface="Cambria" pitchFamily="34" charset="-122"/>
                <a:cs typeface="Cambria" pitchFamily="34" charset="-120"/>
              </a:rPr>
              <a:t>Member Contributions</a:t>
            </a:r>
            <a:endParaRPr lang="en-US" sz="2800" dirty="0">
              <a:solidFill>
                <a:srgbClr val="FF0000"/>
              </a:solidFill>
            </a:endParaRPr>
          </a:p>
        </p:txBody>
      </p:sp>
      <p:sp>
        <p:nvSpPr>
          <p:cNvPr id="3" name="Text 1"/>
          <p:cNvSpPr/>
          <p:nvPr/>
        </p:nvSpPr>
        <p:spPr>
          <a:xfrm>
            <a:off x="457200" y="896112"/>
            <a:ext cx="7315200" cy="320040"/>
          </a:xfrm>
          <a:prstGeom prst="rect">
            <a:avLst/>
          </a:prstGeom>
          <a:noFill/>
          <a:ln/>
        </p:spPr>
        <p:txBody>
          <a:bodyPr wrap="square"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Technical contribution of each team member</a:t>
            </a:r>
            <a:endParaRPr lang="en-US" sz="1200" dirty="0">
              <a:solidFill>
                <a:srgbClr val="FF0000"/>
              </a:solidFill>
            </a:endParaRPr>
          </a:p>
        </p:txBody>
      </p:sp>
      <p:graphicFrame>
        <p:nvGraphicFramePr>
          <p:cNvPr id="7" name="Table 0"/>
          <p:cNvGraphicFramePr>
            <a:graphicFrameLocks noGrp="1"/>
          </p:cNvGraphicFramePr>
          <p:nvPr>
            <p:extLst>
              <p:ext uri="{D42A27DB-BD31-4B8C-83A1-F6EECF244321}">
                <p14:modId xmlns:p14="http://schemas.microsoft.com/office/powerpoint/2010/main" val="3825312776"/>
              </p:ext>
            </p:extLst>
          </p:nvPr>
        </p:nvGraphicFramePr>
        <p:xfrm>
          <a:off x="457200" y="1206454"/>
          <a:ext cx="11274552" cy="3108960"/>
        </p:xfrm>
        <a:graphic>
          <a:graphicData uri="http://schemas.openxmlformats.org/drawingml/2006/table">
            <a:tbl>
              <a:tblPr/>
              <a:tblGrid>
                <a:gridCol w="3657600">
                  <a:extLst>
                    <a:ext uri="{9D8B030D-6E8A-4147-A177-3AD203B41FA5}">
                      <a16:colId xmlns:a16="http://schemas.microsoft.com/office/drawing/2014/main" val="20000"/>
                    </a:ext>
                  </a:extLst>
                </a:gridCol>
                <a:gridCol w="7616952">
                  <a:extLst>
                    <a:ext uri="{9D8B030D-6E8A-4147-A177-3AD203B41FA5}">
                      <a16:colId xmlns:a16="http://schemas.microsoft.com/office/drawing/2014/main" val="20001"/>
                    </a:ext>
                  </a:extLst>
                </a:gridCol>
              </a:tblGrid>
              <a:tr h="777240">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Member Name</a:t>
                      </a:r>
                      <a:endParaRPr lang="en-US" sz="16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Contribution (Technical)</a:t>
                      </a:r>
                      <a:endParaRPr lang="en-US" sz="16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777240">
                <a:tc>
                  <a:txBody>
                    <a:bodyPr/>
                    <a:lstStyle/>
                    <a:p>
                      <a:pPr marL="0" indent="0" algn="l">
                        <a:buNone/>
                      </a:pPr>
                      <a:r>
                        <a:rPr lang="en-US" sz="1600" dirty="0">
                          <a:solidFill>
                            <a:srgbClr val="FF0000"/>
                          </a:solidFill>
                          <a:latin typeface="Calibri" pitchFamily="34" charset="0"/>
                          <a:ea typeface="Calibri" pitchFamily="34" charset="-122"/>
                          <a:cs typeface="Calibri" pitchFamily="34" charset="-120"/>
                        </a:rPr>
                        <a:t>[ Member Name ]</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pPr>
                      <a:r>
                        <a:rPr lang="en-US" sz="1600" dirty="0">
                          <a:solidFill>
                            <a:srgbClr val="FF0000"/>
                          </a:solidFill>
                          <a:latin typeface="Calibri" pitchFamily="34" charset="0"/>
                          <a:ea typeface="Calibri" pitchFamily="34" charset="-122"/>
                          <a:cs typeface="Calibri" pitchFamily="34" charset="-120"/>
                        </a:rPr>
                        <a:t>[ Describe specific technical contribution]</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l">
                        <a:buNone/>
                      </a:pP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pP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pP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pP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5A6B"/>
                </a:solidFill>
                <a:latin typeface="Calibri" pitchFamily="34" charset="0"/>
                <a:ea typeface="Calibri" pitchFamily="34" charset="-122"/>
                <a:cs typeface="Calibri" pitchFamily="34" charset="-120"/>
              </a:rPr>
              <a:t>6</a:t>
            </a:r>
            <a:endParaRPr lang="en-US" sz="1000" dirty="0"/>
          </a:p>
        </p:txBody>
      </p:sp>
      <p:sp>
        <p:nvSpPr>
          <p:cNvPr id="6" name="Text 3"/>
          <p:cNvSpPr/>
          <p:nvPr/>
        </p:nvSpPr>
        <p:spPr>
          <a:xfrm>
            <a:off x="457200" y="6446520"/>
            <a:ext cx="4572000" cy="274320"/>
          </a:xfrm>
          <a:prstGeom prst="rect">
            <a:avLst/>
          </a:prstGeom>
          <a:noFill/>
          <a:ln/>
        </p:spPr>
        <p:txBody>
          <a:bodyPr wrap="square" rtlCol="0" anchor="ctr"/>
          <a:lstStyle/>
          <a:p>
            <a:pPr marL="0" indent="0">
              <a:buNone/>
            </a:pPr>
            <a:endParaRPr lang="en-US" sz="900" dirty="0"/>
          </a:p>
        </p:txBody>
      </p:sp>
    </p:spTree>
  </p:cSld>
  <p:clrMapOvr>
    <a:masterClrMapping/>
  </p:clrMapOvr>
</p:sld>
</file>

<file path=ppt/theme/theme1.xml><?xml version="1.0" encoding="utf-8"?>
<a:theme xmlns:a="http://schemas.openxmlformats.org/drawingml/2006/main" name="Theme1">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D2EC4925-13C0-4F9C-9EC6-BA379B2903BA}" vid="{D05CAAF7-8C12-42B7-AE16-5E8F348BAE34}"/>
    </a:ext>
  </a:extLst>
</a:theme>
</file>

<file path=ppt/theme/theme2.xml><?xml version="1.0" encoding="utf-8"?>
<a:theme xmlns:a="http://schemas.openxmlformats.org/drawingml/2006/main" name="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31</TotalTime>
  <Words>157</Words>
  <Application>Microsoft Office PowerPoint</Application>
  <PresentationFormat>Widescreen</PresentationFormat>
  <Paragraphs>52</Paragraphs>
  <Slides>5</Slides>
  <Notes>5</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5</vt:i4>
      </vt:variant>
    </vt:vector>
  </HeadingPairs>
  <TitlesOfParts>
    <vt:vector size="16" baseType="lpstr">
      <vt:lpstr>Arial</vt:lpstr>
      <vt:lpstr>Avenir</vt:lpstr>
      <vt:lpstr>Calibri</vt:lpstr>
      <vt:lpstr>Cambria</vt:lpstr>
      <vt:lpstr>Garamond</vt:lpstr>
      <vt:lpstr>Poppins</vt:lpstr>
      <vt:lpstr>Theme1</vt:lpstr>
      <vt:lpstr>Presentation slides</vt:lpstr>
      <vt:lpstr>Presentation Cover page</vt:lpstr>
      <vt:lpstr>1_Presentation Cover page</vt:lpstr>
      <vt:lpstr>1_Presentation slides</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CSE</cp:lastModifiedBy>
  <cp:revision>8</cp:revision>
  <dcterms:created xsi:type="dcterms:W3CDTF">2026-08-20T08:53:47Z</dcterms:created>
  <dcterms:modified xsi:type="dcterms:W3CDTF">2026-08-20T09:27:58Z</dcterms:modified>
</cp:coreProperties>
</file>